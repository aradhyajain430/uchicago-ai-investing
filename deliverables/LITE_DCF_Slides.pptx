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user-directed thesis, not a causal conclusion. Distinguish the observed event-price recovery from additional upside to a 12-month analyst benchmark. Use the dated reference close consistently; do not claim it is live. The independent DCF is below the current price under the required conservative assumptions.</a:t>
            </a:r>
          </a:p>
          <a:p/>
          <a:p>
            <a:r>
              <a:t>Source URLs:</a:t>
            </a:r>
          </a:p>
          <a:p>
            <a:r>
              <a:t>S1 https://investor.lumentum.com/financial-news-releases/news-details/2026/Lumentum-Announces-Fourth-Quarter-and-Full-Fiscal-Year-2026-Results/default.aspx</a:t>
            </a:r>
          </a:p>
          <a:p>
            <a:r>
              <a:t>S3 https://stockanalysis.com/stocks/lite/history/</a:t>
            </a:r>
          </a:p>
          <a:p>
            <a:r>
              <a:t>S4 https://stockanalysis.com/stocks/lite/forecast/</a:t>
            </a:r>
          </a:p>
          <a:p>
            <a:r>
              <a:t>S16 https://darioamodei.com/post/we-must-pace-the-frontier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drivers are in the Assumptions sheet. FY26 former-segment allocation is estimated because LITE reorganized to one segment and reports Components / Systems products. EML and 1.6T percentages are revenue uplift proxies, not reported market share. OCS is incremental to Base, not total disclosed OCS revenue. Tax and valuation assumptions do not improve in Bull.</a:t>
            </a:r>
          </a:p>
          <a:p/>
          <a:p>
            <a:r>
              <a:t>Source URLs:</a:t>
            </a:r>
          </a:p>
          <a:p>
            <a:r>
              <a:t>S1 https://investor.lumentum.com/financial-news-releases/news-details/2026/Lumentum-Announces-Fourth-Quarter-and-Full-Fiscal-Year-2026-Results/default.aspx</a:t>
            </a:r>
          </a:p>
          <a:p>
            <a:r>
              <a:t>S2 https://www.sec.gov/Archives/edgar/data/1633978/000162828026057358/lite-20260627.htm</a:t>
            </a:r>
          </a:p>
          <a:p>
            <a:r>
              <a:t>S4 https://stockanalysis.com/stocks/lite/forecast/</a:t>
            </a:r>
          </a:p>
          <a:p>
            <a:r>
              <a:t>S5 https://investor.lumentum.com/financial-news-releases/news-details/2025/Lumentum-Announces-Fourth-Quarter-and-Full-Fiscal-Year-2025-Results/</a:t>
            </a:r>
          </a:p>
          <a:p>
            <a:r>
              <a:t>S11 https://www.sec.gov/Archives/edgar/data/820318/000119312526346860/d128030dex991.htm</a:t>
            </a:r>
          </a:p>
          <a:p>
            <a:r>
              <a:t>S12 https://investor.marvell.com/news-events/press-releases/detail/1031/marvell-technology-inc-reports-second-quarter-of-fiscal-year-2027-financial-results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Forecast outputs are model assumptions. D&amp;A means depreciation-only add-back because the adjusted EBIT starting point already removes acquired amortization. Every projected year, including FY32–36, is visible in Excel. FY27 is a full-year operating forecast; its DCF cash flow is then multiplied by the remaining-year fraction.</a:t>
            </a:r>
          </a:p>
          <a:p/>
          <a:p>
            <a:r>
              <a:t>Source URLs:</a:t>
            </a:r>
          </a:p>
          <a:p>
            <a:r>
              <a:t>S1 https://investor.lumentum.com/financial-news-releases/news-details/2026/Lumentum-Announces-Fourth-Quarter-and-Full-Fiscal-Year-2026-Results/default.aspx</a:t>
            </a:r>
          </a:p>
          <a:p>
            <a:r>
              <a:t>S2 https://www.sec.gov/Archives/edgar/data/1633978/000162828026057358/lite-20260627.htm</a:t>
            </a:r>
          </a:p>
          <a:p>
            <a:r>
              <a:t>S4 https://stockanalysis.com/stocks/lite/forecast/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Market-value peer debt/equity used for unlevering; 25% common peer tax proxy. Relever at LITE economic capital structure. In-money notes are treated as equity equivalents in WACC and valuation, while contractual cash principal is included in the liquidity test. Cost of debt is marginal risk-free plus spread, not the low convertible coupon.</a:t>
            </a:r>
          </a:p>
          <a:p/>
          <a:p>
            <a:r>
              <a:t>Source URLs:</a:t>
            </a:r>
          </a:p>
          <a:p>
            <a:r>
              <a:t>S6 https://home.treasury.gov/resource-center/data-chart-center/interest-rates/TextView?type=daily_treasury_yield_curve&amp;field_tdr_date_value=2026</a:t>
            </a:r>
          </a:p>
          <a:p>
            <a:r>
              <a:t>S7 https://pages.stern.nyu.edu/adamodar/New_Home_Page/home.htm</a:t>
            </a:r>
          </a:p>
          <a:p>
            <a:r>
              <a:t>S8 https://stockanalysis.com/stocks/cohr/statistics/</a:t>
            </a:r>
          </a:p>
          <a:p>
            <a:r>
              <a:t>S9 https://stockanalysis.com/stocks/mrvl/statistics/</a:t>
            </a:r>
          </a:p>
          <a:p>
            <a:r>
              <a:t>S10 https://stockanalysis.com/stocks/fn/statistics/</a:t>
            </a:r>
          </a:p>
          <a:p>
            <a:r>
              <a:t>S15 https://stockanalysis.com/stocks/lite/statistics/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Gordon normalizes FY2037 working-capital investment at 3% growth. Exit applies 16 times FY2036 economic EBITDA after SBC, not non-GAAP EBITDA before SBC. Both terminal values are discounted to September 18. The exit method is more generous than Gordon; do not average them automatically.</a:t>
            </a:r>
          </a:p>
          <a:p/>
          <a:p>
            <a:r>
              <a:t>Source URLs:</a:t>
            </a:r>
          </a:p>
          <a:p>
            <a:r>
              <a:t>S1 https://investor.lumentum.com/financial-news-releases/news-details/2026/Lumentum-Announces-Fourth-Quarter-and-Full-Fiscal-Year-2026-Results/default.aspx</a:t>
            </a:r>
          </a:p>
          <a:p>
            <a:r>
              <a:t>S2 https://www.sec.gov/Archives/edgar/data/1633978/000162828026057358/lite-20260627.htm</a:t>
            </a:r>
          </a:p>
          <a:p>
            <a:r>
              <a:t>S11 https://www.sec.gov/Archives/edgar/data/820318/000119312526346860/d128030dex991.htm</a:t>
            </a:r>
          </a:p>
          <a:p>
            <a:r>
              <a:t>S12 https://investor.marvell.com/news-events/press-releases/detail/1031/marvell-technology-inc-reports-second-quarter-of-fiscal-year-2027-financial-results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Preferred participates one-for-one and has no senior liquidation claim; include shares, not a separate $2bn deduction. Options use 0.2m shares and $8.10 strike via treasury method at reference price. Full RSUs 2m and PSUs 0.8m included at target payout. Capped-call benefit excluded. Both cases below are standalone DCF values, not a forced recovery target.</a:t>
            </a:r>
          </a:p>
          <a:p/>
          <a:p>
            <a:r>
              <a:t>Source URLs:</a:t>
            </a:r>
          </a:p>
          <a:p>
            <a:r>
              <a:t>S2 https://www.sec.gov/Archives/edgar/data/1633978/000162828026057358/lite-20260627.htm</a:t>
            </a:r>
          </a:p>
          <a:p>
            <a:r>
              <a:t>S3 https://stockanalysis.com/stocks/lite/history/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Central row uses exact component WACC. Gordon grid recalculates terminal FCF for each g; exit grid applies mature EBITDA multiples. Both use the full capital bridge including conversion regimes. These values are alternatives, not additive.</a:t>
            </a:r>
          </a:p>
          <a:p/>
          <a:p>
            <a:r>
              <a:t>Source URLs:</a:t>
            </a:r>
          </a:p>
          <a:p>
            <a:r>
              <a:t>S1 https://investor.lumentum.com/financial-news-releases/news-details/2026/Lumentum-Announces-Fourth-Quarter-and-Full-Fiscal-Year-2026-Results/default.aspx</a:t>
            </a:r>
          </a:p>
          <a:p>
            <a:r>
              <a:t>S2 https://www.sec.gov/Archives/edgar/data/1633978/000162828026057358/lite-20260627.htm</a:t>
            </a:r>
          </a:p>
          <a:p>
            <a:r>
              <a:t>S6 https://home.treasury.gov/resource-center/data-chart-center/interest-rates/TextView?type=daily_treasury_yield_curve&amp;field_tdr_date_value=2026</a:t>
            </a:r>
          </a:p>
          <a:p>
            <a:r>
              <a:t>S7 https://pages.stern.nyu.edu/adamodar/New_Home_Page/home.htm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Football field is a range display, not a probability distribution. Peer P/E range uses vendor forward multiples times LITE FY27 consensus adjusted EPS $21.67; NTM/fiscal-period mismatch limits comparability. Peer EV/EBITDA values are current trailing vendor proxies, not terminal assumptions. Analysts may use different growth, margins and discount rates.</a:t>
            </a:r>
          </a:p>
          <a:p/>
          <a:p>
            <a:r>
              <a:t>Source URLs:</a:t>
            </a:r>
          </a:p>
          <a:p>
            <a:r>
              <a:t>S3 https://stockanalysis.com/stocks/lite/history/</a:t>
            </a:r>
          </a:p>
          <a:p>
            <a:r>
              <a:t>S4 https://stockanalysis.com/stocks/lite/forecast/</a:t>
            </a:r>
          </a:p>
          <a:p>
            <a:r>
              <a:t>S8 https://stockanalysis.com/stocks/cohr/statistics/</a:t>
            </a:r>
          </a:p>
          <a:p>
            <a:r>
              <a:t>S9 https://stockanalysis.com/stocks/mrvl/statistics/</a:t>
            </a:r>
          </a:p>
          <a:p>
            <a:r>
              <a:t>S10 https://stockanalysis.com/stocks/fn/statistics/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Bear is not an insolvency scenario. Economic FCF remains positive and a simplified annual liquidity schedule pays all debt principal with no new financing. It does not establish intraperiod liquidity, covenant compliance or a share-price floor. A larger share-price downside is retained rather than artificially truncating the bear.</a:t>
            </a:r>
          </a:p>
          <a:p/>
          <a:p>
            <a:r>
              <a:t>Source URLs:</a:t>
            </a:r>
          </a:p>
          <a:p>
            <a:r>
              <a:t>S1 https://investor.lumentum.com/financial-news-releases/news-details/2026/Lumentum-Announces-Fourth-Quarter-and-Full-Fiscal-Year-2026-Results/default.aspx</a:t>
            </a:r>
          </a:p>
          <a:p>
            <a:r>
              <a:t>S2 https://www.sec.gov/Archives/edgar/data/1633978/000162828026057358/lite-20260627.htm</a:t>
            </a:r>
          </a:p>
          <a:p>
            <a:r>
              <a:t>S4 https://stockanalysis.com/stocks/lite/forecast/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Growth solve fixes FY27 Bull sales, solves FY28–31 Cloud CAGR and fades that growth to 3% over FY32–36. Margins use Bull path ending at 25%. Margin solve fixes Bull revenue and solves FY28–31 margin, fading to 25% thereafter. Capex flexes with sales. This is not an assertion of a single investor consensus. Price-implied rates are diagnostic and differ from independent WACC. Meta guidance and Amazon TTM spending periods differ; do not add them.</a:t>
            </a:r>
          </a:p>
          <a:p/>
          <a:p>
            <a:r>
              <a:t>Source URLs:</a:t>
            </a:r>
          </a:p>
          <a:p>
            <a:r>
              <a:t>S1 https://investor.lumentum.com/financial-news-releases/news-details/2026/Lumentum-Announces-Fourth-Quarter-and-Full-Fiscal-Year-2026-Results/default.aspx</a:t>
            </a:r>
          </a:p>
          <a:p>
            <a:r>
              <a:t>S2 https://www.sec.gov/Archives/edgar/data/1633978/000162828026057358/lite-20260627.htm</a:t>
            </a:r>
          </a:p>
          <a:p>
            <a:r>
              <a:t>S3 https://stockanalysis.com/stocks/lite/history/</a:t>
            </a:r>
          </a:p>
          <a:p>
            <a:r>
              <a:t>S13 https://investor.atmeta.com/investor-news/press-release-details/2026/Meta-Reports-Second-Quarter-2026-Results/default.aspx</a:t>
            </a:r>
          </a:p>
          <a:p>
            <a:r>
              <a:t>S14 https://ir.aboutamazon.com/news-release/news-release-details/2026/Amazon-com-Announces-Second-Quarter-Results/default.aspx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10896"/>
            <a:ext cx="11247120" cy="594360"/>
          </a:xfrm>
          <a:prstGeom prst="rect">
            <a:avLst/>
          </a:prstGeom>
          <a:noFill/>
        </p:spPr>
        <p:txBody>
          <a:bodyPr wrap="square" lIns="18288" rIns="18288" tIns="13716">
            <a:spAutoFit/>
          </a:bodyPr>
          <a:lstStyle/>
          <a:p>
            <a:pPr>
              <a:spcAft>
                <a:spcPts val="500"/>
              </a:spcAft>
              <a:defRPr sz="2600" b="1">
                <a:solidFill>
                  <a:srgbClr val="142638"/>
                </a:solidFill>
                <a:latin typeface="Aptos"/>
              </a:defRPr>
            </a:pPr>
            <a:r>
              <a:t>A 3–6 month fear unwind needs earnings to hold</a:t>
            </a:r>
          </a:p>
        </p:txBody>
      </p:sp>
      <p:sp>
        <p:nvSpPr>
          <p:cNvPr id="4" name="TextBox 3"/>
          <p:cNvSpPr txBox="1"/>
          <p:nvPr/>
        </p:nvSpPr>
        <p:spPr>
          <a:xfrm>
            <a:off x="457200" y="950976"/>
            <a:ext cx="11247120" cy="457200"/>
          </a:xfrm>
          <a:prstGeom prst="rect">
            <a:avLst/>
          </a:prstGeom>
          <a:noFill/>
        </p:spPr>
        <p:txBody>
          <a:bodyPr wrap="square" lIns="18288" rIns="18288" tIns="13716">
            <a:spAutoFit/>
          </a:bodyPr>
          <a:lstStyle/>
          <a:p>
            <a:pPr>
              <a:spcAft>
                <a:spcPts val="500"/>
              </a:spcAft>
              <a:defRPr sz="1400" b="0">
                <a:solidFill>
                  <a:srgbClr val="536575"/>
                </a:solidFill>
                <a:latin typeface="Aptos"/>
              </a:defRPr>
            </a:pPr>
            <a:r>
              <a:t>Team thesis: safety-related fears fade as the next 1–2 reports confirm optical demand and execution.</a:t>
            </a:r>
          </a:p>
        </p:txBody>
      </p:sp>
      <p:sp>
        <p:nvSpPr>
          <p:cNvPr id="5" name="Rectangle 4"/>
          <p:cNvSpPr/>
          <p:nvPr/>
        </p:nvSpPr>
        <p:spPr>
          <a:xfrm>
            <a:off x="457200" y="6208776"/>
            <a:ext cx="11247120" cy="13716"/>
          </a:xfrm>
          <a:prstGeom prst="rect">
            <a:avLst/>
          </a:prstGeom>
          <a:solidFill>
            <a:srgbClr val="CDD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18504"/>
            <a:ext cx="10698480" cy="347472"/>
          </a:xfrm>
          <a:prstGeom prst="rect">
            <a:avLst/>
          </a:prstGeom>
          <a:noFill/>
        </p:spPr>
        <p:txBody>
          <a:bodyPr wrap="square" lIns="18288" rIns="18288" tIns="13716">
            <a:spAutoFit/>
          </a:bodyPr>
          <a:lstStyle/>
          <a:p>
            <a:pPr>
              <a:spcAft>
                <a:spcPts val="500"/>
              </a:spcAft>
              <a:defRPr sz="800" b="0">
                <a:solidFill>
                  <a:srgbClr val="536575"/>
                </a:solidFill>
                <a:latin typeface="Aptos"/>
              </a:defRPr>
            </a:pPr>
            <a:r>
              <a:t>Sources: S1, S3, S4, S16  |  AI: source extraction, model and slides; team review pending.</a:t>
            </a:r>
          </a:p>
        </p:txBody>
      </p:sp>
      <p:sp>
        <p:nvSpPr>
          <p:cNvPr id="7" name="TextBox 6"/>
          <p:cNvSpPr txBox="1"/>
          <p:nvPr/>
        </p:nvSpPr>
        <p:spPr>
          <a:xfrm>
            <a:off x="11320272" y="6291072"/>
            <a:ext cx="411480" cy="320040"/>
          </a:xfrm>
          <a:prstGeom prst="rect">
            <a:avLst/>
          </a:prstGeom>
          <a:noFill/>
        </p:spPr>
        <p:txBody>
          <a:bodyPr wrap="square" lIns="18288" rIns="18288" tIns="13716">
            <a:spAutoFit/>
          </a:bodyPr>
          <a:lstStyle/>
          <a:p>
            <a:pPr>
              <a:spcAft>
                <a:spcPts val="500"/>
              </a:spcAft>
              <a:defRPr sz="1000" b="0">
                <a:solidFill>
                  <a:srgbClr val="536575"/>
                </a:solidFill>
                <a:latin typeface="Aptos"/>
              </a:defRPr>
            </a:pPr>
            <a:r>
              <a:t>1</a:t>
            </a:r>
          </a:p>
        </p:txBody>
      </p:sp>
      <p:graphicFrame>
        <p:nvGraphicFramePr>
          <p:cNvPr id="8" name="Table 7"/>
          <p:cNvGraphicFramePr>
            <a:graphicFrameLocks noGrp="1"/>
          </p:cNvGraphicFramePr>
          <p:nvPr/>
        </p:nvGraphicFramePr>
        <p:xfrm>
          <a:off x="502920" y="1645920"/>
          <a:ext cx="11155678" cy="2377440"/>
        </p:xfrm>
        <a:graphic>
          <a:graphicData uri="http://schemas.openxmlformats.org/drawingml/2006/table">
            <a:tbl>
              <a:tblPr firstRow="1" bandRow="1">
                <a:tableStyleId>{5C22544A-7EE6-4342-B048-85BDC9FD1C3A}</a:tableStyleId>
              </a:tblPr>
              <a:tblGrid>
                <a:gridCol w="2983495"/>
                <a:gridCol w="1297172"/>
                <a:gridCol w="1686323"/>
                <a:gridCol w="5188688"/>
              </a:tblGrid>
              <a:tr h="475488">
                <a:tc>
                  <a:txBody>
                    <a:bodyPr/>
                    <a:lstStyle/>
                    <a:p>
                      <a:pPr>
                        <a:defRPr sz="1500" b="1">
                          <a:solidFill>
                            <a:srgbClr val="FFFFFF"/>
                          </a:solidFill>
                          <a:latin typeface="Aptos"/>
                        </a:defRPr>
                      </a:pPr>
                      <a:r>
                        <a:t>Valuation reference</a:t>
                      </a:r>
                    </a:p>
                  </a:txBody>
                  <a:tcPr marL="82296" marR="54864" marT="45720">
                    <a:solidFill>
                      <a:srgbClr val="087F8C"/>
                    </a:solidFill>
                  </a:tcPr>
                </a:tc>
                <a:tc>
                  <a:txBody>
                    <a:bodyPr/>
                    <a:lstStyle/>
                    <a:p>
                      <a:pPr>
                        <a:defRPr sz="1500" b="1">
                          <a:solidFill>
                            <a:srgbClr val="FFFFFF"/>
                          </a:solidFill>
                          <a:latin typeface="Aptos"/>
                        </a:defRPr>
                      </a:pPr>
                      <a:r>
                        <a:t>Price</a:t>
                      </a:r>
                    </a:p>
                  </a:txBody>
                  <a:tcPr marL="82296" marR="54864" marT="45720">
                    <a:solidFill>
                      <a:srgbClr val="087F8C"/>
                    </a:solidFill>
                  </a:tcPr>
                </a:tc>
                <a:tc>
                  <a:txBody>
                    <a:bodyPr/>
                    <a:lstStyle/>
                    <a:p>
                      <a:pPr>
                        <a:defRPr sz="1500" b="1">
                          <a:solidFill>
                            <a:srgbClr val="FFFFFF"/>
                          </a:solidFill>
                          <a:latin typeface="Aptos"/>
                        </a:defRPr>
                      </a:pPr>
                      <a:r>
                        <a:t>Vs. Sept 17 close</a:t>
                      </a:r>
                    </a:p>
                  </a:txBody>
                  <a:tcPr marL="82296" marR="54864" marT="45720">
                    <a:solidFill>
                      <a:srgbClr val="087F8C"/>
                    </a:solidFill>
                  </a:tcPr>
                </a:tc>
                <a:tc>
                  <a:txBody>
                    <a:bodyPr/>
                    <a:lstStyle/>
                    <a:p>
                      <a:pPr>
                        <a:defRPr sz="1500" b="1">
                          <a:solidFill>
                            <a:srgbClr val="FFFFFF"/>
                          </a:solidFill>
                          <a:latin typeface="Aptos"/>
                        </a:defRPr>
                      </a:pPr>
                      <a:r>
                        <a:t>Interpretation</a:t>
                      </a:r>
                    </a:p>
                  </a:txBody>
                  <a:tcPr marL="82296" marR="54864" marT="45720">
                    <a:solidFill>
                      <a:srgbClr val="087F8C"/>
                    </a:solidFill>
                  </a:tcPr>
                </a:tc>
              </a:tr>
              <a:tr h="475488">
                <a:tc>
                  <a:txBody>
                    <a:bodyPr/>
                    <a:lstStyle/>
                    <a:p>
                      <a:pPr>
                        <a:defRPr sz="1500" b="0">
                          <a:solidFill>
                            <a:srgbClr val="142638"/>
                          </a:solidFill>
                          <a:latin typeface="Aptos"/>
                        </a:defRPr>
                      </a:pPr>
                      <a:r>
                        <a:t>Sept 14 shock close</a:t>
                      </a:r>
                    </a:p>
                  </a:txBody>
                  <a:tcPr marL="82296" marR="54864" marT="45720">
                    <a:solidFill>
                      <a:srgbClr val="EAF3F4"/>
                    </a:solidFill>
                  </a:tcPr>
                </a:tc>
                <a:tc>
                  <a:txBody>
                    <a:bodyPr/>
                    <a:lstStyle/>
                    <a:p>
                      <a:pPr>
                        <a:defRPr sz="1500" b="0">
                          <a:solidFill>
                            <a:srgbClr val="142638"/>
                          </a:solidFill>
                          <a:latin typeface="Aptos"/>
                        </a:defRPr>
                      </a:pPr>
                      <a:r>
                        <a:t>$835</a:t>
                      </a:r>
                    </a:p>
                  </a:txBody>
                  <a:tcPr marL="82296" marR="54864" marT="45720">
                    <a:solidFill>
                      <a:srgbClr val="EAF3F4"/>
                    </a:solidFill>
                  </a:tcPr>
                </a:tc>
                <a:tc>
                  <a:txBody>
                    <a:bodyPr/>
                    <a:lstStyle/>
                    <a:p>
                      <a:pPr>
                        <a:defRPr sz="1500" b="0">
                          <a:solidFill>
                            <a:srgbClr val="142638"/>
                          </a:solidFill>
                          <a:latin typeface="Aptos"/>
                        </a:defRPr>
                      </a:pPr>
                      <a:r>
                        <a:t>-6.6%</a:t>
                      </a:r>
                    </a:p>
                  </a:txBody>
                  <a:tcPr marL="82296" marR="54864" marT="45720">
                    <a:solidFill>
                      <a:srgbClr val="EAF3F4"/>
                    </a:solidFill>
                  </a:tcPr>
                </a:tc>
                <a:tc>
                  <a:txBody>
                    <a:bodyPr/>
                    <a:lstStyle/>
                    <a:p>
                      <a:pPr>
                        <a:defRPr sz="1500" b="0">
                          <a:solidFill>
                            <a:srgbClr val="142638"/>
                          </a:solidFill>
                          <a:latin typeface="Aptos"/>
                        </a:defRPr>
                      </a:pPr>
                      <a:r>
                        <a:t>Observed price; essay causality not established</a:t>
                      </a:r>
                    </a:p>
                  </a:txBody>
                  <a:tcPr marL="82296" marR="54864" marT="45720">
                    <a:solidFill>
                      <a:srgbClr val="EAF3F4"/>
                    </a:solidFill>
                  </a:tcPr>
                </a:tc>
              </a:tr>
              <a:tr h="475488">
                <a:tc>
                  <a:txBody>
                    <a:bodyPr/>
                    <a:lstStyle/>
                    <a:p>
                      <a:pPr>
                        <a:defRPr sz="1500" b="0">
                          <a:solidFill>
                            <a:srgbClr val="142638"/>
                          </a:solidFill>
                          <a:latin typeface="Aptos"/>
                        </a:defRPr>
                      </a:pPr>
                      <a:r>
                        <a:t>Sept 17 reference close</a:t>
                      </a:r>
                    </a:p>
                  </a:txBody>
                  <a:tcPr marL="82296" marR="54864" marT="45720">
                    <a:solidFill>
                      <a:srgbClr val="FFFFFF"/>
                    </a:solidFill>
                  </a:tcPr>
                </a:tc>
                <a:tc>
                  <a:txBody>
                    <a:bodyPr/>
                    <a:lstStyle/>
                    <a:p>
                      <a:pPr>
                        <a:defRPr sz="1500" b="0">
                          <a:solidFill>
                            <a:srgbClr val="142638"/>
                          </a:solidFill>
                          <a:latin typeface="Aptos"/>
                        </a:defRPr>
                      </a:pPr>
                      <a:r>
                        <a:t>$894</a:t>
                      </a:r>
                    </a:p>
                  </a:txBody>
                  <a:tcPr marL="82296" marR="54864" marT="45720">
                    <a:solidFill>
                      <a:srgbClr val="FFFFFF"/>
                    </a:solidFill>
                  </a:tcPr>
                </a:tc>
                <a:tc>
                  <a:txBody>
                    <a:bodyPr/>
                    <a:lstStyle/>
                    <a:p>
                      <a:pPr>
                        <a:defRPr sz="1500" b="0">
                          <a:solidFill>
                            <a:srgbClr val="142638"/>
                          </a:solidFill>
                          <a:latin typeface="Aptos"/>
                        </a:defRPr>
                      </a:pPr>
                      <a:r>
                        <a:t>—</a:t>
                      </a:r>
                    </a:p>
                  </a:txBody>
                  <a:tcPr marL="82296" marR="54864" marT="45720">
                    <a:solidFill>
                      <a:srgbClr val="FFFFFF"/>
                    </a:solidFill>
                  </a:tcPr>
                </a:tc>
                <a:tc>
                  <a:txBody>
                    <a:bodyPr/>
                    <a:lstStyle/>
                    <a:p>
                      <a:pPr>
                        <a:defRPr sz="1500" b="0">
                          <a:solidFill>
                            <a:srgbClr val="142638"/>
                          </a:solidFill>
                          <a:latin typeface="Aptos"/>
                        </a:defRPr>
                      </a:pPr>
                      <a:r>
                        <a:t>Frozen entry comparison</a:t>
                      </a:r>
                    </a:p>
                  </a:txBody>
                  <a:tcPr marL="82296" marR="54864" marT="45720">
                    <a:solidFill>
                      <a:srgbClr val="FFFFFF"/>
                    </a:solidFill>
                  </a:tcPr>
                </a:tc>
              </a:tr>
              <a:tr h="475488">
                <a:tc>
                  <a:txBody>
                    <a:bodyPr/>
                    <a:lstStyle/>
                    <a:p>
                      <a:pPr>
                        <a:defRPr sz="1500" b="0">
                          <a:solidFill>
                            <a:srgbClr val="142638"/>
                          </a:solidFill>
                          <a:latin typeface="Aptos"/>
                        </a:defRPr>
                      </a:pPr>
                      <a:r>
                        <a:t>Pre-event close: Sept 11</a:t>
                      </a:r>
                    </a:p>
                  </a:txBody>
                  <a:tcPr marL="82296" marR="54864" marT="45720">
                    <a:solidFill>
                      <a:srgbClr val="EAF3F4"/>
                    </a:solidFill>
                  </a:tcPr>
                </a:tc>
                <a:tc>
                  <a:txBody>
                    <a:bodyPr/>
                    <a:lstStyle/>
                    <a:p>
                      <a:pPr>
                        <a:defRPr sz="1500" b="0">
                          <a:solidFill>
                            <a:srgbClr val="142638"/>
                          </a:solidFill>
                          <a:latin typeface="Aptos"/>
                        </a:defRPr>
                      </a:pPr>
                      <a:r>
                        <a:t>$927</a:t>
                      </a:r>
                    </a:p>
                  </a:txBody>
                  <a:tcPr marL="82296" marR="54864" marT="45720">
                    <a:solidFill>
                      <a:srgbClr val="EAF3F4"/>
                    </a:solidFill>
                  </a:tcPr>
                </a:tc>
                <a:tc>
                  <a:txBody>
                    <a:bodyPr/>
                    <a:lstStyle/>
                    <a:p>
                      <a:pPr>
                        <a:defRPr sz="1500" b="0">
                          <a:solidFill>
                            <a:srgbClr val="142638"/>
                          </a:solidFill>
                          <a:latin typeface="Aptos"/>
                        </a:defRPr>
                      </a:pPr>
                      <a:r>
                        <a:t>3.7%</a:t>
                      </a:r>
                    </a:p>
                  </a:txBody>
                  <a:tcPr marL="82296" marR="54864" marT="45720">
                    <a:solidFill>
                      <a:srgbClr val="EAF3F4"/>
                    </a:solidFill>
                  </a:tcPr>
                </a:tc>
                <a:tc>
                  <a:txBody>
                    <a:bodyPr/>
                    <a:lstStyle/>
                    <a:p>
                      <a:pPr>
                        <a:defRPr sz="1500" b="0">
                          <a:solidFill>
                            <a:srgbClr val="142638"/>
                          </a:solidFill>
                          <a:latin typeface="Aptos"/>
                        </a:defRPr>
                      </a:pPr>
                      <a:r>
                        <a:t>Pure price-recovery benchmark</a:t>
                      </a:r>
                    </a:p>
                  </a:txBody>
                  <a:tcPr marL="82296" marR="54864" marT="45720">
                    <a:solidFill>
                      <a:srgbClr val="EAF3F4"/>
                    </a:solidFill>
                  </a:tcPr>
                </a:tc>
              </a:tr>
              <a:tr h="475488">
                <a:tc>
                  <a:txBody>
                    <a:bodyPr/>
                    <a:lstStyle/>
                    <a:p>
                      <a:pPr>
                        <a:defRPr sz="1500" b="0">
                          <a:solidFill>
                            <a:srgbClr val="142638"/>
                          </a:solidFill>
                          <a:latin typeface="Aptos"/>
                        </a:defRPr>
                      </a:pPr>
                      <a:r>
                        <a:t>Analyst average target</a:t>
                      </a:r>
                    </a:p>
                  </a:txBody>
                  <a:tcPr marL="82296" marR="54864" marT="45720">
                    <a:solidFill>
                      <a:srgbClr val="FFFFFF"/>
                    </a:solidFill>
                  </a:tcPr>
                </a:tc>
                <a:tc>
                  <a:txBody>
                    <a:bodyPr/>
                    <a:lstStyle/>
                    <a:p>
                      <a:pPr>
                        <a:defRPr sz="1500" b="0">
                          <a:solidFill>
                            <a:srgbClr val="142638"/>
                          </a:solidFill>
                          <a:latin typeface="Aptos"/>
                        </a:defRPr>
                      </a:pPr>
                      <a:r>
                        <a:t>$1,149</a:t>
                      </a:r>
                    </a:p>
                  </a:txBody>
                  <a:tcPr marL="82296" marR="54864" marT="45720">
                    <a:solidFill>
                      <a:srgbClr val="FFFFFF"/>
                    </a:solidFill>
                  </a:tcPr>
                </a:tc>
                <a:tc>
                  <a:txBody>
                    <a:bodyPr/>
                    <a:lstStyle/>
                    <a:p>
                      <a:pPr>
                        <a:defRPr sz="1500" b="0">
                          <a:solidFill>
                            <a:srgbClr val="142638"/>
                          </a:solidFill>
                          <a:latin typeface="Aptos"/>
                        </a:defRPr>
                      </a:pPr>
                      <a:r>
                        <a:t>28.6%</a:t>
                      </a:r>
                    </a:p>
                  </a:txBody>
                  <a:tcPr marL="82296" marR="54864" marT="45720">
                    <a:solidFill>
                      <a:srgbClr val="FFFFFF"/>
                    </a:solidFill>
                  </a:tcPr>
                </a:tc>
                <a:tc>
                  <a:txBody>
                    <a:bodyPr/>
                    <a:lstStyle/>
                    <a:p>
                      <a:pPr>
                        <a:defRPr sz="1500" b="0">
                          <a:solidFill>
                            <a:srgbClr val="142638"/>
                          </a:solidFill>
                          <a:latin typeface="Aptos"/>
                        </a:defRPr>
                      </a:pPr>
                      <a:r>
                        <a:t>12-month cross-check; needs more than pure unwind</a:t>
                      </a:r>
                    </a:p>
                  </a:txBody>
                  <a:tcPr marL="82296" marR="54864" marT="45720">
                    <a:solidFill>
                      <a:srgbClr val="FFFFFF"/>
                    </a:solidFill>
                  </a:tcPr>
                </a:tc>
              </a:tr>
            </a:tbl>
          </a:graphicData>
        </a:graphic>
      </p:graphicFrame>
      <p:sp>
        <p:nvSpPr>
          <p:cNvPr id="9" name="TextBox 8"/>
          <p:cNvSpPr txBox="1"/>
          <p:nvPr/>
        </p:nvSpPr>
        <p:spPr>
          <a:xfrm>
            <a:off x="594360" y="4370832"/>
            <a:ext cx="10972800" cy="1143000"/>
          </a:xfrm>
          <a:prstGeom prst="rect">
            <a:avLst/>
          </a:prstGeom>
          <a:noFill/>
        </p:spPr>
        <p:txBody>
          <a:bodyPr wrap="square" lIns="18288" rIns="18288" tIns="13716">
            <a:spAutoFit/>
          </a:bodyPr>
          <a:lstStyle/>
          <a:p>
            <a:pPr>
              <a:spcAft>
                <a:spcPts val="500"/>
              </a:spcAft>
              <a:defRPr sz="2000" b="1">
                <a:solidFill>
                  <a:srgbClr val="142638"/>
                </a:solidFill>
                <a:latin typeface="Aptos"/>
              </a:defRPr>
            </a:pPr>
            <a:r>
              <a:t>63.7% of the event-day dollar drop had already recovered by the reference close.</a:t>
            </a:r>
          </a:p>
          <a:p>
            <a:pPr>
              <a:spcAft>
                <a:spcPts val="500"/>
              </a:spcAft>
              <a:defRPr sz="2000" b="1">
                <a:solidFill>
                  <a:srgbClr val="142638"/>
                </a:solidFill>
                <a:latin typeface="Aptos"/>
              </a:defRPr>
            </a:pPr>
            <a:r>
              <a:t>A $1,149 target requires an additional 23.9% beyond the pre-event price.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10896"/>
            <a:ext cx="11247120" cy="594360"/>
          </a:xfrm>
          <a:prstGeom prst="rect">
            <a:avLst/>
          </a:prstGeom>
          <a:noFill/>
        </p:spPr>
        <p:txBody>
          <a:bodyPr wrap="square" lIns="18288" rIns="18288" tIns="13716">
            <a:spAutoFit/>
          </a:bodyPr>
          <a:lstStyle/>
          <a:p>
            <a:pPr>
              <a:spcAft>
                <a:spcPts val="500"/>
              </a:spcAft>
              <a:defRPr sz="2600" b="1">
                <a:solidFill>
                  <a:srgbClr val="142638"/>
                </a:solidFill>
                <a:latin typeface="Aptos"/>
              </a:defRPr>
            </a:pPr>
            <a:r>
              <a:t>Operating upside is explicit; the ramp and margins fade</a:t>
            </a:r>
          </a:p>
        </p:txBody>
      </p:sp>
      <p:sp>
        <p:nvSpPr>
          <p:cNvPr id="4" name="TextBox 3"/>
          <p:cNvSpPr txBox="1"/>
          <p:nvPr/>
        </p:nvSpPr>
        <p:spPr>
          <a:xfrm>
            <a:off x="457200" y="950976"/>
            <a:ext cx="11247120" cy="457200"/>
          </a:xfrm>
          <a:prstGeom prst="rect">
            <a:avLst/>
          </a:prstGeom>
          <a:noFill/>
        </p:spPr>
        <p:txBody>
          <a:bodyPr wrap="square" lIns="18288" rIns="18288" tIns="13716">
            <a:spAutoFit/>
          </a:bodyPr>
          <a:lstStyle/>
          <a:p>
            <a:pPr>
              <a:spcAft>
                <a:spcPts val="500"/>
              </a:spcAft>
              <a:defRPr sz="1400" b="0">
                <a:solidFill>
                  <a:srgbClr val="536575"/>
                </a:solidFill>
                <a:latin typeface="Aptos"/>
              </a:defRPr>
            </a:pPr>
            <a:r>
              <a:t>Five years capture the ramp, then five years normalize growth and margins before terminal value.</a:t>
            </a:r>
          </a:p>
        </p:txBody>
      </p:sp>
      <p:sp>
        <p:nvSpPr>
          <p:cNvPr id="5" name="Rectangle 4"/>
          <p:cNvSpPr/>
          <p:nvPr/>
        </p:nvSpPr>
        <p:spPr>
          <a:xfrm>
            <a:off x="457200" y="6208776"/>
            <a:ext cx="11247120" cy="13716"/>
          </a:xfrm>
          <a:prstGeom prst="rect">
            <a:avLst/>
          </a:prstGeom>
          <a:solidFill>
            <a:srgbClr val="CDD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18504"/>
            <a:ext cx="10698480" cy="347472"/>
          </a:xfrm>
          <a:prstGeom prst="rect">
            <a:avLst/>
          </a:prstGeom>
          <a:noFill/>
        </p:spPr>
        <p:txBody>
          <a:bodyPr wrap="square" lIns="18288" rIns="18288" tIns="13716">
            <a:spAutoFit/>
          </a:bodyPr>
          <a:lstStyle/>
          <a:p>
            <a:pPr>
              <a:spcAft>
                <a:spcPts val="500"/>
              </a:spcAft>
              <a:defRPr sz="800" b="0">
                <a:solidFill>
                  <a:srgbClr val="536575"/>
                </a:solidFill>
                <a:latin typeface="Aptos"/>
              </a:defRPr>
            </a:pPr>
            <a:r>
              <a:t>Sources: S1, S2, S4, S5, S11, S12  |  AI: source extraction, model and slides; team review pending.</a:t>
            </a:r>
          </a:p>
        </p:txBody>
      </p:sp>
      <p:sp>
        <p:nvSpPr>
          <p:cNvPr id="7" name="TextBox 6"/>
          <p:cNvSpPr txBox="1"/>
          <p:nvPr/>
        </p:nvSpPr>
        <p:spPr>
          <a:xfrm>
            <a:off x="11320272" y="6291072"/>
            <a:ext cx="411480" cy="320040"/>
          </a:xfrm>
          <a:prstGeom prst="rect">
            <a:avLst/>
          </a:prstGeom>
          <a:noFill/>
        </p:spPr>
        <p:txBody>
          <a:bodyPr wrap="square" lIns="18288" rIns="18288" tIns="13716">
            <a:spAutoFit/>
          </a:bodyPr>
          <a:lstStyle/>
          <a:p>
            <a:pPr>
              <a:spcAft>
                <a:spcPts val="500"/>
              </a:spcAft>
              <a:defRPr sz="1000" b="0">
                <a:solidFill>
                  <a:srgbClr val="536575"/>
                </a:solidFill>
                <a:latin typeface="Aptos"/>
              </a:defRPr>
            </a:pPr>
            <a:r>
              <a:t>2</a:t>
            </a:r>
          </a:p>
        </p:txBody>
      </p:sp>
      <p:graphicFrame>
        <p:nvGraphicFramePr>
          <p:cNvPr id="8" name="Table 7"/>
          <p:cNvGraphicFramePr>
            <a:graphicFrameLocks noGrp="1"/>
          </p:cNvGraphicFramePr>
          <p:nvPr/>
        </p:nvGraphicFramePr>
        <p:xfrm>
          <a:off x="502920" y="1527048"/>
          <a:ext cx="11155679" cy="4297680"/>
        </p:xfrm>
        <a:graphic>
          <a:graphicData uri="http://schemas.openxmlformats.org/drawingml/2006/table">
            <a:tbl>
              <a:tblPr firstRow="1" bandRow="1">
                <a:tableStyleId>{5C22544A-7EE6-4342-B048-85BDC9FD1C3A}</a:tableStyleId>
              </a:tblPr>
              <a:tblGrid>
                <a:gridCol w="1940118"/>
                <a:gridCol w="3758979"/>
                <a:gridCol w="5456582"/>
              </a:tblGrid>
              <a:tr h="537210">
                <a:tc>
                  <a:txBody>
                    <a:bodyPr/>
                    <a:lstStyle/>
                    <a:p>
                      <a:pPr>
                        <a:defRPr sz="1300" b="1">
                          <a:solidFill>
                            <a:srgbClr val="FFFFFF"/>
                          </a:solidFill>
                          <a:latin typeface="Aptos"/>
                        </a:defRPr>
                      </a:pPr>
                      <a:r>
                        <a:t>Driver</a:t>
                      </a:r>
                    </a:p>
                  </a:txBody>
                  <a:tcPr marL="82296" marR="54864" marT="45720">
                    <a:solidFill>
                      <a:srgbClr val="087F8C"/>
                    </a:solidFill>
                  </a:tcPr>
                </a:tc>
                <a:tc>
                  <a:txBody>
                    <a:bodyPr/>
                    <a:lstStyle/>
                    <a:p>
                      <a:pPr>
                        <a:defRPr sz="1300" b="1">
                          <a:solidFill>
                            <a:srgbClr val="FFFFFF"/>
                          </a:solidFill>
                          <a:latin typeface="Aptos"/>
                        </a:defRPr>
                      </a:pPr>
                      <a:r>
                        <a:t>Bull assumption / path</a:t>
                      </a:r>
                    </a:p>
                  </a:txBody>
                  <a:tcPr marL="82296" marR="54864" marT="45720">
                    <a:solidFill>
                      <a:srgbClr val="087F8C"/>
                    </a:solidFill>
                  </a:tcPr>
                </a:tc>
                <a:tc>
                  <a:txBody>
                    <a:bodyPr/>
                    <a:lstStyle/>
                    <a:p>
                      <a:pPr>
                        <a:defRPr sz="1300" b="1">
                          <a:solidFill>
                            <a:srgbClr val="FFFFFF"/>
                          </a:solidFill>
                          <a:latin typeface="Aptos"/>
                        </a:defRPr>
                      </a:pPr>
                      <a:r>
                        <a:t>Source or logic</a:t>
                      </a:r>
                    </a:p>
                  </a:txBody>
                  <a:tcPr marL="82296" marR="54864" marT="45720">
                    <a:solidFill>
                      <a:srgbClr val="087F8C"/>
                    </a:solidFill>
                  </a:tcPr>
                </a:tc>
              </a:tr>
              <a:tr h="537210">
                <a:tc>
                  <a:txBody>
                    <a:bodyPr/>
                    <a:lstStyle/>
                    <a:p>
                      <a:pPr>
                        <a:defRPr sz="1300" b="0">
                          <a:solidFill>
                            <a:srgbClr val="142638"/>
                          </a:solidFill>
                          <a:latin typeface="Aptos"/>
                        </a:defRPr>
                      </a:pPr>
                      <a:r>
                        <a:t>Revenue by end market</a:t>
                      </a:r>
                    </a:p>
                  </a:txBody>
                  <a:tcPr marL="82296" marR="54864" marT="45720">
                    <a:solidFill>
                      <a:srgbClr val="EAF3F4"/>
                    </a:solidFill>
                  </a:tcPr>
                </a:tc>
                <a:tc>
                  <a:txBody>
                    <a:bodyPr/>
                    <a:lstStyle/>
                    <a:p>
                      <a:pPr>
                        <a:defRPr sz="1300" b="0">
                          <a:solidFill>
                            <a:srgbClr val="142638"/>
                          </a:solidFill>
                          <a:latin typeface="Aptos"/>
                        </a:defRPr>
                      </a:pPr>
                      <a:r>
                        <a:t>Cloud + Industrial; FY27 6,652m</a:t>
                      </a:r>
                    </a:p>
                  </a:txBody>
                  <a:tcPr marL="82296" marR="54864" marT="45720">
                    <a:solidFill>
                      <a:srgbClr val="EAF3F4"/>
                    </a:solidFill>
                  </a:tcPr>
                </a:tc>
                <a:tc>
                  <a:txBody>
                    <a:bodyPr/>
                    <a:lstStyle/>
                    <a:p>
                      <a:pPr>
                        <a:defRPr sz="1300" b="0">
                          <a:solidFill>
                            <a:srgbClr val="142638"/>
                          </a:solidFill>
                          <a:latin typeface="Aptos"/>
                        </a:defRPr>
                      </a:pPr>
                      <a:r>
                        <a:t>Base FY27/28: $6.32bn / $9.61bn [S4]; former split estimated</a:t>
                      </a:r>
                    </a:p>
                  </a:txBody>
                  <a:tcPr marL="82296" marR="54864" marT="45720">
                    <a:solidFill>
                      <a:srgbClr val="EAF3F4"/>
                    </a:solidFill>
                  </a:tcPr>
                </a:tc>
              </a:tr>
              <a:tr h="537210">
                <a:tc>
                  <a:txBody>
                    <a:bodyPr/>
                    <a:lstStyle/>
                    <a:p>
                      <a:pPr>
                        <a:defRPr sz="1300" b="0">
                          <a:solidFill>
                            <a:srgbClr val="142638"/>
                          </a:solidFill>
                          <a:latin typeface="Aptos"/>
                        </a:defRPr>
                      </a:pPr>
                      <a:r>
                        <a:t>EML / 1.6T / OCS</a:t>
                      </a:r>
                    </a:p>
                  </a:txBody>
                  <a:tcPr marL="82296" marR="54864" marT="45720">
                    <a:solidFill>
                      <a:srgbClr val="FFFFFF"/>
                    </a:solidFill>
                  </a:tcPr>
                </a:tc>
                <a:tc>
                  <a:txBody>
                    <a:bodyPr/>
                    <a:lstStyle/>
                    <a:p>
                      <a:pPr>
                        <a:defRPr sz="1300" b="0">
                          <a:solidFill>
                            <a:srgbClr val="142638"/>
                          </a:solidFill>
                          <a:latin typeface="Aptos"/>
                        </a:defRPr>
                      </a:pPr>
                      <a:r>
                        <a:t>EML +1–3%; mix +2–5%; OCS +$150m → $1.49bn</a:t>
                      </a:r>
                    </a:p>
                  </a:txBody>
                  <a:tcPr marL="82296" marR="54864" marT="45720">
                    <a:solidFill>
                      <a:srgbClr val="FFFFFF"/>
                    </a:solidFill>
                  </a:tcPr>
                </a:tc>
                <a:tc>
                  <a:txBody>
                    <a:bodyPr/>
                    <a:lstStyle/>
                    <a:p>
                      <a:pPr>
                        <a:defRPr sz="1300" b="0">
                          <a:solidFill>
                            <a:srgbClr val="142638"/>
                          </a:solidFill>
                          <a:latin typeface="Aptos"/>
                        </a:defRPr>
                      </a:pPr>
                      <a:r>
                        <a:t>LITE-specific incremental revenue; explicit team estimates</a:t>
                      </a:r>
                    </a:p>
                  </a:txBody>
                  <a:tcPr marL="82296" marR="54864" marT="45720">
                    <a:solidFill>
                      <a:srgbClr val="FFFFFF"/>
                    </a:solidFill>
                  </a:tcPr>
                </a:tc>
              </a:tr>
              <a:tr h="537210">
                <a:tc>
                  <a:txBody>
                    <a:bodyPr/>
                    <a:lstStyle/>
                    <a:p>
                      <a:pPr>
                        <a:defRPr sz="1300" b="0">
                          <a:solidFill>
                            <a:srgbClr val="142638"/>
                          </a:solidFill>
                          <a:latin typeface="Aptos"/>
                        </a:defRPr>
                      </a:pPr>
                      <a:r>
                        <a:t>Adjusted EBIT margin</a:t>
                      </a:r>
                    </a:p>
                  </a:txBody>
                  <a:tcPr marL="82296" marR="54864" marT="45720">
                    <a:solidFill>
                      <a:srgbClr val="EAF3F4"/>
                    </a:solidFill>
                  </a:tcPr>
                </a:tc>
                <a:tc>
                  <a:txBody>
                    <a:bodyPr/>
                    <a:lstStyle/>
                    <a:p>
                      <a:pPr>
                        <a:defRPr sz="1300" b="0">
                          <a:solidFill>
                            <a:srgbClr val="142638"/>
                          </a:solidFill>
                          <a:latin typeface="Aptos"/>
                        </a:defRPr>
                      </a:pPr>
                      <a:r>
                        <a:t>40.75% FY27 → 42.5% peak → 25% terminal</a:t>
                      </a:r>
                    </a:p>
                  </a:txBody>
                  <a:tcPr marL="82296" marR="54864" marT="45720">
                    <a:solidFill>
                      <a:srgbClr val="EAF3F4"/>
                    </a:solidFill>
                  </a:tcPr>
                </a:tc>
                <a:tc>
                  <a:txBody>
                    <a:bodyPr/>
                    <a:lstStyle/>
                    <a:p>
                      <a:pPr>
                        <a:defRPr sz="1300" b="0">
                          <a:solidFill>
                            <a:srgbClr val="142638"/>
                          </a:solidFill>
                          <a:latin typeface="Aptos"/>
                        </a:defRPr>
                      </a:pPr>
                      <a:r>
                        <a:t>Sourcing adds up to 150bp, then fades; peer margin bracket</a:t>
                      </a:r>
                    </a:p>
                  </a:txBody>
                  <a:tcPr marL="82296" marR="54864" marT="45720">
                    <a:solidFill>
                      <a:srgbClr val="EAF3F4"/>
                    </a:solidFill>
                  </a:tcPr>
                </a:tc>
              </a:tr>
              <a:tr h="537210">
                <a:tc>
                  <a:txBody>
                    <a:bodyPr/>
                    <a:lstStyle/>
                    <a:p>
                      <a:pPr>
                        <a:defRPr sz="1300" b="0">
                          <a:solidFill>
                            <a:srgbClr val="142638"/>
                          </a:solidFill>
                          <a:latin typeface="Aptos"/>
                        </a:defRPr>
                      </a:pPr>
                      <a:r>
                        <a:t>SBC / cash tax</a:t>
                      </a:r>
                    </a:p>
                  </a:txBody>
                  <a:tcPr marL="82296" marR="54864" marT="45720">
                    <a:solidFill>
                      <a:srgbClr val="FFFFFF"/>
                    </a:solidFill>
                  </a:tcPr>
                </a:tc>
                <a:tc>
                  <a:txBody>
                    <a:bodyPr/>
                    <a:lstStyle/>
                    <a:p>
                      <a:pPr>
                        <a:defRPr sz="1300" b="0">
                          <a:solidFill>
                            <a:srgbClr val="142638"/>
                          </a:solidFill>
                          <a:latin typeface="Aptos"/>
                        </a:defRPr>
                      </a:pPr>
                      <a:r>
                        <a:t>4.5% of sales / 20%</a:t>
                      </a:r>
                    </a:p>
                  </a:txBody>
                  <a:tcPr marL="82296" marR="54864" marT="45720">
                    <a:solidFill>
                      <a:srgbClr val="FFFFFF"/>
                    </a:solidFill>
                  </a:tcPr>
                </a:tc>
                <a:tc>
                  <a:txBody>
                    <a:bodyPr/>
                    <a:lstStyle/>
                    <a:p>
                      <a:pPr>
                        <a:defRPr sz="1300" b="0">
                          <a:solidFill>
                            <a:srgbClr val="142638"/>
                          </a:solidFill>
                          <a:latin typeface="Aptos"/>
                        </a:defRPr>
                      </a:pPr>
                      <a:r>
                        <a:t>SBC remains an economic cost; tax above FY26 adjusted rate</a:t>
                      </a:r>
                    </a:p>
                  </a:txBody>
                  <a:tcPr marL="82296" marR="54864" marT="45720">
                    <a:solidFill>
                      <a:srgbClr val="FFFFFF"/>
                    </a:solidFill>
                  </a:tcPr>
                </a:tc>
              </a:tr>
              <a:tr h="537210">
                <a:tc>
                  <a:txBody>
                    <a:bodyPr/>
                    <a:lstStyle/>
                    <a:p>
                      <a:pPr>
                        <a:defRPr sz="1300" b="0">
                          <a:solidFill>
                            <a:srgbClr val="142638"/>
                          </a:solidFill>
                          <a:latin typeface="Aptos"/>
                        </a:defRPr>
                      </a:pPr>
                      <a:r>
                        <a:t>D&amp;A / capex / NWC</a:t>
                      </a:r>
                    </a:p>
                  </a:txBody>
                  <a:tcPr marL="82296" marR="54864" marT="45720">
                    <a:solidFill>
                      <a:srgbClr val="EAF3F4"/>
                    </a:solidFill>
                  </a:tcPr>
                </a:tc>
                <a:tc>
                  <a:txBody>
                    <a:bodyPr/>
                    <a:lstStyle/>
                    <a:p>
                      <a:pPr>
                        <a:defRPr sz="1300" b="0">
                          <a:solidFill>
                            <a:srgbClr val="142638"/>
                          </a:solidFill>
                          <a:latin typeface="Aptos"/>
                        </a:defRPr>
                      </a:pPr>
                      <a:r>
                        <a:t>D&amp;A 4→5.5%; capex 13→6%; NWC 18%</a:t>
                      </a:r>
                    </a:p>
                  </a:txBody>
                  <a:tcPr marL="82296" marR="54864" marT="45720">
                    <a:solidFill>
                      <a:srgbClr val="EAF3F4"/>
                    </a:solidFill>
                  </a:tcPr>
                </a:tc>
                <a:tc>
                  <a:txBody>
                    <a:bodyPr/>
                    <a:lstStyle/>
                    <a:p>
                      <a:pPr>
                        <a:defRPr sz="1300" b="0">
                          <a:solidFill>
                            <a:srgbClr val="142638"/>
                          </a:solidFill>
                          <a:latin typeface="Aptos"/>
                        </a:defRPr>
                      </a:pPr>
                      <a:r>
                        <a:t>Depreciation only; capex exceeds terminal depreciation</a:t>
                      </a:r>
                    </a:p>
                  </a:txBody>
                  <a:tcPr marL="82296" marR="54864" marT="45720">
                    <a:solidFill>
                      <a:srgbClr val="EAF3F4"/>
                    </a:solidFill>
                  </a:tcPr>
                </a:tc>
              </a:tr>
              <a:tr h="537210">
                <a:tc>
                  <a:txBody>
                    <a:bodyPr/>
                    <a:lstStyle/>
                    <a:p>
                      <a:pPr>
                        <a:defRPr sz="1300" b="0">
                          <a:solidFill>
                            <a:srgbClr val="142638"/>
                          </a:solidFill>
                          <a:latin typeface="Aptos"/>
                        </a:defRPr>
                      </a:pPr>
                      <a:r>
                        <a:t>Long-run growth / exit</a:t>
                      </a:r>
                    </a:p>
                  </a:txBody>
                  <a:tcPr marL="82296" marR="54864" marT="45720">
                    <a:solidFill>
                      <a:srgbClr val="FFFFFF"/>
                    </a:solidFill>
                  </a:tcPr>
                </a:tc>
                <a:tc>
                  <a:txBody>
                    <a:bodyPr/>
                    <a:lstStyle/>
                    <a:p>
                      <a:pPr>
                        <a:defRPr sz="1300" b="0">
                          <a:solidFill>
                            <a:srgbClr val="142638"/>
                          </a:solidFill>
                          <a:latin typeface="Aptos"/>
                        </a:defRPr>
                      </a:pPr>
                      <a:r>
                        <a:t>3% g / 16× economic EBITDA</a:t>
                      </a:r>
                    </a:p>
                  </a:txBody>
                  <a:tcPr marL="82296" marR="54864" marT="45720">
                    <a:solidFill>
                      <a:srgbClr val="FFFFFF"/>
                    </a:solidFill>
                  </a:tcPr>
                </a:tc>
                <a:tc>
                  <a:txBody>
                    <a:bodyPr/>
                    <a:lstStyle/>
                    <a:p>
                      <a:pPr>
                        <a:defRPr sz="1300" b="0">
                          <a:solidFill>
                            <a:srgbClr val="142638"/>
                          </a:solidFill>
                          <a:latin typeface="Aptos"/>
                        </a:defRPr>
                      </a:pPr>
                      <a:r>
                        <a:t>Below ~4% nominal GDP; mature multiple, not current peer peak</a:t>
                      </a:r>
                    </a:p>
                  </a:txBody>
                  <a:tcPr marL="82296" marR="54864" marT="45720">
                    <a:solidFill>
                      <a:srgbClr val="FFFFFF"/>
                    </a:solidFill>
                  </a:tcPr>
                </a:tc>
              </a:tr>
              <a:tr h="537210">
                <a:tc>
                  <a:txBody>
                    <a:bodyPr/>
                    <a:lstStyle/>
                    <a:p>
                      <a:pPr>
                        <a:defRPr sz="1300" b="0">
                          <a:solidFill>
                            <a:srgbClr val="142638"/>
                          </a:solidFill>
                          <a:latin typeface="Aptos"/>
                        </a:defRPr>
                      </a:pPr>
                      <a:r>
                        <a:t>Capital / timing</a:t>
                      </a:r>
                    </a:p>
                  </a:txBody>
                  <a:tcPr marL="82296" marR="54864" marT="45720">
                    <a:solidFill>
                      <a:srgbClr val="EAF3F4"/>
                    </a:solidFill>
                  </a:tcPr>
                </a:tc>
                <a:tc>
                  <a:txBody>
                    <a:bodyPr/>
                    <a:lstStyle/>
                    <a:p>
                      <a:pPr>
                        <a:defRPr sz="1300" b="0">
                          <a:solidFill>
                            <a:srgbClr val="142638"/>
                          </a:solidFill>
                          <a:latin typeface="Aptos"/>
                        </a:defRPr>
                      </a:pPr>
                      <a:r>
                        <a:t>Treasury options; June capital; FY27 stub</a:t>
                      </a:r>
                    </a:p>
                  </a:txBody>
                  <a:tcPr marL="82296" marR="54864" marT="45720">
                    <a:solidFill>
                      <a:srgbClr val="EAF3F4"/>
                    </a:solidFill>
                  </a:tcPr>
                </a:tc>
                <a:tc>
                  <a:txBody>
                    <a:bodyPr/>
                    <a:lstStyle/>
                    <a:p>
                      <a:pPr>
                        <a:defRPr sz="1300" b="0">
                          <a:solidFill>
                            <a:srgbClr val="142638"/>
                          </a:solidFill>
                          <a:latin typeface="Aptos"/>
                        </a:defRPr>
                      </a:pPr>
                      <a:r>
                        <a:t>Cash principal + net conversion shares; no double counting</a:t>
                      </a:r>
                    </a:p>
                  </a:txBody>
                  <a:tcPr marL="82296" marR="54864" marT="45720">
                    <a:solidFill>
                      <a:srgbClr val="EAF3F4"/>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10896"/>
            <a:ext cx="11247120" cy="594360"/>
          </a:xfrm>
          <a:prstGeom prst="rect">
            <a:avLst/>
          </a:prstGeom>
          <a:noFill/>
        </p:spPr>
        <p:txBody>
          <a:bodyPr wrap="square" lIns="18288" rIns="18288" tIns="13716">
            <a:spAutoFit/>
          </a:bodyPr>
          <a:lstStyle/>
          <a:p>
            <a:pPr>
              <a:spcAft>
                <a:spcPts val="500"/>
              </a:spcAft>
              <a:defRPr sz="2600" b="1">
                <a:solidFill>
                  <a:srgbClr val="142638"/>
                </a:solidFill>
                <a:latin typeface="Aptos"/>
              </a:defRPr>
            </a:pPr>
            <a:r>
              <a:t>Full unlevered cash-flow build: FY2027–2031</a:t>
            </a:r>
          </a:p>
        </p:txBody>
      </p:sp>
      <p:sp>
        <p:nvSpPr>
          <p:cNvPr id="4" name="TextBox 3"/>
          <p:cNvSpPr txBox="1"/>
          <p:nvPr/>
        </p:nvSpPr>
        <p:spPr>
          <a:xfrm>
            <a:off x="457200" y="950976"/>
            <a:ext cx="11247120" cy="457200"/>
          </a:xfrm>
          <a:prstGeom prst="rect">
            <a:avLst/>
          </a:prstGeom>
          <a:noFill/>
        </p:spPr>
        <p:txBody>
          <a:bodyPr wrap="square" lIns="18288" rIns="18288" tIns="13716">
            <a:spAutoFit/>
          </a:bodyPr>
          <a:lstStyle/>
          <a:p>
            <a:pPr>
              <a:spcAft>
                <a:spcPts val="500"/>
              </a:spcAft>
              <a:defRPr sz="1400" b="0">
                <a:solidFill>
                  <a:srgbClr val="536575"/>
                </a:solidFill>
                <a:latin typeface="Aptos"/>
              </a:defRPr>
            </a:pPr>
            <a:r>
              <a:t>USD millions. Economic EBIT retains recurring stock compensation; acquired amortization is not added twice.</a:t>
            </a:r>
          </a:p>
        </p:txBody>
      </p:sp>
      <p:sp>
        <p:nvSpPr>
          <p:cNvPr id="5" name="Rectangle 4"/>
          <p:cNvSpPr/>
          <p:nvPr/>
        </p:nvSpPr>
        <p:spPr>
          <a:xfrm>
            <a:off x="457200" y="6208776"/>
            <a:ext cx="11247120" cy="13716"/>
          </a:xfrm>
          <a:prstGeom prst="rect">
            <a:avLst/>
          </a:prstGeom>
          <a:solidFill>
            <a:srgbClr val="CDD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18504"/>
            <a:ext cx="10698480" cy="347472"/>
          </a:xfrm>
          <a:prstGeom prst="rect">
            <a:avLst/>
          </a:prstGeom>
          <a:noFill/>
        </p:spPr>
        <p:txBody>
          <a:bodyPr wrap="square" lIns="18288" rIns="18288" tIns="13716">
            <a:spAutoFit/>
          </a:bodyPr>
          <a:lstStyle/>
          <a:p>
            <a:pPr>
              <a:spcAft>
                <a:spcPts val="500"/>
              </a:spcAft>
              <a:defRPr sz="800" b="0">
                <a:solidFill>
                  <a:srgbClr val="536575"/>
                </a:solidFill>
                <a:latin typeface="Aptos"/>
              </a:defRPr>
            </a:pPr>
            <a:r>
              <a:t>Sources: S1, S2, S4  |  AI: source extraction, model and slides; team review pending.</a:t>
            </a:r>
          </a:p>
        </p:txBody>
      </p:sp>
      <p:sp>
        <p:nvSpPr>
          <p:cNvPr id="7" name="TextBox 6"/>
          <p:cNvSpPr txBox="1"/>
          <p:nvPr/>
        </p:nvSpPr>
        <p:spPr>
          <a:xfrm>
            <a:off x="11320272" y="6291072"/>
            <a:ext cx="411480" cy="320040"/>
          </a:xfrm>
          <a:prstGeom prst="rect">
            <a:avLst/>
          </a:prstGeom>
          <a:noFill/>
        </p:spPr>
        <p:txBody>
          <a:bodyPr wrap="square" lIns="18288" rIns="18288" tIns="13716">
            <a:spAutoFit/>
          </a:bodyPr>
          <a:lstStyle/>
          <a:p>
            <a:pPr>
              <a:spcAft>
                <a:spcPts val="500"/>
              </a:spcAft>
              <a:defRPr sz="1000" b="0">
                <a:solidFill>
                  <a:srgbClr val="536575"/>
                </a:solidFill>
                <a:latin typeface="Aptos"/>
              </a:defRPr>
            </a:pPr>
            <a:r>
              <a:t>3</a:t>
            </a:r>
          </a:p>
        </p:txBody>
      </p:sp>
      <p:graphicFrame>
        <p:nvGraphicFramePr>
          <p:cNvPr id="8" name="Table 7"/>
          <p:cNvGraphicFramePr>
            <a:graphicFrameLocks noGrp="1"/>
          </p:cNvGraphicFramePr>
          <p:nvPr/>
        </p:nvGraphicFramePr>
        <p:xfrm>
          <a:off x="502920" y="1508760"/>
          <a:ext cx="11155675" cy="4453128"/>
        </p:xfrm>
        <a:graphic>
          <a:graphicData uri="http://schemas.openxmlformats.org/drawingml/2006/table">
            <a:tbl>
              <a:tblPr firstRow="1" bandRow="1">
                <a:tableStyleId>{5C22544A-7EE6-4342-B048-85BDC9FD1C3A}</a:tableStyleId>
              </a:tblPr>
              <a:tblGrid>
                <a:gridCol w="3718560"/>
                <a:gridCol w="1487423"/>
                <a:gridCol w="1487423"/>
                <a:gridCol w="1487423"/>
                <a:gridCol w="1487423"/>
                <a:gridCol w="1487423"/>
              </a:tblGrid>
              <a:tr h="342548">
                <a:tc>
                  <a:txBody>
                    <a:bodyPr/>
                    <a:lstStyle/>
                    <a:p>
                      <a:pPr>
                        <a:defRPr sz="1300" b="1">
                          <a:solidFill>
                            <a:srgbClr val="FFFFFF"/>
                          </a:solidFill>
                          <a:latin typeface="Aptos"/>
                        </a:defRPr>
                      </a:pPr>
                      <a:r>
                        <a:t>USD m</a:t>
                      </a:r>
                    </a:p>
                  </a:txBody>
                  <a:tcPr marL="82296" marR="54864" marT="45720">
                    <a:solidFill>
                      <a:srgbClr val="087F8C"/>
                    </a:solidFill>
                  </a:tcPr>
                </a:tc>
                <a:tc>
                  <a:txBody>
                    <a:bodyPr/>
                    <a:lstStyle/>
                    <a:p>
                      <a:pPr>
                        <a:defRPr sz="1300" b="1">
                          <a:solidFill>
                            <a:srgbClr val="FFFFFF"/>
                          </a:solidFill>
                          <a:latin typeface="Aptos"/>
                        </a:defRPr>
                      </a:pPr>
                      <a:r>
                        <a:t>2027</a:t>
                      </a:r>
                    </a:p>
                  </a:txBody>
                  <a:tcPr marL="82296" marR="54864" marT="45720">
                    <a:solidFill>
                      <a:srgbClr val="087F8C"/>
                    </a:solidFill>
                  </a:tcPr>
                </a:tc>
                <a:tc>
                  <a:txBody>
                    <a:bodyPr/>
                    <a:lstStyle/>
                    <a:p>
                      <a:pPr>
                        <a:defRPr sz="1300" b="1">
                          <a:solidFill>
                            <a:srgbClr val="FFFFFF"/>
                          </a:solidFill>
                          <a:latin typeface="Aptos"/>
                        </a:defRPr>
                      </a:pPr>
                      <a:r>
                        <a:t>2028</a:t>
                      </a:r>
                    </a:p>
                  </a:txBody>
                  <a:tcPr marL="82296" marR="54864" marT="45720">
                    <a:solidFill>
                      <a:srgbClr val="087F8C"/>
                    </a:solidFill>
                  </a:tcPr>
                </a:tc>
                <a:tc>
                  <a:txBody>
                    <a:bodyPr/>
                    <a:lstStyle/>
                    <a:p>
                      <a:pPr>
                        <a:defRPr sz="1300" b="1">
                          <a:solidFill>
                            <a:srgbClr val="FFFFFF"/>
                          </a:solidFill>
                          <a:latin typeface="Aptos"/>
                        </a:defRPr>
                      </a:pPr>
                      <a:r>
                        <a:t>2029</a:t>
                      </a:r>
                    </a:p>
                  </a:txBody>
                  <a:tcPr marL="82296" marR="54864" marT="45720">
                    <a:solidFill>
                      <a:srgbClr val="087F8C"/>
                    </a:solidFill>
                  </a:tcPr>
                </a:tc>
                <a:tc>
                  <a:txBody>
                    <a:bodyPr/>
                    <a:lstStyle/>
                    <a:p>
                      <a:pPr>
                        <a:defRPr sz="1300" b="1">
                          <a:solidFill>
                            <a:srgbClr val="FFFFFF"/>
                          </a:solidFill>
                          <a:latin typeface="Aptos"/>
                        </a:defRPr>
                      </a:pPr>
                      <a:r>
                        <a:t>2030</a:t>
                      </a:r>
                    </a:p>
                  </a:txBody>
                  <a:tcPr marL="82296" marR="54864" marT="45720">
                    <a:solidFill>
                      <a:srgbClr val="087F8C"/>
                    </a:solidFill>
                  </a:tcPr>
                </a:tc>
                <a:tc>
                  <a:txBody>
                    <a:bodyPr/>
                    <a:lstStyle/>
                    <a:p>
                      <a:pPr>
                        <a:defRPr sz="1300" b="1">
                          <a:solidFill>
                            <a:srgbClr val="FFFFFF"/>
                          </a:solidFill>
                          <a:latin typeface="Aptos"/>
                        </a:defRPr>
                      </a:pPr>
                      <a:r>
                        <a:t>2031</a:t>
                      </a:r>
                    </a:p>
                  </a:txBody>
                  <a:tcPr marL="82296" marR="54864" marT="45720">
                    <a:solidFill>
                      <a:srgbClr val="087F8C"/>
                    </a:solidFill>
                  </a:tcPr>
                </a:tc>
              </a:tr>
              <a:tr h="342548">
                <a:tc>
                  <a:txBody>
                    <a:bodyPr/>
                    <a:lstStyle/>
                    <a:p>
                      <a:pPr>
                        <a:defRPr sz="1300" b="0">
                          <a:solidFill>
                            <a:srgbClr val="142638"/>
                          </a:solidFill>
                          <a:latin typeface="Aptos"/>
                        </a:defRPr>
                      </a:pPr>
                      <a:r>
                        <a:t>Cloud / Networking</a:t>
                      </a:r>
                    </a:p>
                  </a:txBody>
                  <a:tcPr marL="82296" marR="54864" marT="45720">
                    <a:solidFill>
                      <a:srgbClr val="EAF3F4"/>
                    </a:solidFill>
                  </a:tcPr>
                </a:tc>
                <a:tc>
                  <a:txBody>
                    <a:bodyPr/>
                    <a:lstStyle/>
                    <a:p>
                      <a:pPr>
                        <a:defRPr sz="1300" b="0">
                          <a:solidFill>
                            <a:srgbClr val="142638"/>
                          </a:solidFill>
                          <a:latin typeface="Aptos"/>
                        </a:defRPr>
                      </a:pPr>
                      <a:r>
                        <a:t>6,391</a:t>
                      </a:r>
                    </a:p>
                  </a:txBody>
                  <a:tcPr marL="82296" marR="54864" marT="45720">
                    <a:solidFill>
                      <a:srgbClr val="EAF3F4"/>
                    </a:solidFill>
                  </a:tcPr>
                </a:tc>
                <a:tc>
                  <a:txBody>
                    <a:bodyPr/>
                    <a:lstStyle/>
                    <a:p>
                      <a:pPr>
                        <a:defRPr sz="1300" b="0">
                          <a:solidFill>
                            <a:srgbClr val="142638"/>
                          </a:solidFill>
                          <a:latin typeface="Aptos"/>
                        </a:defRPr>
                      </a:pPr>
                      <a:r>
                        <a:t>10,054</a:t>
                      </a:r>
                    </a:p>
                  </a:txBody>
                  <a:tcPr marL="82296" marR="54864" marT="45720">
                    <a:solidFill>
                      <a:srgbClr val="EAF3F4"/>
                    </a:solidFill>
                  </a:tcPr>
                </a:tc>
                <a:tc>
                  <a:txBody>
                    <a:bodyPr/>
                    <a:lstStyle/>
                    <a:p>
                      <a:pPr>
                        <a:defRPr sz="1300" b="0">
                          <a:solidFill>
                            <a:srgbClr val="142638"/>
                          </a:solidFill>
                          <a:latin typeface="Aptos"/>
                        </a:defRPr>
                      </a:pPr>
                      <a:r>
                        <a:t>13,482</a:t>
                      </a:r>
                    </a:p>
                  </a:txBody>
                  <a:tcPr marL="82296" marR="54864" marT="45720">
                    <a:solidFill>
                      <a:srgbClr val="EAF3F4"/>
                    </a:solidFill>
                  </a:tcPr>
                </a:tc>
                <a:tc>
                  <a:txBody>
                    <a:bodyPr/>
                    <a:lstStyle/>
                    <a:p>
                      <a:pPr>
                        <a:defRPr sz="1300" b="0">
                          <a:solidFill>
                            <a:srgbClr val="142638"/>
                          </a:solidFill>
                          <a:latin typeface="Aptos"/>
                        </a:defRPr>
                      </a:pPr>
                      <a:r>
                        <a:t>16,776</a:t>
                      </a:r>
                    </a:p>
                  </a:txBody>
                  <a:tcPr marL="82296" marR="54864" marT="45720">
                    <a:solidFill>
                      <a:srgbClr val="EAF3F4"/>
                    </a:solidFill>
                  </a:tcPr>
                </a:tc>
                <a:tc>
                  <a:txBody>
                    <a:bodyPr/>
                    <a:lstStyle/>
                    <a:p>
                      <a:pPr>
                        <a:defRPr sz="1300" b="0">
                          <a:solidFill>
                            <a:srgbClr val="142638"/>
                          </a:solidFill>
                          <a:latin typeface="Aptos"/>
                        </a:defRPr>
                      </a:pPr>
                      <a:r>
                        <a:t>19,674</a:t>
                      </a:r>
                    </a:p>
                  </a:txBody>
                  <a:tcPr marL="82296" marR="54864" marT="45720">
                    <a:solidFill>
                      <a:srgbClr val="EAF3F4"/>
                    </a:solidFill>
                  </a:tcPr>
                </a:tc>
              </a:tr>
              <a:tr h="342548">
                <a:tc>
                  <a:txBody>
                    <a:bodyPr/>
                    <a:lstStyle/>
                    <a:p>
                      <a:pPr>
                        <a:defRPr sz="1300" b="0">
                          <a:solidFill>
                            <a:srgbClr val="142638"/>
                          </a:solidFill>
                          <a:latin typeface="Aptos"/>
                        </a:defRPr>
                      </a:pPr>
                      <a:r>
                        <a:t>Industrial Tech</a:t>
                      </a:r>
                    </a:p>
                  </a:txBody>
                  <a:tcPr marL="82296" marR="54864" marT="45720">
                    <a:solidFill>
                      <a:srgbClr val="FFFFFF"/>
                    </a:solidFill>
                  </a:tcPr>
                </a:tc>
                <a:tc>
                  <a:txBody>
                    <a:bodyPr/>
                    <a:lstStyle/>
                    <a:p>
                      <a:pPr>
                        <a:defRPr sz="1300" b="0">
                          <a:solidFill>
                            <a:srgbClr val="142638"/>
                          </a:solidFill>
                          <a:latin typeface="Aptos"/>
                        </a:defRPr>
                      </a:pPr>
                      <a:r>
                        <a:t>261</a:t>
                      </a:r>
                    </a:p>
                  </a:txBody>
                  <a:tcPr marL="82296" marR="54864" marT="45720">
                    <a:solidFill>
                      <a:srgbClr val="FFFFFF"/>
                    </a:solidFill>
                  </a:tcPr>
                </a:tc>
                <a:tc>
                  <a:txBody>
                    <a:bodyPr/>
                    <a:lstStyle/>
                    <a:p>
                      <a:pPr>
                        <a:defRPr sz="1300" b="0">
                          <a:solidFill>
                            <a:srgbClr val="142638"/>
                          </a:solidFill>
                          <a:latin typeface="Aptos"/>
                        </a:defRPr>
                      </a:pPr>
                      <a:r>
                        <a:t>276</a:t>
                      </a:r>
                    </a:p>
                  </a:txBody>
                  <a:tcPr marL="82296" marR="54864" marT="45720">
                    <a:solidFill>
                      <a:srgbClr val="FFFFFF"/>
                    </a:solidFill>
                  </a:tcPr>
                </a:tc>
                <a:tc>
                  <a:txBody>
                    <a:bodyPr/>
                    <a:lstStyle/>
                    <a:p>
                      <a:pPr>
                        <a:defRPr sz="1300" b="0">
                          <a:solidFill>
                            <a:srgbClr val="142638"/>
                          </a:solidFill>
                          <a:latin typeface="Aptos"/>
                        </a:defRPr>
                      </a:pPr>
                      <a:r>
                        <a:t>293</a:t>
                      </a:r>
                    </a:p>
                  </a:txBody>
                  <a:tcPr marL="82296" marR="54864" marT="45720">
                    <a:solidFill>
                      <a:srgbClr val="FFFFFF"/>
                    </a:solidFill>
                  </a:tcPr>
                </a:tc>
                <a:tc>
                  <a:txBody>
                    <a:bodyPr/>
                    <a:lstStyle/>
                    <a:p>
                      <a:pPr>
                        <a:defRPr sz="1300" b="0">
                          <a:solidFill>
                            <a:srgbClr val="142638"/>
                          </a:solidFill>
                          <a:latin typeface="Aptos"/>
                        </a:defRPr>
                      </a:pPr>
                      <a:r>
                        <a:t>310</a:t>
                      </a:r>
                    </a:p>
                  </a:txBody>
                  <a:tcPr marL="82296" marR="54864" marT="45720">
                    <a:solidFill>
                      <a:srgbClr val="FFFFFF"/>
                    </a:solidFill>
                  </a:tcPr>
                </a:tc>
                <a:tc>
                  <a:txBody>
                    <a:bodyPr/>
                    <a:lstStyle/>
                    <a:p>
                      <a:pPr>
                        <a:defRPr sz="1300" b="0">
                          <a:solidFill>
                            <a:srgbClr val="142638"/>
                          </a:solidFill>
                          <a:latin typeface="Aptos"/>
                        </a:defRPr>
                      </a:pPr>
                      <a:r>
                        <a:t>329</a:t>
                      </a:r>
                    </a:p>
                  </a:txBody>
                  <a:tcPr marL="82296" marR="54864" marT="45720">
                    <a:solidFill>
                      <a:srgbClr val="FFFFFF"/>
                    </a:solidFill>
                  </a:tcPr>
                </a:tc>
              </a:tr>
              <a:tr h="342548">
                <a:tc>
                  <a:txBody>
                    <a:bodyPr/>
                    <a:lstStyle/>
                    <a:p>
                      <a:pPr>
                        <a:defRPr sz="1300" b="0">
                          <a:solidFill>
                            <a:srgbClr val="142638"/>
                          </a:solidFill>
                          <a:latin typeface="Aptos"/>
                        </a:defRPr>
                      </a:pPr>
                      <a:r>
                        <a:t>Revenue</a:t>
                      </a:r>
                    </a:p>
                  </a:txBody>
                  <a:tcPr marL="82296" marR="54864" marT="45720">
                    <a:solidFill>
                      <a:srgbClr val="EAF3F4"/>
                    </a:solidFill>
                  </a:tcPr>
                </a:tc>
                <a:tc>
                  <a:txBody>
                    <a:bodyPr/>
                    <a:lstStyle/>
                    <a:p>
                      <a:pPr>
                        <a:defRPr sz="1300" b="0">
                          <a:solidFill>
                            <a:srgbClr val="142638"/>
                          </a:solidFill>
                          <a:latin typeface="Aptos"/>
                        </a:defRPr>
                      </a:pPr>
                      <a:r>
                        <a:t>6,652</a:t>
                      </a:r>
                    </a:p>
                  </a:txBody>
                  <a:tcPr marL="82296" marR="54864" marT="45720">
                    <a:solidFill>
                      <a:srgbClr val="EAF3F4"/>
                    </a:solidFill>
                  </a:tcPr>
                </a:tc>
                <a:tc>
                  <a:txBody>
                    <a:bodyPr/>
                    <a:lstStyle/>
                    <a:p>
                      <a:pPr>
                        <a:defRPr sz="1300" b="0">
                          <a:solidFill>
                            <a:srgbClr val="142638"/>
                          </a:solidFill>
                          <a:latin typeface="Aptos"/>
                        </a:defRPr>
                      </a:pPr>
                      <a:r>
                        <a:t>10,330</a:t>
                      </a:r>
                    </a:p>
                  </a:txBody>
                  <a:tcPr marL="82296" marR="54864" marT="45720">
                    <a:solidFill>
                      <a:srgbClr val="EAF3F4"/>
                    </a:solidFill>
                  </a:tcPr>
                </a:tc>
                <a:tc>
                  <a:txBody>
                    <a:bodyPr/>
                    <a:lstStyle/>
                    <a:p>
                      <a:pPr>
                        <a:defRPr sz="1300" b="0">
                          <a:solidFill>
                            <a:srgbClr val="142638"/>
                          </a:solidFill>
                          <a:latin typeface="Aptos"/>
                        </a:defRPr>
                      </a:pPr>
                      <a:r>
                        <a:t>13,775</a:t>
                      </a:r>
                    </a:p>
                  </a:txBody>
                  <a:tcPr marL="82296" marR="54864" marT="45720">
                    <a:solidFill>
                      <a:srgbClr val="EAF3F4"/>
                    </a:solidFill>
                  </a:tcPr>
                </a:tc>
                <a:tc>
                  <a:txBody>
                    <a:bodyPr/>
                    <a:lstStyle/>
                    <a:p>
                      <a:pPr>
                        <a:defRPr sz="1300" b="0">
                          <a:solidFill>
                            <a:srgbClr val="142638"/>
                          </a:solidFill>
                          <a:latin typeface="Aptos"/>
                        </a:defRPr>
                      </a:pPr>
                      <a:r>
                        <a:t>17,087</a:t>
                      </a:r>
                    </a:p>
                  </a:txBody>
                  <a:tcPr marL="82296" marR="54864" marT="45720">
                    <a:solidFill>
                      <a:srgbClr val="EAF3F4"/>
                    </a:solidFill>
                  </a:tcPr>
                </a:tc>
                <a:tc>
                  <a:txBody>
                    <a:bodyPr/>
                    <a:lstStyle/>
                    <a:p>
                      <a:pPr>
                        <a:defRPr sz="1300" b="0">
                          <a:solidFill>
                            <a:srgbClr val="142638"/>
                          </a:solidFill>
                          <a:latin typeface="Aptos"/>
                        </a:defRPr>
                      </a:pPr>
                      <a:r>
                        <a:t>20,004</a:t>
                      </a:r>
                    </a:p>
                  </a:txBody>
                  <a:tcPr marL="82296" marR="54864" marT="45720">
                    <a:solidFill>
                      <a:srgbClr val="EAF3F4"/>
                    </a:solidFill>
                  </a:tcPr>
                </a:tc>
              </a:tr>
              <a:tr h="342548">
                <a:tc>
                  <a:txBody>
                    <a:bodyPr/>
                    <a:lstStyle/>
                    <a:p>
                      <a:pPr>
                        <a:defRPr sz="1300" b="0">
                          <a:solidFill>
                            <a:srgbClr val="142638"/>
                          </a:solidFill>
                          <a:latin typeface="Aptos"/>
                        </a:defRPr>
                      </a:pPr>
                      <a:r>
                        <a:t>Adjusted EBIT</a:t>
                      </a:r>
                    </a:p>
                  </a:txBody>
                  <a:tcPr marL="82296" marR="54864" marT="45720">
                    <a:solidFill>
                      <a:srgbClr val="FFFFFF"/>
                    </a:solidFill>
                  </a:tcPr>
                </a:tc>
                <a:tc>
                  <a:txBody>
                    <a:bodyPr/>
                    <a:lstStyle/>
                    <a:p>
                      <a:pPr>
                        <a:defRPr sz="1300" b="0">
                          <a:solidFill>
                            <a:srgbClr val="142638"/>
                          </a:solidFill>
                          <a:latin typeface="Aptos"/>
                        </a:defRPr>
                      </a:pPr>
                      <a:r>
                        <a:t>2,711</a:t>
                      </a:r>
                    </a:p>
                  </a:txBody>
                  <a:tcPr marL="82296" marR="54864" marT="45720">
                    <a:solidFill>
                      <a:srgbClr val="FFFFFF"/>
                    </a:solidFill>
                  </a:tcPr>
                </a:tc>
                <a:tc>
                  <a:txBody>
                    <a:bodyPr/>
                    <a:lstStyle/>
                    <a:p>
                      <a:pPr>
                        <a:defRPr sz="1300" b="0">
                          <a:solidFill>
                            <a:srgbClr val="142638"/>
                          </a:solidFill>
                          <a:latin typeface="Aptos"/>
                        </a:defRPr>
                      </a:pPr>
                      <a:r>
                        <a:t>4,390</a:t>
                      </a:r>
                    </a:p>
                  </a:txBody>
                  <a:tcPr marL="82296" marR="54864" marT="45720">
                    <a:solidFill>
                      <a:srgbClr val="FFFFFF"/>
                    </a:solidFill>
                  </a:tcPr>
                </a:tc>
                <a:tc>
                  <a:txBody>
                    <a:bodyPr/>
                    <a:lstStyle/>
                    <a:p>
                      <a:pPr>
                        <a:defRPr sz="1300" b="0">
                          <a:solidFill>
                            <a:srgbClr val="142638"/>
                          </a:solidFill>
                          <a:latin typeface="Aptos"/>
                        </a:defRPr>
                      </a:pPr>
                      <a:r>
                        <a:t>5,854</a:t>
                      </a:r>
                    </a:p>
                  </a:txBody>
                  <a:tcPr marL="82296" marR="54864" marT="45720">
                    <a:solidFill>
                      <a:srgbClr val="FFFFFF"/>
                    </a:solidFill>
                  </a:tcPr>
                </a:tc>
                <a:tc>
                  <a:txBody>
                    <a:bodyPr/>
                    <a:lstStyle/>
                    <a:p>
                      <a:pPr>
                        <a:defRPr sz="1300" b="0">
                          <a:solidFill>
                            <a:srgbClr val="142638"/>
                          </a:solidFill>
                          <a:latin typeface="Aptos"/>
                        </a:defRPr>
                      </a:pPr>
                      <a:r>
                        <a:t>7,091</a:t>
                      </a:r>
                    </a:p>
                  </a:txBody>
                  <a:tcPr marL="82296" marR="54864" marT="45720">
                    <a:solidFill>
                      <a:srgbClr val="FFFFFF"/>
                    </a:solidFill>
                  </a:tcPr>
                </a:tc>
                <a:tc>
                  <a:txBody>
                    <a:bodyPr/>
                    <a:lstStyle/>
                    <a:p>
                      <a:pPr>
                        <a:defRPr sz="1300" b="0">
                          <a:solidFill>
                            <a:srgbClr val="142638"/>
                          </a:solidFill>
                          <a:latin typeface="Aptos"/>
                        </a:defRPr>
                      </a:pPr>
                      <a:r>
                        <a:t>7,901</a:t>
                      </a:r>
                    </a:p>
                  </a:txBody>
                  <a:tcPr marL="82296" marR="54864" marT="45720">
                    <a:solidFill>
                      <a:srgbClr val="FFFFFF"/>
                    </a:solidFill>
                  </a:tcPr>
                </a:tc>
              </a:tr>
              <a:tr h="342548">
                <a:tc>
                  <a:txBody>
                    <a:bodyPr/>
                    <a:lstStyle/>
                    <a:p>
                      <a:pPr>
                        <a:defRPr sz="1300" b="0">
                          <a:solidFill>
                            <a:srgbClr val="142638"/>
                          </a:solidFill>
                          <a:latin typeface="Aptos"/>
                        </a:defRPr>
                      </a:pPr>
                      <a:r>
                        <a:t>Less SBC / payroll</a:t>
                      </a:r>
                    </a:p>
                  </a:txBody>
                  <a:tcPr marL="82296" marR="54864" marT="45720">
                    <a:solidFill>
                      <a:srgbClr val="EAF3F4"/>
                    </a:solidFill>
                  </a:tcPr>
                </a:tc>
                <a:tc>
                  <a:txBody>
                    <a:bodyPr/>
                    <a:lstStyle/>
                    <a:p>
                      <a:pPr>
                        <a:defRPr sz="1300" b="0">
                          <a:solidFill>
                            <a:srgbClr val="142638"/>
                          </a:solidFill>
                          <a:latin typeface="Aptos"/>
                        </a:defRPr>
                      </a:pPr>
                      <a:r>
                        <a:t>-299</a:t>
                      </a:r>
                    </a:p>
                  </a:txBody>
                  <a:tcPr marL="82296" marR="54864" marT="45720">
                    <a:solidFill>
                      <a:srgbClr val="EAF3F4"/>
                    </a:solidFill>
                  </a:tcPr>
                </a:tc>
                <a:tc>
                  <a:txBody>
                    <a:bodyPr/>
                    <a:lstStyle/>
                    <a:p>
                      <a:pPr>
                        <a:defRPr sz="1300" b="0">
                          <a:solidFill>
                            <a:srgbClr val="142638"/>
                          </a:solidFill>
                          <a:latin typeface="Aptos"/>
                        </a:defRPr>
                      </a:pPr>
                      <a:r>
                        <a:t>-465</a:t>
                      </a:r>
                    </a:p>
                  </a:txBody>
                  <a:tcPr marL="82296" marR="54864" marT="45720">
                    <a:solidFill>
                      <a:srgbClr val="EAF3F4"/>
                    </a:solidFill>
                  </a:tcPr>
                </a:tc>
                <a:tc>
                  <a:txBody>
                    <a:bodyPr/>
                    <a:lstStyle/>
                    <a:p>
                      <a:pPr>
                        <a:defRPr sz="1300" b="0">
                          <a:solidFill>
                            <a:srgbClr val="142638"/>
                          </a:solidFill>
                          <a:latin typeface="Aptos"/>
                        </a:defRPr>
                      </a:pPr>
                      <a:r>
                        <a:t>-620</a:t>
                      </a:r>
                    </a:p>
                  </a:txBody>
                  <a:tcPr marL="82296" marR="54864" marT="45720">
                    <a:solidFill>
                      <a:srgbClr val="EAF3F4"/>
                    </a:solidFill>
                  </a:tcPr>
                </a:tc>
                <a:tc>
                  <a:txBody>
                    <a:bodyPr/>
                    <a:lstStyle/>
                    <a:p>
                      <a:pPr>
                        <a:defRPr sz="1300" b="0">
                          <a:solidFill>
                            <a:srgbClr val="142638"/>
                          </a:solidFill>
                          <a:latin typeface="Aptos"/>
                        </a:defRPr>
                      </a:pPr>
                      <a:r>
                        <a:t>-769</a:t>
                      </a:r>
                    </a:p>
                  </a:txBody>
                  <a:tcPr marL="82296" marR="54864" marT="45720">
                    <a:solidFill>
                      <a:srgbClr val="EAF3F4"/>
                    </a:solidFill>
                  </a:tcPr>
                </a:tc>
                <a:tc>
                  <a:txBody>
                    <a:bodyPr/>
                    <a:lstStyle/>
                    <a:p>
                      <a:pPr>
                        <a:defRPr sz="1300" b="0">
                          <a:solidFill>
                            <a:srgbClr val="142638"/>
                          </a:solidFill>
                          <a:latin typeface="Aptos"/>
                        </a:defRPr>
                      </a:pPr>
                      <a:r>
                        <a:t>-900</a:t>
                      </a:r>
                    </a:p>
                  </a:txBody>
                  <a:tcPr marL="82296" marR="54864" marT="45720">
                    <a:solidFill>
                      <a:srgbClr val="EAF3F4"/>
                    </a:solidFill>
                  </a:tcPr>
                </a:tc>
              </a:tr>
              <a:tr h="342548">
                <a:tc>
                  <a:txBody>
                    <a:bodyPr/>
                    <a:lstStyle/>
                    <a:p>
                      <a:pPr>
                        <a:defRPr sz="1300" b="0">
                          <a:solidFill>
                            <a:srgbClr val="142638"/>
                          </a:solidFill>
                          <a:latin typeface="Aptos"/>
                        </a:defRPr>
                      </a:pPr>
                      <a:r>
                        <a:t>Economic EBIT</a:t>
                      </a:r>
                    </a:p>
                  </a:txBody>
                  <a:tcPr marL="82296" marR="54864" marT="45720">
                    <a:solidFill>
                      <a:srgbClr val="FFFFFF"/>
                    </a:solidFill>
                  </a:tcPr>
                </a:tc>
                <a:tc>
                  <a:txBody>
                    <a:bodyPr/>
                    <a:lstStyle/>
                    <a:p>
                      <a:pPr>
                        <a:defRPr sz="1300" b="0">
                          <a:solidFill>
                            <a:srgbClr val="142638"/>
                          </a:solidFill>
                          <a:latin typeface="Aptos"/>
                        </a:defRPr>
                      </a:pPr>
                      <a:r>
                        <a:t>2,411</a:t>
                      </a:r>
                    </a:p>
                  </a:txBody>
                  <a:tcPr marL="82296" marR="54864" marT="45720">
                    <a:solidFill>
                      <a:srgbClr val="FFFFFF"/>
                    </a:solidFill>
                  </a:tcPr>
                </a:tc>
                <a:tc>
                  <a:txBody>
                    <a:bodyPr/>
                    <a:lstStyle/>
                    <a:p>
                      <a:pPr>
                        <a:defRPr sz="1300" b="0">
                          <a:solidFill>
                            <a:srgbClr val="142638"/>
                          </a:solidFill>
                          <a:latin typeface="Aptos"/>
                        </a:defRPr>
                      </a:pPr>
                      <a:r>
                        <a:t>3,925</a:t>
                      </a:r>
                    </a:p>
                  </a:txBody>
                  <a:tcPr marL="82296" marR="54864" marT="45720">
                    <a:solidFill>
                      <a:srgbClr val="FFFFFF"/>
                    </a:solidFill>
                  </a:tcPr>
                </a:tc>
                <a:tc>
                  <a:txBody>
                    <a:bodyPr/>
                    <a:lstStyle/>
                    <a:p>
                      <a:pPr>
                        <a:defRPr sz="1300" b="0">
                          <a:solidFill>
                            <a:srgbClr val="142638"/>
                          </a:solidFill>
                          <a:latin typeface="Aptos"/>
                        </a:defRPr>
                      </a:pPr>
                      <a:r>
                        <a:t>5,235</a:t>
                      </a:r>
                    </a:p>
                  </a:txBody>
                  <a:tcPr marL="82296" marR="54864" marT="45720">
                    <a:solidFill>
                      <a:srgbClr val="FFFFFF"/>
                    </a:solidFill>
                  </a:tcPr>
                </a:tc>
                <a:tc>
                  <a:txBody>
                    <a:bodyPr/>
                    <a:lstStyle/>
                    <a:p>
                      <a:pPr>
                        <a:defRPr sz="1300" b="0">
                          <a:solidFill>
                            <a:srgbClr val="142638"/>
                          </a:solidFill>
                          <a:latin typeface="Aptos"/>
                        </a:defRPr>
                      </a:pPr>
                      <a:r>
                        <a:t>6,322</a:t>
                      </a:r>
                    </a:p>
                  </a:txBody>
                  <a:tcPr marL="82296" marR="54864" marT="45720">
                    <a:solidFill>
                      <a:srgbClr val="FFFFFF"/>
                    </a:solidFill>
                  </a:tcPr>
                </a:tc>
                <a:tc>
                  <a:txBody>
                    <a:bodyPr/>
                    <a:lstStyle/>
                    <a:p>
                      <a:pPr>
                        <a:defRPr sz="1300" b="0">
                          <a:solidFill>
                            <a:srgbClr val="142638"/>
                          </a:solidFill>
                          <a:latin typeface="Aptos"/>
                        </a:defRPr>
                      </a:pPr>
                      <a:r>
                        <a:t>7,001</a:t>
                      </a:r>
                    </a:p>
                  </a:txBody>
                  <a:tcPr marL="82296" marR="54864" marT="45720">
                    <a:solidFill>
                      <a:srgbClr val="FFFFFF"/>
                    </a:solidFill>
                  </a:tcPr>
                </a:tc>
              </a:tr>
              <a:tr h="342548">
                <a:tc>
                  <a:txBody>
                    <a:bodyPr/>
                    <a:lstStyle/>
                    <a:p>
                      <a:pPr>
                        <a:defRPr sz="1300" b="0">
                          <a:solidFill>
                            <a:srgbClr val="142638"/>
                          </a:solidFill>
                          <a:latin typeface="Aptos"/>
                        </a:defRPr>
                      </a:pPr>
                      <a:r>
                        <a:t>Less cash tax</a:t>
                      </a:r>
                    </a:p>
                  </a:txBody>
                  <a:tcPr marL="82296" marR="54864" marT="45720">
                    <a:solidFill>
                      <a:srgbClr val="EAF3F4"/>
                    </a:solidFill>
                  </a:tcPr>
                </a:tc>
                <a:tc>
                  <a:txBody>
                    <a:bodyPr/>
                    <a:lstStyle/>
                    <a:p>
                      <a:pPr>
                        <a:defRPr sz="1300" b="0">
                          <a:solidFill>
                            <a:srgbClr val="142638"/>
                          </a:solidFill>
                          <a:latin typeface="Aptos"/>
                        </a:defRPr>
                      </a:pPr>
                      <a:r>
                        <a:t>-482</a:t>
                      </a:r>
                    </a:p>
                  </a:txBody>
                  <a:tcPr marL="82296" marR="54864" marT="45720">
                    <a:solidFill>
                      <a:srgbClr val="EAF3F4"/>
                    </a:solidFill>
                  </a:tcPr>
                </a:tc>
                <a:tc>
                  <a:txBody>
                    <a:bodyPr/>
                    <a:lstStyle/>
                    <a:p>
                      <a:pPr>
                        <a:defRPr sz="1300" b="0">
                          <a:solidFill>
                            <a:srgbClr val="142638"/>
                          </a:solidFill>
                          <a:latin typeface="Aptos"/>
                        </a:defRPr>
                      </a:pPr>
                      <a:r>
                        <a:t>-785</a:t>
                      </a:r>
                    </a:p>
                  </a:txBody>
                  <a:tcPr marL="82296" marR="54864" marT="45720">
                    <a:solidFill>
                      <a:srgbClr val="EAF3F4"/>
                    </a:solidFill>
                  </a:tcPr>
                </a:tc>
                <a:tc>
                  <a:txBody>
                    <a:bodyPr/>
                    <a:lstStyle/>
                    <a:p>
                      <a:pPr>
                        <a:defRPr sz="1300" b="0">
                          <a:solidFill>
                            <a:srgbClr val="142638"/>
                          </a:solidFill>
                          <a:latin typeface="Aptos"/>
                        </a:defRPr>
                      </a:pPr>
                      <a:r>
                        <a:t>-1,047</a:t>
                      </a:r>
                    </a:p>
                  </a:txBody>
                  <a:tcPr marL="82296" marR="54864" marT="45720">
                    <a:solidFill>
                      <a:srgbClr val="EAF3F4"/>
                    </a:solidFill>
                  </a:tcPr>
                </a:tc>
                <a:tc>
                  <a:txBody>
                    <a:bodyPr/>
                    <a:lstStyle/>
                    <a:p>
                      <a:pPr>
                        <a:defRPr sz="1300" b="0">
                          <a:solidFill>
                            <a:srgbClr val="142638"/>
                          </a:solidFill>
                          <a:latin typeface="Aptos"/>
                        </a:defRPr>
                      </a:pPr>
                      <a:r>
                        <a:t>-1,264</a:t>
                      </a:r>
                    </a:p>
                  </a:txBody>
                  <a:tcPr marL="82296" marR="54864" marT="45720">
                    <a:solidFill>
                      <a:srgbClr val="EAF3F4"/>
                    </a:solidFill>
                  </a:tcPr>
                </a:tc>
                <a:tc>
                  <a:txBody>
                    <a:bodyPr/>
                    <a:lstStyle/>
                    <a:p>
                      <a:pPr>
                        <a:defRPr sz="1300" b="0">
                          <a:solidFill>
                            <a:srgbClr val="142638"/>
                          </a:solidFill>
                          <a:latin typeface="Aptos"/>
                        </a:defRPr>
                      </a:pPr>
                      <a:r>
                        <a:t>-1,400</a:t>
                      </a:r>
                    </a:p>
                  </a:txBody>
                  <a:tcPr marL="82296" marR="54864" marT="45720">
                    <a:solidFill>
                      <a:srgbClr val="EAF3F4"/>
                    </a:solidFill>
                  </a:tcPr>
                </a:tc>
              </a:tr>
              <a:tr h="342548">
                <a:tc>
                  <a:txBody>
                    <a:bodyPr/>
                    <a:lstStyle/>
                    <a:p>
                      <a:pPr>
                        <a:defRPr sz="1300" b="0">
                          <a:solidFill>
                            <a:srgbClr val="142638"/>
                          </a:solidFill>
                          <a:latin typeface="Aptos"/>
                        </a:defRPr>
                      </a:pPr>
                      <a:r>
                        <a:t>NOPAT</a:t>
                      </a:r>
                    </a:p>
                  </a:txBody>
                  <a:tcPr marL="82296" marR="54864" marT="45720">
                    <a:solidFill>
                      <a:srgbClr val="FFFFFF"/>
                    </a:solidFill>
                  </a:tcPr>
                </a:tc>
                <a:tc>
                  <a:txBody>
                    <a:bodyPr/>
                    <a:lstStyle/>
                    <a:p>
                      <a:pPr>
                        <a:defRPr sz="1300" b="0">
                          <a:solidFill>
                            <a:srgbClr val="142638"/>
                          </a:solidFill>
                          <a:latin typeface="Aptos"/>
                        </a:defRPr>
                      </a:pPr>
                      <a:r>
                        <a:t>1,929</a:t>
                      </a:r>
                    </a:p>
                  </a:txBody>
                  <a:tcPr marL="82296" marR="54864" marT="45720">
                    <a:solidFill>
                      <a:srgbClr val="FFFFFF"/>
                    </a:solidFill>
                  </a:tcPr>
                </a:tc>
                <a:tc>
                  <a:txBody>
                    <a:bodyPr/>
                    <a:lstStyle/>
                    <a:p>
                      <a:pPr>
                        <a:defRPr sz="1300" b="0">
                          <a:solidFill>
                            <a:srgbClr val="142638"/>
                          </a:solidFill>
                          <a:latin typeface="Aptos"/>
                        </a:defRPr>
                      </a:pPr>
                      <a:r>
                        <a:t>3,140</a:t>
                      </a:r>
                    </a:p>
                  </a:txBody>
                  <a:tcPr marL="82296" marR="54864" marT="45720">
                    <a:solidFill>
                      <a:srgbClr val="FFFFFF"/>
                    </a:solidFill>
                  </a:tcPr>
                </a:tc>
                <a:tc>
                  <a:txBody>
                    <a:bodyPr/>
                    <a:lstStyle/>
                    <a:p>
                      <a:pPr>
                        <a:defRPr sz="1300" b="0">
                          <a:solidFill>
                            <a:srgbClr val="142638"/>
                          </a:solidFill>
                          <a:latin typeface="Aptos"/>
                        </a:defRPr>
                      </a:pPr>
                      <a:r>
                        <a:t>4,188</a:t>
                      </a:r>
                    </a:p>
                  </a:txBody>
                  <a:tcPr marL="82296" marR="54864" marT="45720">
                    <a:solidFill>
                      <a:srgbClr val="FFFFFF"/>
                    </a:solidFill>
                  </a:tcPr>
                </a:tc>
                <a:tc>
                  <a:txBody>
                    <a:bodyPr/>
                    <a:lstStyle/>
                    <a:p>
                      <a:pPr>
                        <a:defRPr sz="1300" b="0">
                          <a:solidFill>
                            <a:srgbClr val="142638"/>
                          </a:solidFill>
                          <a:latin typeface="Aptos"/>
                        </a:defRPr>
                      </a:pPr>
                      <a:r>
                        <a:t>5,058</a:t>
                      </a:r>
                    </a:p>
                  </a:txBody>
                  <a:tcPr marL="82296" marR="54864" marT="45720">
                    <a:solidFill>
                      <a:srgbClr val="FFFFFF"/>
                    </a:solidFill>
                  </a:tcPr>
                </a:tc>
                <a:tc>
                  <a:txBody>
                    <a:bodyPr/>
                    <a:lstStyle/>
                    <a:p>
                      <a:pPr>
                        <a:defRPr sz="1300" b="0">
                          <a:solidFill>
                            <a:srgbClr val="142638"/>
                          </a:solidFill>
                          <a:latin typeface="Aptos"/>
                        </a:defRPr>
                      </a:pPr>
                      <a:r>
                        <a:t>5,601</a:t>
                      </a:r>
                    </a:p>
                  </a:txBody>
                  <a:tcPr marL="82296" marR="54864" marT="45720">
                    <a:solidFill>
                      <a:srgbClr val="FFFFFF"/>
                    </a:solidFill>
                  </a:tcPr>
                </a:tc>
              </a:tr>
              <a:tr h="342548">
                <a:tc>
                  <a:txBody>
                    <a:bodyPr/>
                    <a:lstStyle/>
                    <a:p>
                      <a:pPr>
                        <a:defRPr sz="1300" b="0">
                          <a:solidFill>
                            <a:srgbClr val="142638"/>
                          </a:solidFill>
                          <a:latin typeface="Aptos"/>
                        </a:defRPr>
                      </a:pPr>
                      <a:r>
                        <a:t>Add D&amp;A</a:t>
                      </a:r>
                    </a:p>
                  </a:txBody>
                  <a:tcPr marL="82296" marR="54864" marT="45720">
                    <a:solidFill>
                      <a:srgbClr val="EAF3F4"/>
                    </a:solidFill>
                  </a:tcPr>
                </a:tc>
                <a:tc>
                  <a:txBody>
                    <a:bodyPr/>
                    <a:lstStyle/>
                    <a:p>
                      <a:pPr>
                        <a:defRPr sz="1300" b="0">
                          <a:solidFill>
                            <a:srgbClr val="142638"/>
                          </a:solidFill>
                          <a:latin typeface="Aptos"/>
                        </a:defRPr>
                      </a:pPr>
                      <a:r>
                        <a:t>266</a:t>
                      </a:r>
                    </a:p>
                  </a:txBody>
                  <a:tcPr marL="82296" marR="54864" marT="45720">
                    <a:solidFill>
                      <a:srgbClr val="EAF3F4"/>
                    </a:solidFill>
                  </a:tcPr>
                </a:tc>
                <a:tc>
                  <a:txBody>
                    <a:bodyPr/>
                    <a:lstStyle/>
                    <a:p>
                      <a:pPr>
                        <a:defRPr sz="1300" b="0">
                          <a:solidFill>
                            <a:srgbClr val="142638"/>
                          </a:solidFill>
                          <a:latin typeface="Aptos"/>
                        </a:defRPr>
                      </a:pPr>
                      <a:r>
                        <a:t>465</a:t>
                      </a:r>
                    </a:p>
                  </a:txBody>
                  <a:tcPr marL="82296" marR="54864" marT="45720">
                    <a:solidFill>
                      <a:srgbClr val="EAF3F4"/>
                    </a:solidFill>
                  </a:tcPr>
                </a:tc>
                <a:tc>
                  <a:txBody>
                    <a:bodyPr/>
                    <a:lstStyle/>
                    <a:p>
                      <a:pPr>
                        <a:defRPr sz="1300" b="0">
                          <a:solidFill>
                            <a:srgbClr val="142638"/>
                          </a:solidFill>
                          <a:latin typeface="Aptos"/>
                        </a:defRPr>
                      </a:pPr>
                      <a:r>
                        <a:t>689</a:t>
                      </a:r>
                    </a:p>
                  </a:txBody>
                  <a:tcPr marL="82296" marR="54864" marT="45720">
                    <a:solidFill>
                      <a:srgbClr val="EAF3F4"/>
                    </a:solidFill>
                  </a:tcPr>
                </a:tc>
                <a:tc>
                  <a:txBody>
                    <a:bodyPr/>
                    <a:lstStyle/>
                    <a:p>
                      <a:pPr>
                        <a:defRPr sz="1300" b="0">
                          <a:solidFill>
                            <a:srgbClr val="142638"/>
                          </a:solidFill>
                          <a:latin typeface="Aptos"/>
                        </a:defRPr>
                      </a:pPr>
                      <a:r>
                        <a:t>940</a:t>
                      </a:r>
                    </a:p>
                  </a:txBody>
                  <a:tcPr marL="82296" marR="54864" marT="45720">
                    <a:solidFill>
                      <a:srgbClr val="EAF3F4"/>
                    </a:solidFill>
                  </a:tcPr>
                </a:tc>
                <a:tc>
                  <a:txBody>
                    <a:bodyPr/>
                    <a:lstStyle/>
                    <a:p>
                      <a:pPr>
                        <a:defRPr sz="1300" b="0">
                          <a:solidFill>
                            <a:srgbClr val="142638"/>
                          </a:solidFill>
                          <a:latin typeface="Aptos"/>
                        </a:defRPr>
                      </a:pPr>
                      <a:r>
                        <a:t>1,100</a:t>
                      </a:r>
                    </a:p>
                  </a:txBody>
                  <a:tcPr marL="82296" marR="54864" marT="45720">
                    <a:solidFill>
                      <a:srgbClr val="EAF3F4"/>
                    </a:solidFill>
                  </a:tcPr>
                </a:tc>
              </a:tr>
              <a:tr h="342548">
                <a:tc>
                  <a:txBody>
                    <a:bodyPr/>
                    <a:lstStyle/>
                    <a:p>
                      <a:pPr>
                        <a:defRPr sz="1300" b="0">
                          <a:solidFill>
                            <a:srgbClr val="142638"/>
                          </a:solidFill>
                          <a:latin typeface="Aptos"/>
                        </a:defRPr>
                      </a:pPr>
                      <a:r>
                        <a:t>Less capex</a:t>
                      </a:r>
                    </a:p>
                  </a:txBody>
                  <a:tcPr marL="82296" marR="54864" marT="45720">
                    <a:solidFill>
                      <a:srgbClr val="FFFFFF"/>
                    </a:solidFill>
                  </a:tcPr>
                </a:tc>
                <a:tc>
                  <a:txBody>
                    <a:bodyPr/>
                    <a:lstStyle/>
                    <a:p>
                      <a:pPr>
                        <a:defRPr sz="1300" b="0">
                          <a:solidFill>
                            <a:srgbClr val="142638"/>
                          </a:solidFill>
                          <a:latin typeface="Aptos"/>
                        </a:defRPr>
                      </a:pPr>
                      <a:r>
                        <a:t>-865</a:t>
                      </a:r>
                    </a:p>
                  </a:txBody>
                  <a:tcPr marL="82296" marR="54864" marT="45720">
                    <a:solidFill>
                      <a:srgbClr val="FFFFFF"/>
                    </a:solidFill>
                  </a:tcPr>
                </a:tc>
                <a:tc>
                  <a:txBody>
                    <a:bodyPr/>
                    <a:lstStyle/>
                    <a:p>
                      <a:pPr>
                        <a:defRPr sz="1300" b="0">
                          <a:solidFill>
                            <a:srgbClr val="142638"/>
                          </a:solidFill>
                          <a:latin typeface="Aptos"/>
                        </a:defRPr>
                      </a:pPr>
                      <a:r>
                        <a:t>-1,136</a:t>
                      </a:r>
                    </a:p>
                  </a:txBody>
                  <a:tcPr marL="82296" marR="54864" marT="45720">
                    <a:solidFill>
                      <a:srgbClr val="FFFFFF"/>
                    </a:solidFill>
                  </a:tcPr>
                </a:tc>
                <a:tc>
                  <a:txBody>
                    <a:bodyPr/>
                    <a:lstStyle/>
                    <a:p>
                      <a:pPr>
                        <a:defRPr sz="1300" b="0">
                          <a:solidFill>
                            <a:srgbClr val="142638"/>
                          </a:solidFill>
                          <a:latin typeface="Aptos"/>
                        </a:defRPr>
                      </a:pPr>
                      <a:r>
                        <a:t>-1,309</a:t>
                      </a:r>
                    </a:p>
                  </a:txBody>
                  <a:tcPr marL="82296" marR="54864" marT="45720">
                    <a:solidFill>
                      <a:srgbClr val="FFFFFF"/>
                    </a:solidFill>
                  </a:tcPr>
                </a:tc>
                <a:tc>
                  <a:txBody>
                    <a:bodyPr/>
                    <a:lstStyle/>
                    <a:p>
                      <a:pPr>
                        <a:defRPr sz="1300" b="0">
                          <a:solidFill>
                            <a:srgbClr val="142638"/>
                          </a:solidFill>
                          <a:latin typeface="Aptos"/>
                        </a:defRPr>
                      </a:pPr>
                      <a:r>
                        <a:t>-1,367</a:t>
                      </a:r>
                    </a:p>
                  </a:txBody>
                  <a:tcPr marL="82296" marR="54864" marT="45720">
                    <a:solidFill>
                      <a:srgbClr val="FFFFFF"/>
                    </a:solidFill>
                  </a:tcPr>
                </a:tc>
                <a:tc>
                  <a:txBody>
                    <a:bodyPr/>
                    <a:lstStyle/>
                    <a:p>
                      <a:pPr>
                        <a:defRPr sz="1300" b="0">
                          <a:solidFill>
                            <a:srgbClr val="142638"/>
                          </a:solidFill>
                          <a:latin typeface="Aptos"/>
                        </a:defRPr>
                      </a:pPr>
                      <a:r>
                        <a:t>-1,500</a:t>
                      </a:r>
                    </a:p>
                  </a:txBody>
                  <a:tcPr marL="82296" marR="54864" marT="45720">
                    <a:solidFill>
                      <a:srgbClr val="FFFFFF"/>
                    </a:solidFill>
                  </a:tcPr>
                </a:tc>
              </a:tr>
              <a:tr h="342548">
                <a:tc>
                  <a:txBody>
                    <a:bodyPr/>
                    <a:lstStyle/>
                    <a:p>
                      <a:pPr>
                        <a:defRPr sz="1300" b="0">
                          <a:solidFill>
                            <a:srgbClr val="142638"/>
                          </a:solidFill>
                          <a:latin typeface="Aptos"/>
                        </a:defRPr>
                      </a:pPr>
                      <a:r>
                        <a:t>Less ΔNWC</a:t>
                      </a:r>
                    </a:p>
                  </a:txBody>
                  <a:tcPr marL="82296" marR="54864" marT="45720">
                    <a:solidFill>
                      <a:srgbClr val="EAF3F4"/>
                    </a:solidFill>
                  </a:tcPr>
                </a:tc>
                <a:tc>
                  <a:txBody>
                    <a:bodyPr/>
                    <a:lstStyle/>
                    <a:p>
                      <a:pPr>
                        <a:defRPr sz="1300" b="0">
                          <a:solidFill>
                            <a:srgbClr val="142638"/>
                          </a:solidFill>
                          <a:latin typeface="Aptos"/>
                        </a:defRPr>
                      </a:pPr>
                      <a:r>
                        <a:t>-644</a:t>
                      </a:r>
                    </a:p>
                  </a:txBody>
                  <a:tcPr marL="82296" marR="54864" marT="45720">
                    <a:solidFill>
                      <a:srgbClr val="EAF3F4"/>
                    </a:solidFill>
                  </a:tcPr>
                </a:tc>
                <a:tc>
                  <a:txBody>
                    <a:bodyPr/>
                    <a:lstStyle/>
                    <a:p>
                      <a:pPr>
                        <a:defRPr sz="1300" b="0">
                          <a:solidFill>
                            <a:srgbClr val="142638"/>
                          </a:solidFill>
                          <a:latin typeface="Aptos"/>
                        </a:defRPr>
                      </a:pPr>
                      <a:r>
                        <a:t>-662</a:t>
                      </a:r>
                    </a:p>
                  </a:txBody>
                  <a:tcPr marL="82296" marR="54864" marT="45720">
                    <a:solidFill>
                      <a:srgbClr val="EAF3F4"/>
                    </a:solidFill>
                  </a:tcPr>
                </a:tc>
                <a:tc>
                  <a:txBody>
                    <a:bodyPr/>
                    <a:lstStyle/>
                    <a:p>
                      <a:pPr>
                        <a:defRPr sz="1300" b="0">
                          <a:solidFill>
                            <a:srgbClr val="142638"/>
                          </a:solidFill>
                          <a:latin typeface="Aptos"/>
                        </a:defRPr>
                      </a:pPr>
                      <a:r>
                        <a:t>-620</a:t>
                      </a:r>
                    </a:p>
                  </a:txBody>
                  <a:tcPr marL="82296" marR="54864" marT="45720">
                    <a:solidFill>
                      <a:srgbClr val="EAF3F4"/>
                    </a:solidFill>
                  </a:tcPr>
                </a:tc>
                <a:tc>
                  <a:txBody>
                    <a:bodyPr/>
                    <a:lstStyle/>
                    <a:p>
                      <a:pPr>
                        <a:defRPr sz="1300" b="0">
                          <a:solidFill>
                            <a:srgbClr val="142638"/>
                          </a:solidFill>
                          <a:latin typeface="Aptos"/>
                        </a:defRPr>
                      </a:pPr>
                      <a:r>
                        <a:t>-596</a:t>
                      </a:r>
                    </a:p>
                  </a:txBody>
                  <a:tcPr marL="82296" marR="54864" marT="45720">
                    <a:solidFill>
                      <a:srgbClr val="EAF3F4"/>
                    </a:solidFill>
                  </a:tcPr>
                </a:tc>
                <a:tc>
                  <a:txBody>
                    <a:bodyPr/>
                    <a:lstStyle/>
                    <a:p>
                      <a:pPr>
                        <a:defRPr sz="1300" b="0">
                          <a:solidFill>
                            <a:srgbClr val="142638"/>
                          </a:solidFill>
                          <a:latin typeface="Aptos"/>
                        </a:defRPr>
                      </a:pPr>
                      <a:r>
                        <a:t>-525</a:t>
                      </a:r>
                    </a:p>
                  </a:txBody>
                  <a:tcPr marL="82296" marR="54864" marT="45720">
                    <a:solidFill>
                      <a:srgbClr val="EAF3F4"/>
                    </a:solidFill>
                  </a:tcPr>
                </a:tc>
              </a:tr>
              <a:tr h="342552">
                <a:tc>
                  <a:txBody>
                    <a:bodyPr/>
                    <a:lstStyle/>
                    <a:p>
                      <a:pPr>
                        <a:defRPr sz="1300" b="0">
                          <a:solidFill>
                            <a:srgbClr val="142638"/>
                          </a:solidFill>
                          <a:latin typeface="Aptos"/>
                        </a:defRPr>
                      </a:pPr>
                      <a:r>
                        <a:t>Unlevered FCF</a:t>
                      </a:r>
                    </a:p>
                  </a:txBody>
                  <a:tcPr marL="82296" marR="54864" marT="45720">
                    <a:solidFill>
                      <a:srgbClr val="FFFFFF"/>
                    </a:solidFill>
                  </a:tcPr>
                </a:tc>
                <a:tc>
                  <a:txBody>
                    <a:bodyPr/>
                    <a:lstStyle/>
                    <a:p>
                      <a:pPr>
                        <a:defRPr sz="1300" b="0">
                          <a:solidFill>
                            <a:srgbClr val="142638"/>
                          </a:solidFill>
                          <a:latin typeface="Aptos"/>
                        </a:defRPr>
                      </a:pPr>
                      <a:r>
                        <a:t>686</a:t>
                      </a:r>
                    </a:p>
                  </a:txBody>
                  <a:tcPr marL="82296" marR="54864" marT="45720">
                    <a:solidFill>
                      <a:srgbClr val="FFFFFF"/>
                    </a:solidFill>
                  </a:tcPr>
                </a:tc>
                <a:tc>
                  <a:txBody>
                    <a:bodyPr/>
                    <a:lstStyle/>
                    <a:p>
                      <a:pPr>
                        <a:defRPr sz="1300" b="0">
                          <a:solidFill>
                            <a:srgbClr val="142638"/>
                          </a:solidFill>
                          <a:latin typeface="Aptos"/>
                        </a:defRPr>
                      </a:pPr>
                      <a:r>
                        <a:t>1,807</a:t>
                      </a:r>
                    </a:p>
                  </a:txBody>
                  <a:tcPr marL="82296" marR="54864" marT="45720">
                    <a:solidFill>
                      <a:srgbClr val="FFFFFF"/>
                    </a:solidFill>
                  </a:tcPr>
                </a:tc>
                <a:tc>
                  <a:txBody>
                    <a:bodyPr/>
                    <a:lstStyle/>
                    <a:p>
                      <a:pPr>
                        <a:defRPr sz="1300" b="0">
                          <a:solidFill>
                            <a:srgbClr val="142638"/>
                          </a:solidFill>
                          <a:latin typeface="Aptos"/>
                        </a:defRPr>
                      </a:pPr>
                      <a:r>
                        <a:t>2,948</a:t>
                      </a:r>
                    </a:p>
                  </a:txBody>
                  <a:tcPr marL="82296" marR="54864" marT="45720">
                    <a:solidFill>
                      <a:srgbClr val="FFFFFF"/>
                    </a:solidFill>
                  </a:tcPr>
                </a:tc>
                <a:tc>
                  <a:txBody>
                    <a:bodyPr/>
                    <a:lstStyle/>
                    <a:p>
                      <a:pPr>
                        <a:defRPr sz="1300" b="0">
                          <a:solidFill>
                            <a:srgbClr val="142638"/>
                          </a:solidFill>
                          <a:latin typeface="Aptos"/>
                        </a:defRPr>
                      </a:pPr>
                      <a:r>
                        <a:t>4,034</a:t>
                      </a:r>
                    </a:p>
                  </a:txBody>
                  <a:tcPr marL="82296" marR="54864" marT="45720">
                    <a:solidFill>
                      <a:srgbClr val="FFFFFF"/>
                    </a:solidFill>
                  </a:tcPr>
                </a:tc>
                <a:tc>
                  <a:txBody>
                    <a:bodyPr/>
                    <a:lstStyle/>
                    <a:p>
                      <a:pPr>
                        <a:defRPr sz="1300" b="0">
                          <a:solidFill>
                            <a:srgbClr val="142638"/>
                          </a:solidFill>
                          <a:latin typeface="Aptos"/>
                        </a:defRPr>
                      </a:pPr>
                      <a:r>
                        <a:t>4,676</a:t>
                      </a:r>
                    </a:p>
                  </a:txBody>
                  <a:tcPr marL="82296" marR="54864" marT="45720">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10896"/>
            <a:ext cx="11247120" cy="594360"/>
          </a:xfrm>
          <a:prstGeom prst="rect">
            <a:avLst/>
          </a:prstGeom>
          <a:noFill/>
        </p:spPr>
        <p:txBody>
          <a:bodyPr wrap="square" lIns="18288" rIns="18288" tIns="13716">
            <a:spAutoFit/>
          </a:bodyPr>
          <a:lstStyle/>
          <a:p>
            <a:pPr>
              <a:spcAft>
                <a:spcPts val="500"/>
              </a:spcAft>
              <a:defRPr sz="2600" b="1">
                <a:solidFill>
                  <a:srgbClr val="142638"/>
                </a:solidFill>
                <a:latin typeface="Aptos"/>
              </a:defRPr>
            </a:pPr>
            <a:r>
              <a:t>WACC comes from risk components, not the price target</a:t>
            </a:r>
          </a:p>
        </p:txBody>
      </p:sp>
      <p:sp>
        <p:nvSpPr>
          <p:cNvPr id="4" name="TextBox 3"/>
          <p:cNvSpPr txBox="1"/>
          <p:nvPr/>
        </p:nvSpPr>
        <p:spPr>
          <a:xfrm>
            <a:off x="457200" y="950976"/>
            <a:ext cx="11247120" cy="457200"/>
          </a:xfrm>
          <a:prstGeom prst="rect">
            <a:avLst/>
          </a:prstGeom>
          <a:noFill/>
        </p:spPr>
        <p:txBody>
          <a:bodyPr wrap="square" lIns="18288" rIns="18288" tIns="13716">
            <a:spAutoFit/>
          </a:bodyPr>
          <a:lstStyle/>
          <a:p>
            <a:pPr>
              <a:spcAft>
                <a:spcPts val="500"/>
              </a:spcAft>
              <a:defRPr sz="1400" b="0">
                <a:solidFill>
                  <a:srgbClr val="536575"/>
                </a:solidFill>
                <a:latin typeface="Aptos"/>
              </a:defRPr>
            </a:pPr>
            <a:r>
              <a:t>Primary WACC 13.97%; identical across Bear / Base / Bull. Own-beta cross-check: 11.86%.</a:t>
            </a:r>
          </a:p>
        </p:txBody>
      </p:sp>
      <p:sp>
        <p:nvSpPr>
          <p:cNvPr id="5" name="Rectangle 4"/>
          <p:cNvSpPr/>
          <p:nvPr/>
        </p:nvSpPr>
        <p:spPr>
          <a:xfrm>
            <a:off x="457200" y="6208776"/>
            <a:ext cx="11247120" cy="13716"/>
          </a:xfrm>
          <a:prstGeom prst="rect">
            <a:avLst/>
          </a:prstGeom>
          <a:solidFill>
            <a:srgbClr val="CDD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18504"/>
            <a:ext cx="10698480" cy="347472"/>
          </a:xfrm>
          <a:prstGeom prst="rect">
            <a:avLst/>
          </a:prstGeom>
          <a:noFill/>
        </p:spPr>
        <p:txBody>
          <a:bodyPr wrap="square" lIns="18288" rIns="18288" tIns="13716">
            <a:spAutoFit/>
          </a:bodyPr>
          <a:lstStyle/>
          <a:p>
            <a:pPr>
              <a:spcAft>
                <a:spcPts val="500"/>
              </a:spcAft>
              <a:defRPr sz="800" b="0">
                <a:solidFill>
                  <a:srgbClr val="536575"/>
                </a:solidFill>
                <a:latin typeface="Aptos"/>
              </a:defRPr>
            </a:pPr>
            <a:r>
              <a:t>Sources: S6, S7, S8, S9, S10, S15  |  AI: source extraction, model and slides; team review pending.</a:t>
            </a:r>
          </a:p>
        </p:txBody>
      </p:sp>
      <p:sp>
        <p:nvSpPr>
          <p:cNvPr id="7" name="TextBox 6"/>
          <p:cNvSpPr txBox="1"/>
          <p:nvPr/>
        </p:nvSpPr>
        <p:spPr>
          <a:xfrm>
            <a:off x="11320272" y="6291072"/>
            <a:ext cx="411480" cy="320040"/>
          </a:xfrm>
          <a:prstGeom prst="rect">
            <a:avLst/>
          </a:prstGeom>
          <a:noFill/>
        </p:spPr>
        <p:txBody>
          <a:bodyPr wrap="square" lIns="18288" rIns="18288" tIns="13716">
            <a:spAutoFit/>
          </a:bodyPr>
          <a:lstStyle/>
          <a:p>
            <a:pPr>
              <a:spcAft>
                <a:spcPts val="500"/>
              </a:spcAft>
              <a:defRPr sz="1000" b="0">
                <a:solidFill>
                  <a:srgbClr val="536575"/>
                </a:solidFill>
                <a:latin typeface="Aptos"/>
              </a:defRPr>
            </a:pPr>
            <a:r>
              <a:t>4</a:t>
            </a:r>
          </a:p>
        </p:txBody>
      </p:sp>
      <p:graphicFrame>
        <p:nvGraphicFramePr>
          <p:cNvPr id="8" name="Table 7"/>
          <p:cNvGraphicFramePr>
            <a:graphicFrameLocks noGrp="1"/>
          </p:cNvGraphicFramePr>
          <p:nvPr/>
        </p:nvGraphicFramePr>
        <p:xfrm>
          <a:off x="502920" y="1554480"/>
          <a:ext cx="6858000" cy="4114800"/>
        </p:xfrm>
        <a:graphic>
          <a:graphicData uri="http://schemas.openxmlformats.org/drawingml/2006/table">
            <a:tbl>
              <a:tblPr firstRow="1" bandRow="1">
                <a:tableStyleId>{5C22544A-7EE6-4342-B048-85BDC9FD1C3A}</a:tableStyleId>
              </a:tblPr>
              <a:tblGrid>
                <a:gridCol w="1905000"/>
                <a:gridCol w="1333500"/>
                <a:gridCol w="3619500"/>
              </a:tblGrid>
              <a:tr h="457200">
                <a:tc>
                  <a:txBody>
                    <a:bodyPr/>
                    <a:lstStyle/>
                    <a:p>
                      <a:pPr>
                        <a:defRPr sz="1400" b="1">
                          <a:solidFill>
                            <a:srgbClr val="FFFFFF"/>
                          </a:solidFill>
                          <a:latin typeface="Aptos"/>
                        </a:defRPr>
                      </a:pPr>
                      <a:r>
                        <a:t>Component</a:t>
                      </a:r>
                    </a:p>
                  </a:txBody>
                  <a:tcPr marL="82296" marR="54864" marT="45720">
                    <a:solidFill>
                      <a:srgbClr val="087F8C"/>
                    </a:solidFill>
                  </a:tcPr>
                </a:tc>
                <a:tc>
                  <a:txBody>
                    <a:bodyPr/>
                    <a:lstStyle/>
                    <a:p>
                      <a:pPr>
                        <a:defRPr sz="1400" b="1">
                          <a:solidFill>
                            <a:srgbClr val="FFFFFF"/>
                          </a:solidFill>
                          <a:latin typeface="Aptos"/>
                        </a:defRPr>
                      </a:pPr>
                      <a:r>
                        <a:t>Value</a:t>
                      </a:r>
                    </a:p>
                  </a:txBody>
                  <a:tcPr marL="82296" marR="54864" marT="45720">
                    <a:solidFill>
                      <a:srgbClr val="087F8C"/>
                    </a:solidFill>
                  </a:tcPr>
                </a:tc>
                <a:tc>
                  <a:txBody>
                    <a:bodyPr/>
                    <a:lstStyle/>
                    <a:p>
                      <a:pPr>
                        <a:defRPr sz="1400" b="1">
                          <a:solidFill>
                            <a:srgbClr val="FFFFFF"/>
                          </a:solidFill>
                          <a:latin typeface="Aptos"/>
                        </a:defRPr>
                      </a:pPr>
                      <a:r>
                        <a:t>Basis</a:t>
                      </a:r>
                    </a:p>
                  </a:txBody>
                  <a:tcPr marL="82296" marR="54864" marT="45720">
                    <a:solidFill>
                      <a:srgbClr val="087F8C"/>
                    </a:solidFill>
                  </a:tcPr>
                </a:tc>
              </a:tr>
              <a:tr h="457200">
                <a:tc>
                  <a:txBody>
                    <a:bodyPr/>
                    <a:lstStyle/>
                    <a:p>
                      <a:pPr>
                        <a:defRPr sz="1400" b="0">
                          <a:solidFill>
                            <a:srgbClr val="142638"/>
                          </a:solidFill>
                          <a:latin typeface="Aptos"/>
                        </a:defRPr>
                      </a:pPr>
                      <a:r>
                        <a:t>Risk-free rate</a:t>
                      </a:r>
                    </a:p>
                  </a:txBody>
                  <a:tcPr marL="82296" marR="54864" marT="45720">
                    <a:solidFill>
                      <a:srgbClr val="EAF3F4"/>
                    </a:solidFill>
                  </a:tcPr>
                </a:tc>
                <a:tc>
                  <a:txBody>
                    <a:bodyPr/>
                    <a:lstStyle/>
                    <a:p>
                      <a:pPr>
                        <a:defRPr sz="1400" b="0">
                          <a:solidFill>
                            <a:srgbClr val="142638"/>
                          </a:solidFill>
                          <a:latin typeface="Aptos"/>
                        </a:defRPr>
                      </a:pPr>
                      <a:r>
                        <a:t>4.94%</a:t>
                      </a:r>
                    </a:p>
                  </a:txBody>
                  <a:tcPr marL="82296" marR="54864" marT="45720">
                    <a:solidFill>
                      <a:srgbClr val="EAF3F4"/>
                    </a:solidFill>
                  </a:tcPr>
                </a:tc>
                <a:tc>
                  <a:txBody>
                    <a:bodyPr/>
                    <a:lstStyle/>
                    <a:p>
                      <a:pPr>
                        <a:defRPr sz="1400" b="0">
                          <a:solidFill>
                            <a:srgbClr val="142638"/>
                          </a:solidFill>
                          <a:latin typeface="Aptos"/>
                        </a:defRPr>
                      </a:pPr>
                      <a:r>
                        <a:t>Sept 17 US 10-year Treasury</a:t>
                      </a:r>
                    </a:p>
                  </a:txBody>
                  <a:tcPr marL="82296" marR="54864" marT="45720">
                    <a:solidFill>
                      <a:srgbClr val="EAF3F4"/>
                    </a:solidFill>
                  </a:tcPr>
                </a:tc>
              </a:tr>
              <a:tr h="457200">
                <a:tc>
                  <a:txBody>
                    <a:bodyPr/>
                    <a:lstStyle/>
                    <a:p>
                      <a:pPr>
                        <a:defRPr sz="1400" b="0">
                          <a:solidFill>
                            <a:srgbClr val="142638"/>
                          </a:solidFill>
                          <a:latin typeface="Aptos"/>
                        </a:defRPr>
                      </a:pPr>
                      <a:r>
                        <a:t>Equity risk premium</a:t>
                      </a:r>
                    </a:p>
                  </a:txBody>
                  <a:tcPr marL="82296" marR="54864" marT="45720">
                    <a:solidFill>
                      <a:srgbClr val="FFFFFF"/>
                    </a:solidFill>
                  </a:tcPr>
                </a:tc>
                <a:tc>
                  <a:txBody>
                    <a:bodyPr/>
                    <a:lstStyle/>
                    <a:p>
                      <a:pPr>
                        <a:defRPr sz="1400" b="0">
                          <a:solidFill>
                            <a:srgbClr val="142638"/>
                          </a:solidFill>
                          <a:latin typeface="Aptos"/>
                        </a:defRPr>
                      </a:pPr>
                      <a:r>
                        <a:t>4.50%</a:t>
                      </a:r>
                    </a:p>
                  </a:txBody>
                  <a:tcPr marL="82296" marR="54864" marT="45720">
                    <a:solidFill>
                      <a:srgbClr val="FFFFFF"/>
                    </a:solidFill>
                  </a:tcPr>
                </a:tc>
                <a:tc>
                  <a:txBody>
                    <a:bodyPr/>
                    <a:lstStyle/>
                    <a:p>
                      <a:pPr>
                        <a:defRPr sz="1400" b="0">
                          <a:solidFill>
                            <a:srgbClr val="142638"/>
                          </a:solidFill>
                          <a:latin typeface="Aptos"/>
                        </a:defRPr>
                      </a:pPr>
                      <a:r>
                        <a:t>Above 4.14% observed implied ERP</a:t>
                      </a:r>
                    </a:p>
                  </a:txBody>
                  <a:tcPr marL="82296" marR="54864" marT="45720">
                    <a:solidFill>
                      <a:srgbClr val="FFFFFF"/>
                    </a:solidFill>
                  </a:tcPr>
                </a:tc>
              </a:tr>
              <a:tr h="457200">
                <a:tc>
                  <a:txBody>
                    <a:bodyPr/>
                    <a:lstStyle/>
                    <a:p>
                      <a:pPr>
                        <a:defRPr sz="1400" b="0">
                          <a:solidFill>
                            <a:srgbClr val="142638"/>
                          </a:solidFill>
                          <a:latin typeface="Aptos"/>
                        </a:defRPr>
                      </a:pPr>
                      <a:r>
                        <a:t>Peer unlevered beta</a:t>
                      </a:r>
                    </a:p>
                  </a:txBody>
                  <a:tcPr marL="82296" marR="54864" marT="45720">
                    <a:solidFill>
                      <a:srgbClr val="EAF3F4"/>
                    </a:solidFill>
                  </a:tcPr>
                </a:tc>
                <a:tc>
                  <a:txBody>
                    <a:bodyPr/>
                    <a:lstStyle/>
                    <a:p>
                      <a:pPr>
                        <a:defRPr sz="1400" b="0">
                          <a:solidFill>
                            <a:srgbClr val="142638"/>
                          </a:solidFill>
                          <a:latin typeface="Aptos"/>
                        </a:defRPr>
                      </a:pPr>
                      <a:r>
                        <a:t>2.01</a:t>
                      </a:r>
                    </a:p>
                  </a:txBody>
                  <a:tcPr marL="82296" marR="54864" marT="45720">
                    <a:solidFill>
                      <a:srgbClr val="EAF3F4"/>
                    </a:solidFill>
                  </a:tcPr>
                </a:tc>
                <a:tc>
                  <a:txBody>
                    <a:bodyPr/>
                    <a:lstStyle/>
                    <a:p>
                      <a:pPr>
                        <a:defRPr sz="1400" b="0">
                          <a:solidFill>
                            <a:srgbClr val="142638"/>
                          </a:solidFill>
                          <a:latin typeface="Aptos"/>
                        </a:defRPr>
                      </a:pPr>
                      <a:r>
                        <a:t>Median COHR / MRVL / FN</a:t>
                      </a:r>
                    </a:p>
                  </a:txBody>
                  <a:tcPr marL="82296" marR="54864" marT="45720">
                    <a:solidFill>
                      <a:srgbClr val="EAF3F4"/>
                    </a:solidFill>
                  </a:tcPr>
                </a:tc>
              </a:tr>
              <a:tr h="457200">
                <a:tc>
                  <a:txBody>
                    <a:bodyPr/>
                    <a:lstStyle/>
                    <a:p>
                      <a:pPr>
                        <a:defRPr sz="1400" b="0">
                          <a:solidFill>
                            <a:srgbClr val="142638"/>
                          </a:solidFill>
                          <a:latin typeface="Aptos"/>
                        </a:defRPr>
                      </a:pPr>
                      <a:r>
                        <a:t>Relevered LITE beta</a:t>
                      </a:r>
                    </a:p>
                  </a:txBody>
                  <a:tcPr marL="82296" marR="54864" marT="45720">
                    <a:solidFill>
                      <a:srgbClr val="FFFFFF"/>
                    </a:solidFill>
                  </a:tcPr>
                </a:tc>
                <a:tc>
                  <a:txBody>
                    <a:bodyPr/>
                    <a:lstStyle/>
                    <a:p>
                      <a:pPr>
                        <a:defRPr sz="1400" b="0">
                          <a:solidFill>
                            <a:srgbClr val="142638"/>
                          </a:solidFill>
                          <a:latin typeface="Aptos"/>
                        </a:defRPr>
                      </a:pPr>
                      <a:r>
                        <a:t>2.01</a:t>
                      </a:r>
                    </a:p>
                  </a:txBody>
                  <a:tcPr marL="82296" marR="54864" marT="45720">
                    <a:solidFill>
                      <a:srgbClr val="FFFFFF"/>
                    </a:solidFill>
                  </a:tcPr>
                </a:tc>
                <a:tc>
                  <a:txBody>
                    <a:bodyPr/>
                    <a:lstStyle/>
                    <a:p>
                      <a:pPr>
                        <a:defRPr sz="1400" b="0">
                          <a:solidFill>
                            <a:srgbClr val="142638"/>
                          </a:solidFill>
                          <a:latin typeface="Aptos"/>
                        </a:defRPr>
                      </a:pPr>
                      <a:r>
                        <a:t>Market weights; economic capital structure</a:t>
                      </a:r>
                    </a:p>
                  </a:txBody>
                  <a:tcPr marL="82296" marR="54864" marT="45720">
                    <a:solidFill>
                      <a:srgbClr val="FFFFFF"/>
                    </a:solidFill>
                  </a:tcPr>
                </a:tc>
              </a:tr>
              <a:tr h="457200">
                <a:tc>
                  <a:txBody>
                    <a:bodyPr/>
                    <a:lstStyle/>
                    <a:p>
                      <a:pPr>
                        <a:defRPr sz="1400" b="0">
                          <a:solidFill>
                            <a:srgbClr val="142638"/>
                          </a:solidFill>
                          <a:latin typeface="Aptos"/>
                        </a:defRPr>
                      </a:pPr>
                      <a:r>
                        <a:t>Cost of equity</a:t>
                      </a:r>
                    </a:p>
                  </a:txBody>
                  <a:tcPr marL="82296" marR="54864" marT="45720">
                    <a:solidFill>
                      <a:srgbClr val="EAF3F4"/>
                    </a:solidFill>
                  </a:tcPr>
                </a:tc>
                <a:tc>
                  <a:txBody>
                    <a:bodyPr/>
                    <a:lstStyle/>
                    <a:p>
                      <a:pPr>
                        <a:defRPr sz="1400" b="0">
                          <a:solidFill>
                            <a:srgbClr val="142638"/>
                          </a:solidFill>
                          <a:latin typeface="Aptos"/>
                        </a:defRPr>
                      </a:pPr>
                      <a:r>
                        <a:t>13.98%</a:t>
                      </a:r>
                    </a:p>
                  </a:txBody>
                  <a:tcPr marL="82296" marR="54864" marT="45720">
                    <a:solidFill>
                      <a:srgbClr val="EAF3F4"/>
                    </a:solidFill>
                  </a:tcPr>
                </a:tc>
                <a:tc>
                  <a:txBody>
                    <a:bodyPr/>
                    <a:lstStyle/>
                    <a:p>
                      <a:pPr>
                        <a:defRPr sz="1400" b="0">
                          <a:solidFill>
                            <a:srgbClr val="142638"/>
                          </a:solidFill>
                          <a:latin typeface="Aptos"/>
                        </a:defRPr>
                      </a:pPr>
                      <a:r>
                        <a:t>Rf + beta × ERP</a:t>
                      </a:r>
                    </a:p>
                  </a:txBody>
                  <a:tcPr marL="82296" marR="54864" marT="45720">
                    <a:solidFill>
                      <a:srgbClr val="EAF3F4"/>
                    </a:solidFill>
                  </a:tcPr>
                </a:tc>
              </a:tr>
              <a:tr h="457200">
                <a:tc>
                  <a:txBody>
                    <a:bodyPr/>
                    <a:lstStyle/>
                    <a:p>
                      <a:pPr>
                        <a:defRPr sz="1400" b="0">
                          <a:solidFill>
                            <a:srgbClr val="142638"/>
                          </a:solidFill>
                          <a:latin typeface="Aptos"/>
                        </a:defRPr>
                      </a:pPr>
                      <a:r>
                        <a:t>Pretax cost of debt</a:t>
                      </a:r>
                    </a:p>
                  </a:txBody>
                  <a:tcPr marL="82296" marR="54864" marT="45720">
                    <a:solidFill>
                      <a:srgbClr val="FFFFFF"/>
                    </a:solidFill>
                  </a:tcPr>
                </a:tc>
                <a:tc>
                  <a:txBody>
                    <a:bodyPr/>
                    <a:lstStyle/>
                    <a:p>
                      <a:pPr>
                        <a:defRPr sz="1400" b="0">
                          <a:solidFill>
                            <a:srgbClr val="142638"/>
                          </a:solidFill>
                          <a:latin typeface="Aptos"/>
                        </a:defRPr>
                      </a:pPr>
                      <a:r>
                        <a:t>7.44%</a:t>
                      </a:r>
                    </a:p>
                  </a:txBody>
                  <a:tcPr marL="82296" marR="54864" marT="45720">
                    <a:solidFill>
                      <a:srgbClr val="FFFFFF"/>
                    </a:solidFill>
                  </a:tcPr>
                </a:tc>
                <a:tc>
                  <a:txBody>
                    <a:bodyPr/>
                    <a:lstStyle/>
                    <a:p>
                      <a:pPr>
                        <a:defRPr sz="1400" b="0">
                          <a:solidFill>
                            <a:srgbClr val="142638"/>
                          </a:solidFill>
                          <a:latin typeface="Aptos"/>
                        </a:defRPr>
                      </a:pPr>
                      <a:r>
                        <a:t>Rf + assumed 250bp credit spread</a:t>
                      </a:r>
                    </a:p>
                  </a:txBody>
                  <a:tcPr marL="82296" marR="54864" marT="45720">
                    <a:solidFill>
                      <a:srgbClr val="FFFFFF"/>
                    </a:solidFill>
                  </a:tcPr>
                </a:tc>
              </a:tr>
              <a:tr h="457200">
                <a:tc>
                  <a:txBody>
                    <a:bodyPr/>
                    <a:lstStyle/>
                    <a:p>
                      <a:pPr>
                        <a:defRPr sz="1400" b="0">
                          <a:solidFill>
                            <a:srgbClr val="142638"/>
                          </a:solidFill>
                          <a:latin typeface="Aptos"/>
                        </a:defRPr>
                      </a:pPr>
                      <a:r>
                        <a:t>Debt / equity weights</a:t>
                      </a:r>
                    </a:p>
                  </a:txBody>
                  <a:tcPr marL="82296" marR="54864" marT="45720">
                    <a:solidFill>
                      <a:srgbClr val="EAF3F4"/>
                    </a:solidFill>
                  </a:tcPr>
                </a:tc>
                <a:tc>
                  <a:txBody>
                    <a:bodyPr/>
                    <a:lstStyle/>
                    <a:p>
                      <a:pPr>
                        <a:defRPr sz="1400" b="0">
                          <a:solidFill>
                            <a:srgbClr val="142638"/>
                          </a:solidFill>
                          <a:latin typeface="Aptos"/>
                        </a:defRPr>
                      </a:pPr>
                      <a:r>
                        <a:t>0.10% / 99.90%</a:t>
                      </a:r>
                    </a:p>
                  </a:txBody>
                  <a:tcPr marL="82296" marR="54864" marT="45720">
                    <a:solidFill>
                      <a:srgbClr val="EAF3F4"/>
                    </a:solidFill>
                  </a:tcPr>
                </a:tc>
                <a:tc>
                  <a:txBody>
                    <a:bodyPr/>
                    <a:lstStyle/>
                    <a:p>
                      <a:pPr>
                        <a:defRPr sz="1400" b="0">
                          <a:solidFill>
                            <a:srgbClr val="142638"/>
                          </a:solidFill>
                          <a:latin typeface="Aptos"/>
                        </a:defRPr>
                      </a:pPr>
                      <a:r>
                        <a:t>In-money notes treated as equity equivalents</a:t>
                      </a:r>
                    </a:p>
                  </a:txBody>
                  <a:tcPr marL="82296" marR="54864" marT="45720">
                    <a:solidFill>
                      <a:srgbClr val="EAF3F4"/>
                    </a:solidFill>
                  </a:tcPr>
                </a:tc>
              </a:tr>
              <a:tr h="457200">
                <a:tc>
                  <a:txBody>
                    <a:bodyPr/>
                    <a:lstStyle/>
                    <a:p>
                      <a:pPr>
                        <a:defRPr sz="1400" b="0">
                          <a:solidFill>
                            <a:srgbClr val="142638"/>
                          </a:solidFill>
                          <a:latin typeface="Aptos"/>
                        </a:defRPr>
                      </a:pPr>
                      <a:r>
                        <a:t>WACC</a:t>
                      </a:r>
                    </a:p>
                  </a:txBody>
                  <a:tcPr marL="82296" marR="54864" marT="45720">
                    <a:solidFill>
                      <a:srgbClr val="FFFFFF"/>
                    </a:solidFill>
                  </a:tcPr>
                </a:tc>
                <a:tc>
                  <a:txBody>
                    <a:bodyPr/>
                    <a:lstStyle/>
                    <a:p>
                      <a:pPr>
                        <a:defRPr sz="1400" b="0">
                          <a:solidFill>
                            <a:srgbClr val="142638"/>
                          </a:solidFill>
                          <a:latin typeface="Aptos"/>
                        </a:defRPr>
                      </a:pPr>
                      <a:r>
                        <a:t>13.97%</a:t>
                      </a:r>
                    </a:p>
                  </a:txBody>
                  <a:tcPr marL="82296" marR="54864" marT="45720">
                    <a:solidFill>
                      <a:srgbClr val="FFFFFF"/>
                    </a:solidFill>
                  </a:tcPr>
                </a:tc>
                <a:tc>
                  <a:txBody>
                    <a:bodyPr/>
                    <a:lstStyle/>
                    <a:p>
                      <a:pPr>
                        <a:defRPr sz="1400" b="0">
                          <a:solidFill>
                            <a:srgbClr val="142638"/>
                          </a:solidFill>
                          <a:latin typeface="Aptos"/>
                        </a:defRPr>
                      </a:pPr>
                      <a:r>
                        <a:t>Ke × E/V + Kd × (1−tax) × D/V</a:t>
                      </a:r>
                    </a:p>
                  </a:txBody>
                  <a:tcPr marL="82296" marR="54864" marT="45720">
                    <a:solidFill>
                      <a:srgbClr val="FFFFFF"/>
                    </a:solidFill>
                  </a:tcPr>
                </a:tc>
              </a:tr>
            </a:tbl>
          </a:graphicData>
        </a:graphic>
      </p:graphicFrame>
      <p:graphicFrame>
        <p:nvGraphicFramePr>
          <p:cNvPr id="9" name="Table 8"/>
          <p:cNvGraphicFramePr>
            <a:graphicFrameLocks noGrp="1"/>
          </p:cNvGraphicFramePr>
          <p:nvPr/>
        </p:nvGraphicFramePr>
        <p:xfrm>
          <a:off x="7635240" y="1554480"/>
          <a:ext cx="4023360" cy="2057400"/>
        </p:xfrm>
        <a:graphic>
          <a:graphicData uri="http://schemas.openxmlformats.org/drawingml/2006/table">
            <a:tbl>
              <a:tblPr firstRow="1" bandRow="1">
                <a:tableStyleId>{5C22544A-7EE6-4342-B048-85BDC9FD1C3A}</a:tableStyleId>
              </a:tblPr>
              <a:tblGrid>
                <a:gridCol w="1341120"/>
                <a:gridCol w="1341120"/>
                <a:gridCol w="1341120"/>
              </a:tblGrid>
              <a:tr h="514350">
                <a:tc>
                  <a:txBody>
                    <a:bodyPr/>
                    <a:lstStyle/>
                    <a:p>
                      <a:pPr>
                        <a:defRPr sz="1400" b="1">
                          <a:solidFill>
                            <a:srgbClr val="FFFFFF"/>
                          </a:solidFill>
                          <a:latin typeface="Aptos"/>
                        </a:defRPr>
                      </a:pPr>
                      <a:r>
                        <a:t>Peer</a:t>
                      </a:r>
                    </a:p>
                  </a:txBody>
                  <a:tcPr marL="82296" marR="54864" marT="45720">
                    <a:solidFill>
                      <a:srgbClr val="087F8C"/>
                    </a:solidFill>
                  </a:tcPr>
                </a:tc>
                <a:tc>
                  <a:txBody>
                    <a:bodyPr/>
                    <a:lstStyle/>
                    <a:p>
                      <a:pPr>
                        <a:defRPr sz="1400" b="1">
                          <a:solidFill>
                            <a:srgbClr val="FFFFFF"/>
                          </a:solidFill>
                          <a:latin typeface="Aptos"/>
                        </a:defRPr>
                      </a:pPr>
                      <a:r>
                        <a:t>Raw beta</a:t>
                      </a:r>
                    </a:p>
                  </a:txBody>
                  <a:tcPr marL="82296" marR="54864" marT="45720">
                    <a:solidFill>
                      <a:srgbClr val="087F8C"/>
                    </a:solidFill>
                  </a:tcPr>
                </a:tc>
                <a:tc>
                  <a:txBody>
                    <a:bodyPr/>
                    <a:lstStyle/>
                    <a:p>
                      <a:pPr>
                        <a:defRPr sz="1400" b="1">
                          <a:solidFill>
                            <a:srgbClr val="FFFFFF"/>
                          </a:solidFill>
                          <a:latin typeface="Aptos"/>
                        </a:defRPr>
                      </a:pPr>
                      <a:r>
                        <a:t>Unlevered</a:t>
                      </a:r>
                    </a:p>
                  </a:txBody>
                  <a:tcPr marL="82296" marR="54864" marT="45720">
                    <a:solidFill>
                      <a:srgbClr val="087F8C"/>
                    </a:solidFill>
                  </a:tcPr>
                </a:tc>
              </a:tr>
              <a:tr h="514350">
                <a:tc>
                  <a:txBody>
                    <a:bodyPr/>
                    <a:lstStyle/>
                    <a:p>
                      <a:pPr>
                        <a:defRPr sz="1400" b="0">
                          <a:solidFill>
                            <a:srgbClr val="142638"/>
                          </a:solidFill>
                          <a:latin typeface="Aptos"/>
                        </a:defRPr>
                      </a:pPr>
                      <a:r>
                        <a:t>COHR</a:t>
                      </a:r>
                    </a:p>
                  </a:txBody>
                  <a:tcPr marL="82296" marR="54864" marT="45720">
                    <a:solidFill>
                      <a:srgbClr val="EAF3F4"/>
                    </a:solidFill>
                  </a:tcPr>
                </a:tc>
                <a:tc>
                  <a:txBody>
                    <a:bodyPr/>
                    <a:lstStyle/>
                    <a:p>
                      <a:pPr>
                        <a:defRPr sz="1400" b="0">
                          <a:solidFill>
                            <a:srgbClr val="142638"/>
                          </a:solidFill>
                          <a:latin typeface="Aptos"/>
                        </a:defRPr>
                      </a:pPr>
                      <a:r>
                        <a:t>2.10</a:t>
                      </a:r>
                    </a:p>
                  </a:txBody>
                  <a:tcPr marL="82296" marR="54864" marT="45720">
                    <a:solidFill>
                      <a:srgbClr val="EAF3F4"/>
                    </a:solidFill>
                  </a:tcPr>
                </a:tc>
                <a:tc>
                  <a:txBody>
                    <a:bodyPr/>
                    <a:lstStyle/>
                    <a:p>
                      <a:pPr>
                        <a:defRPr sz="1400" b="0">
                          <a:solidFill>
                            <a:srgbClr val="142638"/>
                          </a:solidFill>
                          <a:latin typeface="Aptos"/>
                        </a:defRPr>
                      </a:pPr>
                      <a:r>
                        <a:t>2.01</a:t>
                      </a:r>
                    </a:p>
                  </a:txBody>
                  <a:tcPr marL="82296" marR="54864" marT="45720">
                    <a:solidFill>
                      <a:srgbClr val="EAF3F4"/>
                    </a:solidFill>
                  </a:tcPr>
                </a:tc>
              </a:tr>
              <a:tr h="514350">
                <a:tc>
                  <a:txBody>
                    <a:bodyPr/>
                    <a:lstStyle/>
                    <a:p>
                      <a:pPr>
                        <a:defRPr sz="1400" b="0">
                          <a:solidFill>
                            <a:srgbClr val="142638"/>
                          </a:solidFill>
                          <a:latin typeface="Aptos"/>
                        </a:defRPr>
                      </a:pPr>
                      <a:r>
                        <a:t>MRVL</a:t>
                      </a:r>
                    </a:p>
                  </a:txBody>
                  <a:tcPr marL="82296" marR="54864" marT="45720">
                    <a:solidFill>
                      <a:srgbClr val="FFFFFF"/>
                    </a:solidFill>
                  </a:tcPr>
                </a:tc>
                <a:tc>
                  <a:txBody>
                    <a:bodyPr/>
                    <a:lstStyle/>
                    <a:p>
                      <a:pPr>
                        <a:defRPr sz="1400" b="0">
                          <a:solidFill>
                            <a:srgbClr val="142638"/>
                          </a:solidFill>
                          <a:latin typeface="Aptos"/>
                        </a:defRPr>
                      </a:pPr>
                      <a:r>
                        <a:t>2.25</a:t>
                      </a:r>
                    </a:p>
                  </a:txBody>
                  <a:tcPr marL="82296" marR="54864" marT="45720">
                    <a:solidFill>
                      <a:srgbClr val="FFFFFF"/>
                    </a:solidFill>
                  </a:tcPr>
                </a:tc>
                <a:tc>
                  <a:txBody>
                    <a:bodyPr/>
                    <a:lstStyle/>
                    <a:p>
                      <a:pPr>
                        <a:defRPr sz="1400" b="0">
                          <a:solidFill>
                            <a:srgbClr val="142638"/>
                          </a:solidFill>
                          <a:latin typeface="Aptos"/>
                        </a:defRPr>
                      </a:pPr>
                      <a:r>
                        <a:t>2.21</a:t>
                      </a:r>
                    </a:p>
                  </a:txBody>
                  <a:tcPr marL="82296" marR="54864" marT="45720">
                    <a:solidFill>
                      <a:srgbClr val="FFFFFF"/>
                    </a:solidFill>
                  </a:tcPr>
                </a:tc>
              </a:tr>
              <a:tr h="514350">
                <a:tc>
                  <a:txBody>
                    <a:bodyPr/>
                    <a:lstStyle/>
                    <a:p>
                      <a:pPr>
                        <a:defRPr sz="1400" b="0">
                          <a:solidFill>
                            <a:srgbClr val="142638"/>
                          </a:solidFill>
                          <a:latin typeface="Aptos"/>
                        </a:defRPr>
                      </a:pPr>
                      <a:r>
                        <a:t>FN</a:t>
                      </a:r>
                    </a:p>
                  </a:txBody>
                  <a:tcPr marL="82296" marR="54864" marT="45720">
                    <a:solidFill>
                      <a:srgbClr val="EAF3F4"/>
                    </a:solidFill>
                  </a:tcPr>
                </a:tc>
                <a:tc>
                  <a:txBody>
                    <a:bodyPr/>
                    <a:lstStyle/>
                    <a:p>
                      <a:pPr>
                        <a:defRPr sz="1400" b="0">
                          <a:solidFill>
                            <a:srgbClr val="142638"/>
                          </a:solidFill>
                          <a:latin typeface="Aptos"/>
                        </a:defRPr>
                      </a:pPr>
                      <a:r>
                        <a:t>1.21</a:t>
                      </a:r>
                    </a:p>
                  </a:txBody>
                  <a:tcPr marL="82296" marR="54864" marT="45720">
                    <a:solidFill>
                      <a:srgbClr val="EAF3F4"/>
                    </a:solidFill>
                  </a:tcPr>
                </a:tc>
                <a:tc>
                  <a:txBody>
                    <a:bodyPr/>
                    <a:lstStyle/>
                    <a:p>
                      <a:pPr>
                        <a:defRPr sz="1400" b="0">
                          <a:solidFill>
                            <a:srgbClr val="142638"/>
                          </a:solidFill>
                          <a:latin typeface="Aptos"/>
                        </a:defRPr>
                      </a:pPr>
                      <a:r>
                        <a:t>1.21</a:t>
                      </a:r>
                    </a:p>
                  </a:txBody>
                  <a:tcPr marL="82296" marR="54864" marT="45720">
                    <a:solidFill>
                      <a:srgbClr val="EAF3F4"/>
                    </a:solidFill>
                  </a:tcPr>
                </a:tc>
              </a:tr>
            </a:tbl>
          </a:graphicData>
        </a:graphic>
      </p:graphicFrame>
      <p:sp>
        <p:nvSpPr>
          <p:cNvPr id="10" name="TextBox 9"/>
          <p:cNvSpPr txBox="1"/>
          <p:nvPr/>
        </p:nvSpPr>
        <p:spPr>
          <a:xfrm>
            <a:off x="7680960" y="3931920"/>
            <a:ext cx="3886200" cy="1645920"/>
          </a:xfrm>
          <a:prstGeom prst="rect">
            <a:avLst/>
          </a:prstGeom>
          <a:noFill/>
        </p:spPr>
        <p:txBody>
          <a:bodyPr wrap="square" lIns="18288" rIns="18288" tIns="13716">
            <a:spAutoFit/>
          </a:bodyPr>
          <a:lstStyle/>
          <a:p>
            <a:pPr>
              <a:spcAft>
                <a:spcPts val="500"/>
              </a:spcAft>
              <a:defRPr sz="1700" b="0">
                <a:solidFill>
                  <a:srgbClr val="142638"/>
                </a:solidFill>
                <a:latin typeface="Aptos"/>
              </a:defRPr>
            </a:pPr>
            <a:r>
              <a:t>Conservative choices:</a:t>
            </a:r>
          </a:p>
          <a:p>
            <a:pPr>
              <a:spcAft>
                <a:spcPts val="500"/>
              </a:spcAft>
              <a:defRPr sz="1700" b="0">
                <a:solidFill>
                  <a:srgbClr val="142638"/>
                </a:solidFill>
                <a:latin typeface="Aptos"/>
              </a:defRPr>
            </a:pPr>
            <a:r>
              <a:t>ERP above observed; peer beta above LITE’s 1.54; terminal growth 3%.</a:t>
            </a:r>
          </a:p>
          <a:p>
            <a:pPr>
              <a:spcAft>
                <a:spcPts val="500"/>
              </a:spcAft>
              <a:defRPr sz="1700" b="0">
                <a:solidFill>
                  <a:srgbClr val="142638"/>
                </a:solidFill>
                <a:latin typeface="Aptos"/>
              </a:defRPr>
            </a:pPr>
            <a:r>
              <a:t>No lower discount rate in Bull.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10896"/>
            <a:ext cx="11247120" cy="594360"/>
          </a:xfrm>
          <a:prstGeom prst="rect">
            <a:avLst/>
          </a:prstGeom>
          <a:noFill/>
        </p:spPr>
        <p:txBody>
          <a:bodyPr wrap="square" lIns="18288" rIns="18288" tIns="13716">
            <a:spAutoFit/>
          </a:bodyPr>
          <a:lstStyle/>
          <a:p>
            <a:pPr>
              <a:spcAft>
                <a:spcPts val="500"/>
              </a:spcAft>
              <a:defRPr sz="2600" b="1">
                <a:solidFill>
                  <a:srgbClr val="142638"/>
                </a:solidFill>
                <a:latin typeface="Aptos"/>
              </a:defRPr>
            </a:pPr>
            <a:r>
              <a:t>Terminal value uses a mature margin, under both methods</a:t>
            </a:r>
          </a:p>
        </p:txBody>
      </p:sp>
      <p:sp>
        <p:nvSpPr>
          <p:cNvPr id="4" name="TextBox 3"/>
          <p:cNvSpPr txBox="1"/>
          <p:nvPr/>
        </p:nvSpPr>
        <p:spPr>
          <a:xfrm>
            <a:off x="457200" y="950976"/>
            <a:ext cx="11247120" cy="457200"/>
          </a:xfrm>
          <a:prstGeom prst="rect">
            <a:avLst/>
          </a:prstGeom>
          <a:noFill/>
        </p:spPr>
        <p:txBody>
          <a:bodyPr wrap="square" lIns="18288" rIns="18288" tIns="13716">
            <a:spAutoFit/>
          </a:bodyPr>
          <a:lstStyle/>
          <a:p>
            <a:pPr>
              <a:spcAft>
                <a:spcPts val="500"/>
              </a:spcAft>
              <a:defRPr sz="1400" b="0">
                <a:solidFill>
                  <a:srgbClr val="536575"/>
                </a:solidFill>
                <a:latin typeface="Aptos"/>
              </a:defRPr>
            </a:pPr>
            <a:r>
              <a:t>FY2036 adjusted EBIT margin 25%; economic EBIT margin 20.5% after recurring SBC.</a:t>
            </a:r>
          </a:p>
        </p:txBody>
      </p:sp>
      <p:sp>
        <p:nvSpPr>
          <p:cNvPr id="5" name="Rectangle 4"/>
          <p:cNvSpPr/>
          <p:nvPr/>
        </p:nvSpPr>
        <p:spPr>
          <a:xfrm>
            <a:off x="457200" y="6208776"/>
            <a:ext cx="11247120" cy="13716"/>
          </a:xfrm>
          <a:prstGeom prst="rect">
            <a:avLst/>
          </a:prstGeom>
          <a:solidFill>
            <a:srgbClr val="CDD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18504"/>
            <a:ext cx="10698480" cy="347472"/>
          </a:xfrm>
          <a:prstGeom prst="rect">
            <a:avLst/>
          </a:prstGeom>
          <a:noFill/>
        </p:spPr>
        <p:txBody>
          <a:bodyPr wrap="square" lIns="18288" rIns="18288" tIns="13716">
            <a:spAutoFit/>
          </a:bodyPr>
          <a:lstStyle/>
          <a:p>
            <a:pPr>
              <a:spcAft>
                <a:spcPts val="500"/>
              </a:spcAft>
              <a:defRPr sz="800" b="0">
                <a:solidFill>
                  <a:srgbClr val="536575"/>
                </a:solidFill>
                <a:latin typeface="Aptos"/>
              </a:defRPr>
            </a:pPr>
            <a:r>
              <a:t>Sources: S1, S2, S11, S12  |  AI: source extraction, model and slides; team review pending.</a:t>
            </a:r>
          </a:p>
        </p:txBody>
      </p:sp>
      <p:sp>
        <p:nvSpPr>
          <p:cNvPr id="7" name="TextBox 6"/>
          <p:cNvSpPr txBox="1"/>
          <p:nvPr/>
        </p:nvSpPr>
        <p:spPr>
          <a:xfrm>
            <a:off x="11320272" y="6291072"/>
            <a:ext cx="411480" cy="320040"/>
          </a:xfrm>
          <a:prstGeom prst="rect">
            <a:avLst/>
          </a:prstGeom>
          <a:noFill/>
        </p:spPr>
        <p:txBody>
          <a:bodyPr wrap="square" lIns="18288" rIns="18288" tIns="13716">
            <a:spAutoFit/>
          </a:bodyPr>
          <a:lstStyle/>
          <a:p>
            <a:pPr>
              <a:spcAft>
                <a:spcPts val="500"/>
              </a:spcAft>
              <a:defRPr sz="1000" b="0">
                <a:solidFill>
                  <a:srgbClr val="536575"/>
                </a:solidFill>
                <a:latin typeface="Aptos"/>
              </a:defRPr>
            </a:pPr>
            <a:r>
              <a:t>5</a:t>
            </a:r>
          </a:p>
        </p:txBody>
      </p:sp>
      <p:graphicFrame>
        <p:nvGraphicFramePr>
          <p:cNvPr id="8" name="Table 7"/>
          <p:cNvGraphicFramePr>
            <a:graphicFrameLocks noGrp="1"/>
          </p:cNvGraphicFramePr>
          <p:nvPr/>
        </p:nvGraphicFramePr>
        <p:xfrm>
          <a:off x="502920" y="1554480"/>
          <a:ext cx="7315199" cy="4069080"/>
        </p:xfrm>
        <a:graphic>
          <a:graphicData uri="http://schemas.openxmlformats.org/drawingml/2006/table">
            <a:tbl>
              <a:tblPr firstRow="1" bandRow="1">
                <a:tableStyleId>{5C22544A-7EE6-4342-B048-85BDC9FD1C3A}</a:tableStyleId>
              </a:tblPr>
              <a:tblGrid>
                <a:gridCol w="3347633"/>
                <a:gridCol w="1983783"/>
                <a:gridCol w="1983783"/>
              </a:tblGrid>
              <a:tr h="508635">
                <a:tc>
                  <a:txBody>
                    <a:bodyPr/>
                    <a:lstStyle/>
                    <a:p>
                      <a:pPr>
                        <a:defRPr sz="1500" b="1">
                          <a:solidFill>
                            <a:srgbClr val="FFFFFF"/>
                          </a:solidFill>
                          <a:latin typeface="Aptos"/>
                        </a:defRPr>
                      </a:pPr>
                      <a:r>
                        <a:t>Bull terminal / DCF metric</a:t>
                      </a:r>
                    </a:p>
                  </a:txBody>
                  <a:tcPr marL="82296" marR="54864" marT="45720">
                    <a:solidFill>
                      <a:srgbClr val="087F8C"/>
                    </a:solidFill>
                  </a:tcPr>
                </a:tc>
                <a:tc>
                  <a:txBody>
                    <a:bodyPr/>
                    <a:lstStyle/>
                    <a:p>
                      <a:pPr>
                        <a:defRPr sz="1500" b="1">
                          <a:solidFill>
                            <a:srgbClr val="FFFFFF"/>
                          </a:solidFill>
                          <a:latin typeface="Aptos"/>
                        </a:defRPr>
                      </a:pPr>
                      <a:r>
                        <a:t>Gordon growth</a:t>
                      </a:r>
                    </a:p>
                  </a:txBody>
                  <a:tcPr marL="82296" marR="54864" marT="45720">
                    <a:solidFill>
                      <a:srgbClr val="087F8C"/>
                    </a:solidFill>
                  </a:tcPr>
                </a:tc>
                <a:tc>
                  <a:txBody>
                    <a:bodyPr/>
                    <a:lstStyle/>
                    <a:p>
                      <a:pPr>
                        <a:defRPr sz="1500" b="1">
                          <a:solidFill>
                            <a:srgbClr val="FFFFFF"/>
                          </a:solidFill>
                          <a:latin typeface="Aptos"/>
                        </a:defRPr>
                      </a:pPr>
                      <a:r>
                        <a:t>Exit multiple</a:t>
                      </a:r>
                    </a:p>
                  </a:txBody>
                  <a:tcPr marL="82296" marR="54864" marT="45720">
                    <a:solidFill>
                      <a:srgbClr val="087F8C"/>
                    </a:solidFill>
                  </a:tcPr>
                </a:tc>
              </a:tr>
              <a:tr h="508635">
                <a:tc>
                  <a:txBody>
                    <a:bodyPr/>
                    <a:lstStyle/>
                    <a:p>
                      <a:pPr>
                        <a:defRPr sz="1500" b="0">
                          <a:solidFill>
                            <a:srgbClr val="142638"/>
                          </a:solidFill>
                          <a:latin typeface="Aptos"/>
                        </a:defRPr>
                      </a:pPr>
                      <a:r>
                        <a:t>Long-run assumption</a:t>
                      </a:r>
                    </a:p>
                  </a:txBody>
                  <a:tcPr marL="82296" marR="54864" marT="45720">
                    <a:solidFill>
                      <a:srgbClr val="EAF3F4"/>
                    </a:solidFill>
                  </a:tcPr>
                </a:tc>
                <a:tc>
                  <a:txBody>
                    <a:bodyPr/>
                    <a:lstStyle/>
                    <a:p>
                      <a:pPr>
                        <a:defRPr sz="1500" b="0">
                          <a:solidFill>
                            <a:srgbClr val="142638"/>
                          </a:solidFill>
                          <a:latin typeface="Aptos"/>
                        </a:defRPr>
                      </a:pPr>
                      <a:r>
                        <a:t>3.0% growth</a:t>
                      </a:r>
                    </a:p>
                  </a:txBody>
                  <a:tcPr marL="82296" marR="54864" marT="45720">
                    <a:solidFill>
                      <a:srgbClr val="EAF3F4"/>
                    </a:solidFill>
                  </a:tcPr>
                </a:tc>
                <a:tc>
                  <a:txBody>
                    <a:bodyPr/>
                    <a:lstStyle/>
                    <a:p>
                      <a:pPr>
                        <a:defRPr sz="1500" b="0">
                          <a:solidFill>
                            <a:srgbClr val="142638"/>
                          </a:solidFill>
                          <a:latin typeface="Aptos"/>
                        </a:defRPr>
                      </a:pPr>
                      <a:r>
                        <a:t>16.0× EBITDA</a:t>
                      </a:r>
                    </a:p>
                  </a:txBody>
                  <a:tcPr marL="82296" marR="54864" marT="45720">
                    <a:solidFill>
                      <a:srgbClr val="EAF3F4"/>
                    </a:solidFill>
                  </a:tcPr>
                </a:tc>
              </a:tr>
              <a:tr h="508635">
                <a:tc>
                  <a:txBody>
                    <a:bodyPr/>
                    <a:lstStyle/>
                    <a:p>
                      <a:pPr>
                        <a:defRPr sz="1500" b="0">
                          <a:solidFill>
                            <a:srgbClr val="142638"/>
                          </a:solidFill>
                          <a:latin typeface="Aptos"/>
                        </a:defRPr>
                      </a:pPr>
                      <a:r>
                        <a:t>Normalized terminal FCF / EBITDA</a:t>
                      </a:r>
                    </a:p>
                  </a:txBody>
                  <a:tcPr marL="82296" marR="54864" marT="45720">
                    <a:solidFill>
                      <a:srgbClr val="FFFFFF"/>
                    </a:solidFill>
                  </a:tcPr>
                </a:tc>
                <a:tc>
                  <a:txBody>
                    <a:bodyPr/>
                    <a:lstStyle/>
                    <a:p>
                      <a:pPr>
                        <a:defRPr sz="1500" b="0">
                          <a:solidFill>
                            <a:srgbClr val="142638"/>
                          </a:solidFill>
                          <a:latin typeface="Aptos"/>
                        </a:defRPr>
                      </a:pPr>
                      <a:r>
                        <a:t>4,311m</a:t>
                      </a:r>
                    </a:p>
                  </a:txBody>
                  <a:tcPr marL="82296" marR="54864" marT="45720">
                    <a:solidFill>
                      <a:srgbClr val="FFFFFF"/>
                    </a:solidFill>
                  </a:tcPr>
                </a:tc>
                <a:tc>
                  <a:txBody>
                    <a:bodyPr/>
                    <a:lstStyle/>
                    <a:p>
                      <a:pPr>
                        <a:defRPr sz="1500" b="0">
                          <a:solidFill>
                            <a:srgbClr val="142638"/>
                          </a:solidFill>
                          <a:latin typeface="Aptos"/>
                        </a:defRPr>
                      </a:pPr>
                      <a:r>
                        <a:t>7,078m</a:t>
                      </a:r>
                    </a:p>
                  </a:txBody>
                  <a:tcPr marL="82296" marR="54864" marT="45720">
                    <a:solidFill>
                      <a:srgbClr val="FFFFFF"/>
                    </a:solidFill>
                  </a:tcPr>
                </a:tc>
              </a:tr>
              <a:tr h="508635">
                <a:tc>
                  <a:txBody>
                    <a:bodyPr/>
                    <a:lstStyle/>
                    <a:p>
                      <a:pPr>
                        <a:defRPr sz="1500" b="0">
                          <a:solidFill>
                            <a:srgbClr val="142638"/>
                          </a:solidFill>
                          <a:latin typeface="Aptos"/>
                        </a:defRPr>
                      </a:pPr>
                      <a:r>
                        <a:t>Terminal value, undiscounted</a:t>
                      </a:r>
                    </a:p>
                  </a:txBody>
                  <a:tcPr marL="82296" marR="54864" marT="45720">
                    <a:solidFill>
                      <a:srgbClr val="EAF3F4"/>
                    </a:solidFill>
                  </a:tcPr>
                </a:tc>
                <a:tc>
                  <a:txBody>
                    <a:bodyPr/>
                    <a:lstStyle/>
                    <a:p>
                      <a:pPr>
                        <a:defRPr sz="1500" b="0">
                          <a:solidFill>
                            <a:srgbClr val="142638"/>
                          </a:solidFill>
                          <a:latin typeface="Aptos"/>
                        </a:defRPr>
                      </a:pPr>
                      <a:r>
                        <a:t>39,284m</a:t>
                      </a:r>
                    </a:p>
                  </a:txBody>
                  <a:tcPr marL="82296" marR="54864" marT="45720">
                    <a:solidFill>
                      <a:srgbClr val="EAF3F4"/>
                    </a:solidFill>
                  </a:tcPr>
                </a:tc>
                <a:tc>
                  <a:txBody>
                    <a:bodyPr/>
                    <a:lstStyle/>
                    <a:p>
                      <a:pPr>
                        <a:defRPr sz="1500" b="0">
                          <a:solidFill>
                            <a:srgbClr val="142638"/>
                          </a:solidFill>
                          <a:latin typeface="Aptos"/>
                        </a:defRPr>
                      </a:pPr>
                      <a:r>
                        <a:t>113,242m</a:t>
                      </a:r>
                    </a:p>
                  </a:txBody>
                  <a:tcPr marL="82296" marR="54864" marT="45720">
                    <a:solidFill>
                      <a:srgbClr val="EAF3F4"/>
                    </a:solidFill>
                  </a:tcPr>
                </a:tc>
              </a:tr>
              <a:tr h="508635">
                <a:tc>
                  <a:txBody>
                    <a:bodyPr/>
                    <a:lstStyle/>
                    <a:p>
                      <a:pPr>
                        <a:defRPr sz="1500" b="0">
                          <a:solidFill>
                            <a:srgbClr val="142638"/>
                          </a:solidFill>
                          <a:latin typeface="Aptos"/>
                        </a:defRPr>
                      </a:pPr>
                      <a:r>
                        <a:t>PV terminal value</a:t>
                      </a:r>
                    </a:p>
                  </a:txBody>
                  <a:tcPr marL="82296" marR="54864" marT="45720">
                    <a:solidFill>
                      <a:srgbClr val="FFFFFF"/>
                    </a:solidFill>
                  </a:tcPr>
                </a:tc>
                <a:tc>
                  <a:txBody>
                    <a:bodyPr/>
                    <a:lstStyle/>
                    <a:p>
                      <a:pPr>
                        <a:defRPr sz="1500" b="0">
                          <a:solidFill>
                            <a:srgbClr val="142638"/>
                          </a:solidFill>
                          <a:latin typeface="Aptos"/>
                        </a:defRPr>
                      </a:pPr>
                      <a:r>
                        <a:t>10,945m</a:t>
                      </a:r>
                    </a:p>
                  </a:txBody>
                  <a:tcPr marL="82296" marR="54864" marT="45720">
                    <a:solidFill>
                      <a:srgbClr val="FFFFFF"/>
                    </a:solidFill>
                  </a:tcPr>
                </a:tc>
                <a:tc>
                  <a:txBody>
                    <a:bodyPr/>
                    <a:lstStyle/>
                    <a:p>
                      <a:pPr>
                        <a:defRPr sz="1500" b="0">
                          <a:solidFill>
                            <a:srgbClr val="142638"/>
                          </a:solidFill>
                          <a:latin typeface="Aptos"/>
                        </a:defRPr>
                      </a:pPr>
                      <a:r>
                        <a:t>31,551m</a:t>
                      </a:r>
                    </a:p>
                  </a:txBody>
                  <a:tcPr marL="82296" marR="54864" marT="45720">
                    <a:solidFill>
                      <a:srgbClr val="FFFFFF"/>
                    </a:solidFill>
                  </a:tcPr>
                </a:tc>
              </a:tr>
              <a:tr h="508635">
                <a:tc>
                  <a:txBody>
                    <a:bodyPr/>
                    <a:lstStyle/>
                    <a:p>
                      <a:pPr>
                        <a:defRPr sz="1500" b="0">
                          <a:solidFill>
                            <a:srgbClr val="142638"/>
                          </a:solidFill>
                          <a:latin typeface="Aptos"/>
                        </a:defRPr>
                      </a:pPr>
                      <a:r>
                        <a:t>PV explicit cash flows</a:t>
                      </a:r>
                    </a:p>
                  </a:txBody>
                  <a:tcPr marL="82296" marR="54864" marT="45720">
                    <a:solidFill>
                      <a:srgbClr val="EAF3F4"/>
                    </a:solidFill>
                  </a:tcPr>
                </a:tc>
                <a:tc>
                  <a:txBody>
                    <a:bodyPr/>
                    <a:lstStyle/>
                    <a:p>
                      <a:pPr>
                        <a:defRPr sz="1500" b="0">
                          <a:solidFill>
                            <a:srgbClr val="142638"/>
                          </a:solidFill>
                          <a:latin typeface="Aptos"/>
                        </a:defRPr>
                      </a:pPr>
                      <a:r>
                        <a:t>17,624m</a:t>
                      </a:r>
                    </a:p>
                  </a:txBody>
                  <a:tcPr marL="82296" marR="54864" marT="45720">
                    <a:solidFill>
                      <a:srgbClr val="EAF3F4"/>
                    </a:solidFill>
                  </a:tcPr>
                </a:tc>
                <a:tc>
                  <a:txBody>
                    <a:bodyPr/>
                    <a:lstStyle/>
                    <a:p>
                      <a:pPr>
                        <a:defRPr sz="1500" b="0">
                          <a:solidFill>
                            <a:srgbClr val="142638"/>
                          </a:solidFill>
                          <a:latin typeface="Aptos"/>
                        </a:defRPr>
                      </a:pPr>
                      <a:r>
                        <a:t>17,624m</a:t>
                      </a:r>
                    </a:p>
                  </a:txBody>
                  <a:tcPr marL="82296" marR="54864" marT="45720">
                    <a:solidFill>
                      <a:srgbClr val="EAF3F4"/>
                    </a:solidFill>
                  </a:tcPr>
                </a:tc>
              </a:tr>
              <a:tr h="508635">
                <a:tc>
                  <a:txBody>
                    <a:bodyPr/>
                    <a:lstStyle/>
                    <a:p>
                      <a:pPr>
                        <a:defRPr sz="1500" b="0">
                          <a:solidFill>
                            <a:srgbClr val="142638"/>
                          </a:solidFill>
                          <a:latin typeface="Aptos"/>
                        </a:defRPr>
                      </a:pPr>
                      <a:r>
                        <a:t>Enterprise value</a:t>
                      </a:r>
                    </a:p>
                  </a:txBody>
                  <a:tcPr marL="82296" marR="54864" marT="45720">
                    <a:solidFill>
                      <a:srgbClr val="FFFFFF"/>
                    </a:solidFill>
                  </a:tcPr>
                </a:tc>
                <a:tc>
                  <a:txBody>
                    <a:bodyPr/>
                    <a:lstStyle/>
                    <a:p>
                      <a:pPr>
                        <a:defRPr sz="1500" b="0">
                          <a:solidFill>
                            <a:srgbClr val="142638"/>
                          </a:solidFill>
                          <a:latin typeface="Aptos"/>
                        </a:defRPr>
                      </a:pPr>
                      <a:r>
                        <a:t>28,569m</a:t>
                      </a:r>
                    </a:p>
                  </a:txBody>
                  <a:tcPr marL="82296" marR="54864" marT="45720">
                    <a:solidFill>
                      <a:srgbClr val="FFFFFF"/>
                    </a:solidFill>
                  </a:tcPr>
                </a:tc>
                <a:tc>
                  <a:txBody>
                    <a:bodyPr/>
                    <a:lstStyle/>
                    <a:p>
                      <a:pPr>
                        <a:defRPr sz="1500" b="0">
                          <a:solidFill>
                            <a:srgbClr val="142638"/>
                          </a:solidFill>
                          <a:latin typeface="Aptos"/>
                        </a:defRPr>
                      </a:pPr>
                      <a:r>
                        <a:t>49,175m</a:t>
                      </a:r>
                    </a:p>
                  </a:txBody>
                  <a:tcPr marL="82296" marR="54864" marT="45720">
                    <a:solidFill>
                      <a:srgbClr val="FFFFFF"/>
                    </a:solidFill>
                  </a:tcPr>
                </a:tc>
              </a:tr>
              <a:tr h="508635">
                <a:tc>
                  <a:txBody>
                    <a:bodyPr/>
                    <a:lstStyle/>
                    <a:p>
                      <a:pPr>
                        <a:defRPr sz="1500" b="0">
                          <a:solidFill>
                            <a:srgbClr val="142638"/>
                          </a:solidFill>
                          <a:latin typeface="Aptos"/>
                        </a:defRPr>
                      </a:pPr>
                      <a:r>
                        <a:t>TV AS % OF EV</a:t>
                      </a:r>
                    </a:p>
                  </a:txBody>
                  <a:tcPr marL="82296" marR="54864" marT="45720">
                    <a:solidFill>
                      <a:srgbClr val="EAF3F4"/>
                    </a:solidFill>
                  </a:tcPr>
                </a:tc>
                <a:tc>
                  <a:txBody>
                    <a:bodyPr/>
                    <a:lstStyle/>
                    <a:p>
                      <a:pPr>
                        <a:defRPr sz="1500" b="0">
                          <a:solidFill>
                            <a:srgbClr val="142638"/>
                          </a:solidFill>
                          <a:latin typeface="Aptos"/>
                        </a:defRPr>
                      </a:pPr>
                      <a:r>
                        <a:t>38.3%</a:t>
                      </a:r>
                    </a:p>
                  </a:txBody>
                  <a:tcPr marL="82296" marR="54864" marT="45720">
                    <a:solidFill>
                      <a:srgbClr val="EAF3F4"/>
                    </a:solidFill>
                  </a:tcPr>
                </a:tc>
                <a:tc>
                  <a:txBody>
                    <a:bodyPr/>
                    <a:lstStyle/>
                    <a:p>
                      <a:pPr>
                        <a:defRPr sz="1500" b="0">
                          <a:solidFill>
                            <a:srgbClr val="142638"/>
                          </a:solidFill>
                          <a:latin typeface="Aptos"/>
                        </a:defRPr>
                      </a:pPr>
                      <a:r>
                        <a:t>64.2%</a:t>
                      </a:r>
                    </a:p>
                  </a:txBody>
                  <a:tcPr marL="82296" marR="54864" marT="45720">
                    <a:solidFill>
                      <a:srgbClr val="EAF3F4"/>
                    </a:solidFill>
                  </a:tcPr>
                </a:tc>
              </a:tr>
            </a:tbl>
          </a:graphicData>
        </a:graphic>
      </p:graphicFrame>
      <p:sp>
        <p:nvSpPr>
          <p:cNvPr id="9" name="TextBox 8"/>
          <p:cNvSpPr txBox="1"/>
          <p:nvPr/>
        </p:nvSpPr>
        <p:spPr>
          <a:xfrm>
            <a:off x="8138160" y="1783080"/>
            <a:ext cx="3474720" cy="640080"/>
          </a:xfrm>
          <a:prstGeom prst="rect">
            <a:avLst/>
          </a:prstGeom>
          <a:noFill/>
        </p:spPr>
        <p:txBody>
          <a:bodyPr wrap="square" lIns="18288" rIns="18288" tIns="13716">
            <a:spAutoFit/>
          </a:bodyPr>
          <a:lstStyle/>
          <a:p>
            <a:pPr>
              <a:spcAft>
                <a:spcPts val="500"/>
              </a:spcAft>
              <a:defRPr sz="2100" b="1">
                <a:solidFill>
                  <a:srgbClr val="142638"/>
                </a:solidFill>
                <a:latin typeface="Aptos"/>
              </a:defRPr>
            </a:pPr>
            <a:r>
              <a:t>No perpetual peak margin</a:t>
            </a:r>
          </a:p>
        </p:txBody>
      </p:sp>
      <p:sp>
        <p:nvSpPr>
          <p:cNvPr id="10" name="TextBox 9"/>
          <p:cNvSpPr txBox="1"/>
          <p:nvPr/>
        </p:nvSpPr>
        <p:spPr>
          <a:xfrm>
            <a:off x="8138160" y="2560320"/>
            <a:ext cx="3474720" cy="2468880"/>
          </a:xfrm>
          <a:prstGeom prst="rect">
            <a:avLst/>
          </a:prstGeom>
          <a:noFill/>
        </p:spPr>
        <p:txBody>
          <a:bodyPr wrap="square" lIns="18288" rIns="18288" tIns="13716">
            <a:spAutoFit/>
          </a:bodyPr>
          <a:lstStyle/>
          <a:p>
            <a:pPr>
              <a:spcAft>
                <a:spcPts val="500"/>
              </a:spcAft>
              <a:defRPr sz="1700" b="0">
                <a:solidFill>
                  <a:srgbClr val="142638"/>
                </a:solidFill>
                <a:latin typeface="Aptos"/>
              </a:defRPr>
            </a:pPr>
            <a:r>
              <a:t>42.5% peak → 25% terminal.</a:t>
            </a:r>
          </a:p>
          <a:p>
            <a:pPr>
              <a:spcAft>
                <a:spcPts val="500"/>
              </a:spcAft>
              <a:defRPr sz="1700" b="0">
                <a:solidFill>
                  <a:srgbClr val="142638"/>
                </a:solidFill>
                <a:latin typeface="Aptos"/>
              </a:defRPr>
            </a:pPr>
          </a:p>
          <a:p>
            <a:pPr>
              <a:spcAft>
                <a:spcPts val="500"/>
              </a:spcAft>
              <a:defRPr sz="1700" b="0">
                <a:solidFill>
                  <a:srgbClr val="142638"/>
                </a:solidFill>
                <a:latin typeface="Aptos"/>
              </a:defRPr>
            </a:pPr>
            <a:r>
              <a:t>Peer context: COHR 21.8%; MRVL 36.6% adjusted margins.</a:t>
            </a:r>
          </a:p>
          <a:p>
            <a:pPr>
              <a:spcAft>
                <a:spcPts val="500"/>
              </a:spcAft>
              <a:defRPr sz="1700" b="0">
                <a:solidFill>
                  <a:srgbClr val="142638"/>
                </a:solidFill>
                <a:latin typeface="Aptos"/>
              </a:defRPr>
            </a:pPr>
          </a:p>
          <a:p>
            <a:pPr>
              <a:spcAft>
                <a:spcPts val="500"/>
              </a:spcAft>
              <a:defRPr sz="1700" b="0">
                <a:solidFill>
                  <a:srgbClr val="142638"/>
                </a:solidFill>
                <a:latin typeface="Aptos"/>
              </a:defRPr>
            </a:pPr>
            <a:r>
              <a:t>Gordon implies only 5.6× terminal EBITDA.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10896"/>
            <a:ext cx="11247120" cy="594360"/>
          </a:xfrm>
          <a:prstGeom prst="rect">
            <a:avLst/>
          </a:prstGeom>
          <a:noFill/>
        </p:spPr>
        <p:txBody>
          <a:bodyPr wrap="square" lIns="18288" rIns="18288" tIns="13716">
            <a:spAutoFit/>
          </a:bodyPr>
          <a:lstStyle/>
          <a:p>
            <a:pPr>
              <a:spcAft>
                <a:spcPts val="500"/>
              </a:spcAft>
              <a:defRPr sz="2600" b="1">
                <a:solidFill>
                  <a:srgbClr val="142638"/>
                </a:solidFill>
                <a:latin typeface="Aptos"/>
              </a:defRPr>
            </a:pPr>
            <a:r>
              <a:t>The per-share bridge exposes the valuation gap</a:t>
            </a:r>
          </a:p>
        </p:txBody>
      </p:sp>
      <p:sp>
        <p:nvSpPr>
          <p:cNvPr id="4" name="TextBox 3"/>
          <p:cNvSpPr txBox="1"/>
          <p:nvPr/>
        </p:nvSpPr>
        <p:spPr>
          <a:xfrm>
            <a:off x="457200" y="950976"/>
            <a:ext cx="11247120" cy="457200"/>
          </a:xfrm>
          <a:prstGeom prst="rect">
            <a:avLst/>
          </a:prstGeom>
          <a:noFill/>
        </p:spPr>
        <p:txBody>
          <a:bodyPr wrap="square" lIns="18288" rIns="18288" tIns="13716">
            <a:spAutoFit/>
          </a:bodyPr>
          <a:lstStyle/>
          <a:p>
            <a:pPr>
              <a:spcAft>
                <a:spcPts val="500"/>
              </a:spcAft>
              <a:defRPr sz="1400" b="0">
                <a:solidFill>
                  <a:srgbClr val="536575"/>
                </a:solidFill>
                <a:latin typeface="Aptos"/>
              </a:defRPr>
            </a:pPr>
            <a:r>
              <a:t>Cash principal is deducted; only net conversion-premium shares enter the denominator.</a:t>
            </a:r>
          </a:p>
        </p:txBody>
      </p:sp>
      <p:sp>
        <p:nvSpPr>
          <p:cNvPr id="5" name="Rectangle 4"/>
          <p:cNvSpPr/>
          <p:nvPr/>
        </p:nvSpPr>
        <p:spPr>
          <a:xfrm>
            <a:off x="457200" y="6208776"/>
            <a:ext cx="11247120" cy="13716"/>
          </a:xfrm>
          <a:prstGeom prst="rect">
            <a:avLst/>
          </a:prstGeom>
          <a:solidFill>
            <a:srgbClr val="CDD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18504"/>
            <a:ext cx="10698480" cy="347472"/>
          </a:xfrm>
          <a:prstGeom prst="rect">
            <a:avLst/>
          </a:prstGeom>
          <a:noFill/>
        </p:spPr>
        <p:txBody>
          <a:bodyPr wrap="square" lIns="18288" rIns="18288" tIns="13716">
            <a:spAutoFit/>
          </a:bodyPr>
          <a:lstStyle/>
          <a:p>
            <a:pPr>
              <a:spcAft>
                <a:spcPts val="500"/>
              </a:spcAft>
              <a:defRPr sz="800" b="0">
                <a:solidFill>
                  <a:srgbClr val="536575"/>
                </a:solidFill>
                <a:latin typeface="Aptos"/>
              </a:defRPr>
            </a:pPr>
            <a:r>
              <a:t>Sources: S2, S3  |  AI: source extraction, model and slides; team review pending.</a:t>
            </a:r>
          </a:p>
        </p:txBody>
      </p:sp>
      <p:sp>
        <p:nvSpPr>
          <p:cNvPr id="7" name="TextBox 6"/>
          <p:cNvSpPr txBox="1"/>
          <p:nvPr/>
        </p:nvSpPr>
        <p:spPr>
          <a:xfrm>
            <a:off x="11320272" y="6291072"/>
            <a:ext cx="411480" cy="320040"/>
          </a:xfrm>
          <a:prstGeom prst="rect">
            <a:avLst/>
          </a:prstGeom>
          <a:noFill/>
        </p:spPr>
        <p:txBody>
          <a:bodyPr wrap="square" lIns="18288" rIns="18288" tIns="13716">
            <a:spAutoFit/>
          </a:bodyPr>
          <a:lstStyle/>
          <a:p>
            <a:pPr>
              <a:spcAft>
                <a:spcPts val="500"/>
              </a:spcAft>
              <a:defRPr sz="1000" b="0">
                <a:solidFill>
                  <a:srgbClr val="536575"/>
                </a:solidFill>
                <a:latin typeface="Aptos"/>
              </a:defRPr>
            </a:pPr>
            <a:r>
              <a:t>6</a:t>
            </a:r>
          </a:p>
        </p:txBody>
      </p:sp>
      <p:graphicFrame>
        <p:nvGraphicFramePr>
          <p:cNvPr id="8" name="Table 7"/>
          <p:cNvGraphicFramePr>
            <a:graphicFrameLocks noGrp="1"/>
          </p:cNvGraphicFramePr>
          <p:nvPr/>
        </p:nvGraphicFramePr>
        <p:xfrm>
          <a:off x="502920" y="1554480"/>
          <a:ext cx="7406638" cy="4160520"/>
        </p:xfrm>
        <a:graphic>
          <a:graphicData uri="http://schemas.openxmlformats.org/drawingml/2006/table">
            <a:tbl>
              <a:tblPr firstRow="1" bandRow="1">
                <a:tableStyleId>{5C22544A-7EE6-4342-B048-85BDC9FD1C3A}</a:tableStyleId>
              </a:tblPr>
              <a:tblGrid>
                <a:gridCol w="3831020"/>
                <a:gridCol w="1787809"/>
                <a:gridCol w="1787809"/>
              </a:tblGrid>
              <a:tr h="462280">
                <a:tc>
                  <a:txBody>
                    <a:bodyPr/>
                    <a:lstStyle/>
                    <a:p>
                      <a:pPr>
                        <a:defRPr sz="1400" b="1">
                          <a:solidFill>
                            <a:srgbClr val="FFFFFF"/>
                          </a:solidFill>
                          <a:latin typeface="Aptos"/>
                        </a:defRPr>
                      </a:pPr>
                      <a:r>
                        <a:t>USD m, except shares / prices</a:t>
                      </a:r>
                    </a:p>
                  </a:txBody>
                  <a:tcPr marL="82296" marR="54864" marT="45720">
                    <a:solidFill>
                      <a:srgbClr val="087F8C"/>
                    </a:solidFill>
                  </a:tcPr>
                </a:tc>
                <a:tc>
                  <a:txBody>
                    <a:bodyPr/>
                    <a:lstStyle/>
                    <a:p>
                      <a:pPr>
                        <a:defRPr sz="1400" b="1">
                          <a:solidFill>
                            <a:srgbClr val="FFFFFF"/>
                          </a:solidFill>
                          <a:latin typeface="Aptos"/>
                        </a:defRPr>
                      </a:pPr>
                      <a:r>
                        <a:t>Gordon</a:t>
                      </a:r>
                    </a:p>
                  </a:txBody>
                  <a:tcPr marL="82296" marR="54864" marT="45720">
                    <a:solidFill>
                      <a:srgbClr val="087F8C"/>
                    </a:solidFill>
                  </a:tcPr>
                </a:tc>
                <a:tc>
                  <a:txBody>
                    <a:bodyPr/>
                    <a:lstStyle/>
                    <a:p>
                      <a:pPr>
                        <a:defRPr sz="1400" b="1">
                          <a:solidFill>
                            <a:srgbClr val="FFFFFF"/>
                          </a:solidFill>
                          <a:latin typeface="Aptos"/>
                        </a:defRPr>
                      </a:pPr>
                      <a:r>
                        <a:t>Exit</a:t>
                      </a:r>
                    </a:p>
                  </a:txBody>
                  <a:tcPr marL="82296" marR="54864" marT="45720">
                    <a:solidFill>
                      <a:srgbClr val="087F8C"/>
                    </a:solidFill>
                  </a:tcPr>
                </a:tc>
              </a:tr>
              <a:tr h="462280">
                <a:tc>
                  <a:txBody>
                    <a:bodyPr/>
                    <a:lstStyle/>
                    <a:p>
                      <a:pPr>
                        <a:defRPr sz="1400" b="0">
                          <a:solidFill>
                            <a:srgbClr val="142638"/>
                          </a:solidFill>
                          <a:latin typeface="Aptos"/>
                        </a:defRPr>
                      </a:pPr>
                      <a:r>
                        <a:t>Enterprise value</a:t>
                      </a:r>
                    </a:p>
                  </a:txBody>
                  <a:tcPr marL="82296" marR="54864" marT="45720">
                    <a:solidFill>
                      <a:srgbClr val="EAF3F4"/>
                    </a:solidFill>
                  </a:tcPr>
                </a:tc>
                <a:tc>
                  <a:txBody>
                    <a:bodyPr/>
                    <a:lstStyle/>
                    <a:p>
                      <a:pPr>
                        <a:defRPr sz="1400" b="0">
                          <a:solidFill>
                            <a:srgbClr val="142638"/>
                          </a:solidFill>
                          <a:latin typeface="Aptos"/>
                        </a:defRPr>
                      </a:pPr>
                      <a:r>
                        <a:t>28,569</a:t>
                      </a:r>
                    </a:p>
                  </a:txBody>
                  <a:tcPr marL="82296" marR="54864" marT="45720">
                    <a:solidFill>
                      <a:srgbClr val="EAF3F4"/>
                    </a:solidFill>
                  </a:tcPr>
                </a:tc>
                <a:tc>
                  <a:txBody>
                    <a:bodyPr/>
                    <a:lstStyle/>
                    <a:p>
                      <a:pPr>
                        <a:defRPr sz="1400" b="0">
                          <a:solidFill>
                            <a:srgbClr val="142638"/>
                          </a:solidFill>
                          <a:latin typeface="Aptos"/>
                        </a:defRPr>
                      </a:pPr>
                      <a:r>
                        <a:t>49,175</a:t>
                      </a:r>
                    </a:p>
                  </a:txBody>
                  <a:tcPr marL="82296" marR="54864" marT="45720">
                    <a:solidFill>
                      <a:srgbClr val="EAF3F4"/>
                    </a:solidFill>
                  </a:tcPr>
                </a:tc>
              </a:tr>
              <a:tr h="462280">
                <a:tc>
                  <a:txBody>
                    <a:bodyPr/>
                    <a:lstStyle/>
                    <a:p>
                      <a:pPr>
                        <a:defRPr sz="1400" b="0">
                          <a:solidFill>
                            <a:srgbClr val="142638"/>
                          </a:solidFill>
                          <a:latin typeface="Aptos"/>
                        </a:defRPr>
                      </a:pPr>
                      <a:r>
                        <a:t>Add cash / short-term investments</a:t>
                      </a:r>
                    </a:p>
                  </a:txBody>
                  <a:tcPr marL="82296" marR="54864" marT="45720">
                    <a:solidFill>
                      <a:srgbClr val="FFFFFF"/>
                    </a:solidFill>
                  </a:tcPr>
                </a:tc>
                <a:tc>
                  <a:txBody>
                    <a:bodyPr/>
                    <a:lstStyle/>
                    <a:p>
                      <a:pPr>
                        <a:defRPr sz="1400" b="0">
                          <a:solidFill>
                            <a:srgbClr val="142638"/>
                          </a:solidFill>
                          <a:latin typeface="Aptos"/>
                        </a:defRPr>
                      </a:pPr>
                      <a:r>
                        <a:t>2,738</a:t>
                      </a:r>
                    </a:p>
                  </a:txBody>
                  <a:tcPr marL="82296" marR="54864" marT="45720">
                    <a:solidFill>
                      <a:srgbClr val="FFFFFF"/>
                    </a:solidFill>
                  </a:tcPr>
                </a:tc>
                <a:tc>
                  <a:txBody>
                    <a:bodyPr/>
                    <a:lstStyle/>
                    <a:p>
                      <a:pPr>
                        <a:defRPr sz="1400" b="0">
                          <a:solidFill>
                            <a:srgbClr val="142638"/>
                          </a:solidFill>
                          <a:latin typeface="Aptos"/>
                        </a:defRPr>
                      </a:pPr>
                      <a:r>
                        <a:t>2,738</a:t>
                      </a:r>
                    </a:p>
                  </a:txBody>
                  <a:tcPr marL="82296" marR="54864" marT="45720">
                    <a:solidFill>
                      <a:srgbClr val="FFFFFF"/>
                    </a:solidFill>
                  </a:tcPr>
                </a:tc>
              </a:tr>
              <a:tr h="462280">
                <a:tc>
                  <a:txBody>
                    <a:bodyPr/>
                    <a:lstStyle/>
                    <a:p>
                      <a:pPr>
                        <a:defRPr sz="1400" b="0">
                          <a:solidFill>
                            <a:srgbClr val="142638"/>
                          </a:solidFill>
                          <a:latin typeface="Aptos"/>
                        </a:defRPr>
                      </a:pPr>
                      <a:r>
                        <a:t>Less debt principal</a:t>
                      </a:r>
                    </a:p>
                  </a:txBody>
                  <a:tcPr marL="82296" marR="54864" marT="45720">
                    <a:solidFill>
                      <a:srgbClr val="EAF3F4"/>
                    </a:solidFill>
                  </a:tcPr>
                </a:tc>
                <a:tc>
                  <a:txBody>
                    <a:bodyPr/>
                    <a:lstStyle/>
                    <a:p>
                      <a:pPr>
                        <a:defRPr sz="1400" b="0">
                          <a:solidFill>
                            <a:srgbClr val="142638"/>
                          </a:solidFill>
                          <a:latin typeface="Aptos"/>
                        </a:defRPr>
                      </a:pPr>
                      <a:r>
                        <a:t>-1,647</a:t>
                      </a:r>
                    </a:p>
                  </a:txBody>
                  <a:tcPr marL="82296" marR="54864" marT="45720">
                    <a:solidFill>
                      <a:srgbClr val="EAF3F4"/>
                    </a:solidFill>
                  </a:tcPr>
                </a:tc>
                <a:tc>
                  <a:txBody>
                    <a:bodyPr/>
                    <a:lstStyle/>
                    <a:p>
                      <a:pPr>
                        <a:defRPr sz="1400" b="0">
                          <a:solidFill>
                            <a:srgbClr val="142638"/>
                          </a:solidFill>
                          <a:latin typeface="Aptos"/>
                        </a:defRPr>
                      </a:pPr>
                      <a:r>
                        <a:t>-1,647</a:t>
                      </a:r>
                    </a:p>
                  </a:txBody>
                  <a:tcPr marL="82296" marR="54864" marT="45720">
                    <a:solidFill>
                      <a:srgbClr val="EAF3F4"/>
                    </a:solidFill>
                  </a:tcPr>
                </a:tc>
              </a:tr>
              <a:tr h="462280">
                <a:tc>
                  <a:txBody>
                    <a:bodyPr/>
                    <a:lstStyle/>
                    <a:p>
                      <a:pPr>
                        <a:defRPr sz="1400" b="0">
                          <a:solidFill>
                            <a:srgbClr val="142638"/>
                          </a:solidFill>
                          <a:latin typeface="Aptos"/>
                        </a:defRPr>
                      </a:pPr>
                      <a:r>
                        <a:t>Less minority / senior preferred</a:t>
                      </a:r>
                    </a:p>
                  </a:txBody>
                  <a:tcPr marL="82296" marR="54864" marT="45720">
                    <a:solidFill>
                      <a:srgbClr val="FFFFFF"/>
                    </a:solidFill>
                  </a:tcPr>
                </a:tc>
                <a:tc>
                  <a:txBody>
                    <a:bodyPr/>
                    <a:lstStyle/>
                    <a:p>
                      <a:pPr>
                        <a:defRPr sz="1400" b="0">
                          <a:solidFill>
                            <a:srgbClr val="142638"/>
                          </a:solidFill>
                          <a:latin typeface="Aptos"/>
                        </a:defRPr>
                      </a:pPr>
                      <a:r>
                        <a:t>0 / 0</a:t>
                      </a:r>
                    </a:p>
                  </a:txBody>
                  <a:tcPr marL="82296" marR="54864" marT="45720">
                    <a:solidFill>
                      <a:srgbClr val="FFFFFF"/>
                    </a:solidFill>
                  </a:tcPr>
                </a:tc>
                <a:tc>
                  <a:txBody>
                    <a:bodyPr/>
                    <a:lstStyle/>
                    <a:p>
                      <a:pPr>
                        <a:defRPr sz="1400" b="0">
                          <a:solidFill>
                            <a:srgbClr val="142638"/>
                          </a:solidFill>
                          <a:latin typeface="Aptos"/>
                        </a:defRPr>
                      </a:pPr>
                      <a:r>
                        <a:t>0 / 0</a:t>
                      </a:r>
                    </a:p>
                  </a:txBody>
                  <a:tcPr marL="82296" marR="54864" marT="45720">
                    <a:solidFill>
                      <a:srgbClr val="FFFFFF"/>
                    </a:solidFill>
                  </a:tcPr>
                </a:tc>
              </a:tr>
              <a:tr h="462280">
                <a:tc>
                  <a:txBody>
                    <a:bodyPr/>
                    <a:lstStyle/>
                    <a:p>
                      <a:pPr>
                        <a:defRPr sz="1400" b="0">
                          <a:solidFill>
                            <a:srgbClr val="142638"/>
                          </a:solidFill>
                          <a:latin typeface="Aptos"/>
                        </a:defRPr>
                      </a:pPr>
                      <a:r>
                        <a:t>Equity after cash principal</a:t>
                      </a:r>
                    </a:p>
                  </a:txBody>
                  <a:tcPr marL="82296" marR="54864" marT="45720">
                    <a:solidFill>
                      <a:srgbClr val="EAF3F4"/>
                    </a:solidFill>
                  </a:tcPr>
                </a:tc>
                <a:tc>
                  <a:txBody>
                    <a:bodyPr/>
                    <a:lstStyle/>
                    <a:p>
                      <a:pPr>
                        <a:defRPr sz="1400" b="0">
                          <a:solidFill>
                            <a:srgbClr val="142638"/>
                          </a:solidFill>
                          <a:latin typeface="Aptos"/>
                        </a:defRPr>
                      </a:pPr>
                      <a:r>
                        <a:t>29,660</a:t>
                      </a:r>
                    </a:p>
                  </a:txBody>
                  <a:tcPr marL="82296" marR="54864" marT="45720">
                    <a:solidFill>
                      <a:srgbClr val="EAF3F4"/>
                    </a:solidFill>
                  </a:tcPr>
                </a:tc>
                <a:tc>
                  <a:txBody>
                    <a:bodyPr/>
                    <a:lstStyle/>
                    <a:p>
                      <a:pPr>
                        <a:defRPr sz="1400" b="0">
                          <a:solidFill>
                            <a:srgbClr val="142638"/>
                          </a:solidFill>
                          <a:latin typeface="Aptos"/>
                        </a:defRPr>
                      </a:pPr>
                      <a:r>
                        <a:t>50,266</a:t>
                      </a:r>
                    </a:p>
                  </a:txBody>
                  <a:tcPr marL="82296" marR="54864" marT="45720">
                    <a:solidFill>
                      <a:srgbClr val="EAF3F4"/>
                    </a:solidFill>
                  </a:tcPr>
                </a:tc>
              </a:tr>
              <a:tr h="462280">
                <a:tc>
                  <a:txBody>
                    <a:bodyPr/>
                    <a:lstStyle/>
                    <a:p>
                      <a:pPr>
                        <a:defRPr sz="1400" b="0">
                          <a:solidFill>
                            <a:srgbClr val="142638"/>
                          </a:solidFill>
                          <a:latin typeface="Aptos"/>
                        </a:defRPr>
                      </a:pPr>
                      <a:r>
                        <a:t>Core + net conversion shares</a:t>
                      </a:r>
                    </a:p>
                  </a:txBody>
                  <a:tcPr marL="82296" marR="54864" marT="45720">
                    <a:solidFill>
                      <a:srgbClr val="FFFFFF"/>
                    </a:solidFill>
                  </a:tcPr>
                </a:tc>
                <a:tc>
                  <a:txBody>
                    <a:bodyPr/>
                    <a:lstStyle/>
                    <a:p>
                      <a:pPr>
                        <a:defRPr sz="1400" b="0">
                          <a:solidFill>
                            <a:srgbClr val="142638"/>
                          </a:solidFill>
                          <a:latin typeface="Aptos"/>
                        </a:defRPr>
                      </a:pPr>
                      <a:r>
                        <a:t>98.77m</a:t>
                      </a:r>
                    </a:p>
                  </a:txBody>
                  <a:tcPr marL="82296" marR="54864" marT="45720">
                    <a:solidFill>
                      <a:srgbClr val="FFFFFF"/>
                    </a:solidFill>
                  </a:tcPr>
                </a:tc>
                <a:tc>
                  <a:txBody>
                    <a:bodyPr/>
                    <a:lstStyle/>
                    <a:p>
                      <a:pPr>
                        <a:defRPr sz="1400" b="0">
                          <a:solidFill>
                            <a:srgbClr val="142638"/>
                          </a:solidFill>
                          <a:latin typeface="Aptos"/>
                        </a:defRPr>
                      </a:pPr>
                      <a:r>
                        <a:t>100.83m</a:t>
                      </a:r>
                    </a:p>
                  </a:txBody>
                  <a:tcPr marL="82296" marR="54864" marT="45720">
                    <a:solidFill>
                      <a:srgbClr val="FFFFFF"/>
                    </a:solidFill>
                  </a:tcPr>
                </a:tc>
              </a:tr>
              <a:tr h="462280">
                <a:tc>
                  <a:txBody>
                    <a:bodyPr/>
                    <a:lstStyle/>
                    <a:p>
                      <a:pPr>
                        <a:defRPr sz="1400" b="0">
                          <a:solidFill>
                            <a:srgbClr val="142638"/>
                          </a:solidFill>
                          <a:latin typeface="Aptos"/>
                        </a:defRPr>
                      </a:pPr>
                      <a:r>
                        <a:t>Value per share</a:t>
                      </a:r>
                    </a:p>
                  </a:txBody>
                  <a:tcPr marL="82296" marR="54864" marT="45720">
                    <a:solidFill>
                      <a:srgbClr val="EAF3F4"/>
                    </a:solidFill>
                  </a:tcPr>
                </a:tc>
                <a:tc>
                  <a:txBody>
                    <a:bodyPr/>
                    <a:lstStyle/>
                    <a:p>
                      <a:pPr>
                        <a:defRPr sz="1400" b="0">
                          <a:solidFill>
                            <a:srgbClr val="142638"/>
                          </a:solidFill>
                          <a:latin typeface="Aptos"/>
                        </a:defRPr>
                      </a:pPr>
                      <a:r>
                        <a:t>$300</a:t>
                      </a:r>
                    </a:p>
                  </a:txBody>
                  <a:tcPr marL="82296" marR="54864" marT="45720">
                    <a:solidFill>
                      <a:srgbClr val="EAF3F4"/>
                    </a:solidFill>
                  </a:tcPr>
                </a:tc>
                <a:tc>
                  <a:txBody>
                    <a:bodyPr/>
                    <a:lstStyle/>
                    <a:p>
                      <a:pPr>
                        <a:defRPr sz="1400" b="0">
                          <a:solidFill>
                            <a:srgbClr val="142638"/>
                          </a:solidFill>
                          <a:latin typeface="Aptos"/>
                        </a:defRPr>
                      </a:pPr>
                      <a:r>
                        <a:t>$499</a:t>
                      </a:r>
                    </a:p>
                  </a:txBody>
                  <a:tcPr marL="82296" marR="54864" marT="45720">
                    <a:solidFill>
                      <a:srgbClr val="EAF3F4"/>
                    </a:solidFill>
                  </a:tcPr>
                </a:tc>
              </a:tr>
              <a:tr h="462280">
                <a:tc>
                  <a:txBody>
                    <a:bodyPr/>
                    <a:lstStyle/>
                    <a:p>
                      <a:pPr>
                        <a:defRPr sz="1400" b="0">
                          <a:solidFill>
                            <a:srgbClr val="142638"/>
                          </a:solidFill>
                          <a:latin typeface="Aptos"/>
                        </a:defRPr>
                      </a:pPr>
                      <a:r>
                        <a:t>Upside / downside vs $894</a:t>
                      </a:r>
                    </a:p>
                  </a:txBody>
                  <a:tcPr marL="82296" marR="54864" marT="45720">
                    <a:solidFill>
                      <a:srgbClr val="FFFFFF"/>
                    </a:solidFill>
                  </a:tcPr>
                </a:tc>
                <a:tc>
                  <a:txBody>
                    <a:bodyPr/>
                    <a:lstStyle/>
                    <a:p>
                      <a:pPr>
                        <a:defRPr sz="1400" b="0">
                          <a:solidFill>
                            <a:srgbClr val="142638"/>
                          </a:solidFill>
                          <a:latin typeface="Aptos"/>
                        </a:defRPr>
                      </a:pPr>
                      <a:r>
                        <a:t>-66.4%</a:t>
                      </a:r>
                    </a:p>
                  </a:txBody>
                  <a:tcPr marL="82296" marR="54864" marT="45720">
                    <a:solidFill>
                      <a:srgbClr val="FFFFFF"/>
                    </a:solidFill>
                  </a:tcPr>
                </a:tc>
                <a:tc>
                  <a:txBody>
                    <a:bodyPr/>
                    <a:lstStyle/>
                    <a:p>
                      <a:pPr>
                        <a:defRPr sz="1400" b="0">
                          <a:solidFill>
                            <a:srgbClr val="142638"/>
                          </a:solidFill>
                          <a:latin typeface="Aptos"/>
                        </a:defRPr>
                      </a:pPr>
                      <a:r>
                        <a:t>-44.2%</a:t>
                      </a:r>
                    </a:p>
                  </a:txBody>
                  <a:tcPr marL="82296" marR="54864" marT="45720">
                    <a:solidFill>
                      <a:srgbClr val="FFFFFF"/>
                    </a:solidFill>
                  </a:tcPr>
                </a:tc>
              </a:tr>
            </a:tbl>
          </a:graphicData>
        </a:graphic>
      </p:graphicFrame>
      <p:sp>
        <p:nvSpPr>
          <p:cNvPr id="9" name="Rectangle 8"/>
          <p:cNvSpPr/>
          <p:nvPr/>
        </p:nvSpPr>
        <p:spPr>
          <a:xfrm>
            <a:off x="8229600" y="1691640"/>
            <a:ext cx="3429000" cy="3913632"/>
          </a:xfrm>
          <a:prstGeom prst="rect">
            <a:avLst/>
          </a:prstGeom>
          <a:solidFill>
            <a:srgbClr val="FFF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94192" y="1874519"/>
            <a:ext cx="3090672" cy="3520440"/>
          </a:xfrm>
          <a:prstGeom prst="rect">
            <a:avLst/>
          </a:prstGeom>
          <a:noFill/>
        </p:spPr>
        <p:txBody>
          <a:bodyPr wrap="square" lIns="18288" rIns="18288" tIns="13716">
            <a:spAutoFit/>
          </a:bodyPr>
          <a:lstStyle/>
          <a:p>
            <a:pPr>
              <a:spcAft>
                <a:spcPts val="500"/>
              </a:spcAft>
              <a:defRPr sz="1800" b="0">
                <a:solidFill>
                  <a:srgbClr val="142638"/>
                </a:solidFill>
                <a:latin typeface="Aptos"/>
              </a:defRPr>
            </a:pPr>
            <a:r>
              <a:t>Interpretation</a:t>
            </a:r>
          </a:p>
          <a:p>
            <a:pPr>
              <a:spcAft>
                <a:spcPts val="500"/>
              </a:spcAft>
              <a:defRPr sz="1800" b="0">
                <a:solidFill>
                  <a:srgbClr val="142638"/>
                </a:solidFill>
                <a:latin typeface="Aptos"/>
              </a:defRPr>
            </a:pPr>
          </a:p>
          <a:p>
            <a:pPr>
              <a:spcAft>
                <a:spcPts val="500"/>
              </a:spcAft>
              <a:defRPr sz="1800" b="0">
                <a:solidFill>
                  <a:srgbClr val="142638"/>
                </a:solidFill>
                <a:latin typeface="Aptos"/>
              </a:defRPr>
            </a:pPr>
            <a:r>
              <a:t>The operating Bull case is not enough to support today’s price under these conservative valuation assumptions.</a:t>
            </a:r>
          </a:p>
          <a:p>
            <a:pPr>
              <a:spcAft>
                <a:spcPts val="500"/>
              </a:spcAft>
              <a:defRPr sz="1800" b="0">
                <a:solidFill>
                  <a:srgbClr val="142638"/>
                </a:solidFill>
                <a:latin typeface="Aptos"/>
              </a:defRPr>
            </a:pPr>
          </a:p>
          <a:p>
            <a:pPr>
              <a:spcAft>
                <a:spcPts val="500"/>
              </a:spcAft>
              <a:defRPr sz="1800" b="0">
                <a:solidFill>
                  <a:srgbClr val="142638"/>
                </a:solidFill>
                <a:latin typeface="Aptos"/>
              </a:defRPr>
            </a:pPr>
            <a:r>
              <a:t>A sentiment rebound is possible; it is not a DCF-derived target.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10896"/>
            <a:ext cx="11247120" cy="594360"/>
          </a:xfrm>
          <a:prstGeom prst="rect">
            <a:avLst/>
          </a:prstGeom>
          <a:noFill/>
        </p:spPr>
        <p:txBody>
          <a:bodyPr wrap="square" lIns="18288" rIns="18288" tIns="13716">
            <a:spAutoFit/>
          </a:bodyPr>
          <a:lstStyle/>
          <a:p>
            <a:pPr>
              <a:spcAft>
                <a:spcPts val="500"/>
              </a:spcAft>
              <a:defRPr sz="2600" b="1">
                <a:solidFill>
                  <a:srgbClr val="142638"/>
                </a:solidFill>
                <a:latin typeface="Aptos"/>
              </a:defRPr>
            </a:pPr>
            <a:r>
              <a:t>Sensitivity: neither terminal convention hides the risk</a:t>
            </a:r>
          </a:p>
        </p:txBody>
      </p:sp>
      <p:sp>
        <p:nvSpPr>
          <p:cNvPr id="4" name="TextBox 3"/>
          <p:cNvSpPr txBox="1"/>
          <p:nvPr/>
        </p:nvSpPr>
        <p:spPr>
          <a:xfrm>
            <a:off x="457200" y="950976"/>
            <a:ext cx="11247120" cy="457200"/>
          </a:xfrm>
          <a:prstGeom prst="rect">
            <a:avLst/>
          </a:prstGeom>
          <a:noFill/>
        </p:spPr>
        <p:txBody>
          <a:bodyPr wrap="square" lIns="18288" rIns="18288" tIns="13716">
            <a:spAutoFit/>
          </a:bodyPr>
          <a:lstStyle/>
          <a:p>
            <a:pPr>
              <a:spcAft>
                <a:spcPts val="500"/>
              </a:spcAft>
              <a:defRPr sz="1400" b="0">
                <a:solidFill>
                  <a:srgbClr val="536575"/>
                </a:solidFill>
                <a:latin typeface="Aptos"/>
              </a:defRPr>
            </a:pPr>
            <a:r>
              <a:t>Bull cash flows; blue-axis inputs are editable in Excel. Values shown are dollars per share.</a:t>
            </a:r>
          </a:p>
        </p:txBody>
      </p:sp>
      <p:sp>
        <p:nvSpPr>
          <p:cNvPr id="5" name="Rectangle 4"/>
          <p:cNvSpPr/>
          <p:nvPr/>
        </p:nvSpPr>
        <p:spPr>
          <a:xfrm>
            <a:off x="457200" y="6208776"/>
            <a:ext cx="11247120" cy="13716"/>
          </a:xfrm>
          <a:prstGeom prst="rect">
            <a:avLst/>
          </a:prstGeom>
          <a:solidFill>
            <a:srgbClr val="CDD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18504"/>
            <a:ext cx="10698480" cy="347472"/>
          </a:xfrm>
          <a:prstGeom prst="rect">
            <a:avLst/>
          </a:prstGeom>
          <a:noFill/>
        </p:spPr>
        <p:txBody>
          <a:bodyPr wrap="square" lIns="18288" rIns="18288" tIns="13716">
            <a:spAutoFit/>
          </a:bodyPr>
          <a:lstStyle/>
          <a:p>
            <a:pPr>
              <a:spcAft>
                <a:spcPts val="500"/>
              </a:spcAft>
              <a:defRPr sz="800" b="0">
                <a:solidFill>
                  <a:srgbClr val="536575"/>
                </a:solidFill>
                <a:latin typeface="Aptos"/>
              </a:defRPr>
            </a:pPr>
            <a:r>
              <a:t>Sources: S1, S2, S6, S7  |  AI: source extraction, model and slides; team review pending.</a:t>
            </a:r>
          </a:p>
        </p:txBody>
      </p:sp>
      <p:sp>
        <p:nvSpPr>
          <p:cNvPr id="7" name="TextBox 6"/>
          <p:cNvSpPr txBox="1"/>
          <p:nvPr/>
        </p:nvSpPr>
        <p:spPr>
          <a:xfrm>
            <a:off x="11320272" y="6291072"/>
            <a:ext cx="411480" cy="320040"/>
          </a:xfrm>
          <a:prstGeom prst="rect">
            <a:avLst/>
          </a:prstGeom>
          <a:noFill/>
        </p:spPr>
        <p:txBody>
          <a:bodyPr wrap="square" lIns="18288" rIns="18288" tIns="13716">
            <a:spAutoFit/>
          </a:bodyPr>
          <a:lstStyle/>
          <a:p>
            <a:pPr>
              <a:spcAft>
                <a:spcPts val="500"/>
              </a:spcAft>
              <a:defRPr sz="1000" b="0">
                <a:solidFill>
                  <a:srgbClr val="536575"/>
                </a:solidFill>
                <a:latin typeface="Aptos"/>
              </a:defRPr>
            </a:pPr>
            <a:r>
              <a:t>7</a:t>
            </a:r>
          </a:p>
        </p:txBody>
      </p:sp>
      <p:graphicFrame>
        <p:nvGraphicFramePr>
          <p:cNvPr id="8" name="Table 7"/>
          <p:cNvGraphicFramePr>
            <a:graphicFrameLocks noGrp="1"/>
          </p:cNvGraphicFramePr>
          <p:nvPr/>
        </p:nvGraphicFramePr>
        <p:xfrm>
          <a:off x="502920" y="1783080"/>
          <a:ext cx="5486399" cy="2880360"/>
        </p:xfrm>
        <a:graphic>
          <a:graphicData uri="http://schemas.openxmlformats.org/drawingml/2006/table">
            <a:tbl>
              <a:tblPr firstRow="1" bandRow="1">
                <a:tableStyleId>{5C22544A-7EE6-4342-B048-85BDC9FD1C3A}</a:tableStyleId>
              </a:tblPr>
              <a:tblGrid>
                <a:gridCol w="1132114"/>
                <a:gridCol w="870857"/>
                <a:gridCol w="870857"/>
                <a:gridCol w="870857"/>
                <a:gridCol w="870857"/>
                <a:gridCol w="870857"/>
              </a:tblGrid>
              <a:tr h="480060">
                <a:tc>
                  <a:txBody>
                    <a:bodyPr/>
                    <a:lstStyle/>
                    <a:p>
                      <a:pPr>
                        <a:defRPr sz="1200" b="1">
                          <a:solidFill>
                            <a:srgbClr val="FFFFFF"/>
                          </a:solidFill>
                          <a:latin typeface="Aptos"/>
                        </a:defRPr>
                      </a:pPr>
                      <a:r>
                        <a:t>WACC / g</a:t>
                      </a:r>
                    </a:p>
                  </a:txBody>
                  <a:tcPr marL="82296" marR="54864" marT="45720">
                    <a:solidFill>
                      <a:srgbClr val="087F8C"/>
                    </a:solidFill>
                  </a:tcPr>
                </a:tc>
                <a:tc>
                  <a:txBody>
                    <a:bodyPr/>
                    <a:lstStyle/>
                    <a:p>
                      <a:pPr>
                        <a:defRPr sz="1200" b="1">
                          <a:solidFill>
                            <a:srgbClr val="FFFFFF"/>
                          </a:solidFill>
                          <a:latin typeface="Aptos"/>
                        </a:defRPr>
                      </a:pPr>
                      <a:r>
                        <a:t>2.0%</a:t>
                      </a:r>
                    </a:p>
                  </a:txBody>
                  <a:tcPr marL="82296" marR="54864" marT="45720">
                    <a:solidFill>
                      <a:srgbClr val="087F8C"/>
                    </a:solidFill>
                  </a:tcPr>
                </a:tc>
                <a:tc>
                  <a:txBody>
                    <a:bodyPr/>
                    <a:lstStyle/>
                    <a:p>
                      <a:pPr>
                        <a:defRPr sz="1200" b="1">
                          <a:solidFill>
                            <a:srgbClr val="FFFFFF"/>
                          </a:solidFill>
                          <a:latin typeface="Aptos"/>
                        </a:defRPr>
                      </a:pPr>
                      <a:r>
                        <a:t>2.5%</a:t>
                      </a:r>
                    </a:p>
                  </a:txBody>
                  <a:tcPr marL="82296" marR="54864" marT="45720">
                    <a:solidFill>
                      <a:srgbClr val="087F8C"/>
                    </a:solidFill>
                  </a:tcPr>
                </a:tc>
                <a:tc>
                  <a:txBody>
                    <a:bodyPr/>
                    <a:lstStyle/>
                    <a:p>
                      <a:pPr>
                        <a:defRPr sz="1200" b="1">
                          <a:solidFill>
                            <a:srgbClr val="FFFFFF"/>
                          </a:solidFill>
                          <a:latin typeface="Aptos"/>
                        </a:defRPr>
                      </a:pPr>
                      <a:r>
                        <a:t>3.0%</a:t>
                      </a:r>
                    </a:p>
                  </a:txBody>
                  <a:tcPr marL="82296" marR="54864" marT="45720">
                    <a:solidFill>
                      <a:srgbClr val="087F8C"/>
                    </a:solidFill>
                  </a:tcPr>
                </a:tc>
                <a:tc>
                  <a:txBody>
                    <a:bodyPr/>
                    <a:lstStyle/>
                    <a:p>
                      <a:pPr>
                        <a:defRPr sz="1200" b="1">
                          <a:solidFill>
                            <a:srgbClr val="FFFFFF"/>
                          </a:solidFill>
                          <a:latin typeface="Aptos"/>
                        </a:defRPr>
                      </a:pPr>
                      <a:r>
                        <a:t>3.5%</a:t>
                      </a:r>
                    </a:p>
                  </a:txBody>
                  <a:tcPr marL="82296" marR="54864" marT="45720">
                    <a:solidFill>
                      <a:srgbClr val="087F8C"/>
                    </a:solidFill>
                  </a:tcPr>
                </a:tc>
                <a:tc>
                  <a:txBody>
                    <a:bodyPr/>
                    <a:lstStyle/>
                    <a:p>
                      <a:pPr>
                        <a:defRPr sz="1200" b="1">
                          <a:solidFill>
                            <a:srgbClr val="FFFFFF"/>
                          </a:solidFill>
                          <a:latin typeface="Aptos"/>
                        </a:defRPr>
                      </a:pPr>
                      <a:r>
                        <a:t>4.0%</a:t>
                      </a:r>
                    </a:p>
                  </a:txBody>
                  <a:tcPr marL="82296" marR="54864" marT="45720">
                    <a:solidFill>
                      <a:srgbClr val="087F8C"/>
                    </a:solidFill>
                  </a:tcPr>
                </a:tc>
              </a:tr>
              <a:tr h="480060">
                <a:tc>
                  <a:txBody>
                    <a:bodyPr/>
                    <a:lstStyle/>
                    <a:p>
                      <a:pPr>
                        <a:defRPr sz="1200" b="0">
                          <a:solidFill>
                            <a:srgbClr val="142638"/>
                          </a:solidFill>
                          <a:latin typeface="Aptos"/>
                        </a:defRPr>
                      </a:pPr>
                      <a:r>
                        <a:t>11.97%</a:t>
                      </a:r>
                    </a:p>
                  </a:txBody>
                  <a:tcPr marL="82296" marR="54864" marT="45720">
                    <a:solidFill>
                      <a:srgbClr val="EAF3F4"/>
                    </a:solidFill>
                  </a:tcPr>
                </a:tc>
                <a:tc>
                  <a:txBody>
                    <a:bodyPr/>
                    <a:lstStyle/>
                    <a:p>
                      <a:pPr>
                        <a:defRPr sz="1200" b="0">
                          <a:solidFill>
                            <a:srgbClr val="142638"/>
                          </a:solidFill>
                          <a:latin typeface="Aptos"/>
                        </a:defRPr>
                      </a:pPr>
                      <a:r>
                        <a:t>$350</a:t>
                      </a:r>
                    </a:p>
                  </a:txBody>
                  <a:tcPr marL="82296" marR="54864" marT="45720">
                    <a:solidFill>
                      <a:srgbClr val="EAF3F4"/>
                    </a:solidFill>
                  </a:tcPr>
                </a:tc>
                <a:tc>
                  <a:txBody>
                    <a:bodyPr/>
                    <a:lstStyle/>
                    <a:p>
                      <a:pPr>
                        <a:defRPr sz="1200" b="0">
                          <a:solidFill>
                            <a:srgbClr val="142638"/>
                          </a:solidFill>
                          <a:latin typeface="Aptos"/>
                        </a:defRPr>
                      </a:pPr>
                      <a:r>
                        <a:t>$357</a:t>
                      </a:r>
                    </a:p>
                  </a:txBody>
                  <a:tcPr marL="82296" marR="54864" marT="45720">
                    <a:solidFill>
                      <a:srgbClr val="EAF3F4"/>
                    </a:solidFill>
                  </a:tcPr>
                </a:tc>
                <a:tc>
                  <a:txBody>
                    <a:bodyPr/>
                    <a:lstStyle/>
                    <a:p>
                      <a:pPr>
                        <a:defRPr sz="1200" b="0">
                          <a:solidFill>
                            <a:srgbClr val="142638"/>
                          </a:solidFill>
                          <a:latin typeface="Aptos"/>
                        </a:defRPr>
                      </a:pPr>
                      <a:r>
                        <a:t>$365</a:t>
                      </a:r>
                    </a:p>
                  </a:txBody>
                  <a:tcPr marL="82296" marR="54864" marT="45720">
                    <a:solidFill>
                      <a:srgbClr val="EAF3F4"/>
                    </a:solidFill>
                  </a:tcPr>
                </a:tc>
                <a:tc>
                  <a:txBody>
                    <a:bodyPr/>
                    <a:lstStyle/>
                    <a:p>
                      <a:pPr>
                        <a:defRPr sz="1200" b="0">
                          <a:solidFill>
                            <a:srgbClr val="142638"/>
                          </a:solidFill>
                          <a:latin typeface="Aptos"/>
                        </a:defRPr>
                      </a:pPr>
                      <a:r>
                        <a:t>$374</a:t>
                      </a:r>
                    </a:p>
                  </a:txBody>
                  <a:tcPr marL="82296" marR="54864" marT="45720">
                    <a:solidFill>
                      <a:srgbClr val="EAF3F4"/>
                    </a:solidFill>
                  </a:tcPr>
                </a:tc>
                <a:tc>
                  <a:txBody>
                    <a:bodyPr/>
                    <a:lstStyle/>
                    <a:p>
                      <a:pPr>
                        <a:defRPr sz="1200" b="0">
                          <a:solidFill>
                            <a:srgbClr val="142638"/>
                          </a:solidFill>
                          <a:latin typeface="Aptos"/>
                        </a:defRPr>
                      </a:pPr>
                      <a:r>
                        <a:t>$384</a:t>
                      </a:r>
                    </a:p>
                  </a:txBody>
                  <a:tcPr marL="82296" marR="54864" marT="45720">
                    <a:solidFill>
                      <a:srgbClr val="EAF3F4"/>
                    </a:solidFill>
                  </a:tcPr>
                </a:tc>
              </a:tr>
              <a:tr h="480060">
                <a:tc>
                  <a:txBody>
                    <a:bodyPr/>
                    <a:lstStyle/>
                    <a:p>
                      <a:pPr>
                        <a:defRPr sz="1200" b="0">
                          <a:solidFill>
                            <a:srgbClr val="142638"/>
                          </a:solidFill>
                          <a:latin typeface="Aptos"/>
                        </a:defRPr>
                      </a:pPr>
                      <a:r>
                        <a:t>12.97%</a:t>
                      </a:r>
                    </a:p>
                  </a:txBody>
                  <a:tcPr marL="82296" marR="54864" marT="45720">
                    <a:solidFill>
                      <a:srgbClr val="FFFFFF"/>
                    </a:solidFill>
                  </a:tcPr>
                </a:tc>
                <a:tc>
                  <a:txBody>
                    <a:bodyPr/>
                    <a:lstStyle/>
                    <a:p>
                      <a:pPr>
                        <a:defRPr sz="1200" b="0">
                          <a:solidFill>
                            <a:srgbClr val="142638"/>
                          </a:solidFill>
                          <a:latin typeface="Aptos"/>
                        </a:defRPr>
                      </a:pPr>
                      <a:r>
                        <a:t>$318</a:t>
                      </a:r>
                    </a:p>
                  </a:txBody>
                  <a:tcPr marL="82296" marR="54864" marT="45720">
                    <a:solidFill>
                      <a:srgbClr val="FFFFFF"/>
                    </a:solidFill>
                  </a:tcPr>
                </a:tc>
                <a:tc>
                  <a:txBody>
                    <a:bodyPr/>
                    <a:lstStyle/>
                    <a:p>
                      <a:pPr>
                        <a:defRPr sz="1200" b="0">
                          <a:solidFill>
                            <a:srgbClr val="142638"/>
                          </a:solidFill>
                          <a:latin typeface="Aptos"/>
                        </a:defRPr>
                      </a:pPr>
                      <a:r>
                        <a:t>$324</a:t>
                      </a:r>
                    </a:p>
                  </a:txBody>
                  <a:tcPr marL="82296" marR="54864" marT="45720">
                    <a:solidFill>
                      <a:srgbClr val="FFFFFF"/>
                    </a:solidFill>
                  </a:tcPr>
                </a:tc>
                <a:tc>
                  <a:txBody>
                    <a:bodyPr/>
                    <a:lstStyle/>
                    <a:p>
                      <a:pPr>
                        <a:defRPr sz="1200" b="0">
                          <a:solidFill>
                            <a:srgbClr val="142638"/>
                          </a:solidFill>
                          <a:latin typeface="Aptos"/>
                        </a:defRPr>
                      </a:pPr>
                      <a:r>
                        <a:t>$330</a:t>
                      </a:r>
                    </a:p>
                  </a:txBody>
                  <a:tcPr marL="82296" marR="54864" marT="45720">
                    <a:solidFill>
                      <a:srgbClr val="FFFFFF"/>
                    </a:solidFill>
                  </a:tcPr>
                </a:tc>
                <a:tc>
                  <a:txBody>
                    <a:bodyPr/>
                    <a:lstStyle/>
                    <a:p>
                      <a:pPr>
                        <a:defRPr sz="1200" b="0">
                          <a:solidFill>
                            <a:srgbClr val="142638"/>
                          </a:solidFill>
                          <a:latin typeface="Aptos"/>
                        </a:defRPr>
                      </a:pPr>
                      <a:r>
                        <a:t>$336</a:t>
                      </a:r>
                    </a:p>
                  </a:txBody>
                  <a:tcPr marL="82296" marR="54864" marT="45720">
                    <a:solidFill>
                      <a:srgbClr val="FFFFFF"/>
                    </a:solidFill>
                  </a:tcPr>
                </a:tc>
                <a:tc>
                  <a:txBody>
                    <a:bodyPr/>
                    <a:lstStyle/>
                    <a:p>
                      <a:pPr>
                        <a:defRPr sz="1200" b="0">
                          <a:solidFill>
                            <a:srgbClr val="142638"/>
                          </a:solidFill>
                          <a:latin typeface="Aptos"/>
                        </a:defRPr>
                      </a:pPr>
                      <a:r>
                        <a:t>$343</a:t>
                      </a:r>
                    </a:p>
                  </a:txBody>
                  <a:tcPr marL="82296" marR="54864" marT="45720">
                    <a:solidFill>
                      <a:srgbClr val="FFFFFF"/>
                    </a:solidFill>
                  </a:tcPr>
                </a:tc>
              </a:tr>
              <a:tr h="480060">
                <a:tc>
                  <a:txBody>
                    <a:bodyPr/>
                    <a:lstStyle/>
                    <a:p>
                      <a:pPr>
                        <a:defRPr sz="1200" b="0">
                          <a:solidFill>
                            <a:srgbClr val="142638"/>
                          </a:solidFill>
                          <a:latin typeface="Aptos"/>
                        </a:defRPr>
                      </a:pPr>
                      <a:r>
                        <a:t>13.97%</a:t>
                      </a:r>
                    </a:p>
                  </a:txBody>
                  <a:tcPr marL="82296" marR="54864" marT="45720">
                    <a:solidFill>
                      <a:srgbClr val="EAF3F4"/>
                    </a:solidFill>
                  </a:tcPr>
                </a:tc>
                <a:tc>
                  <a:txBody>
                    <a:bodyPr/>
                    <a:lstStyle/>
                    <a:p>
                      <a:pPr>
                        <a:defRPr sz="1200" b="0">
                          <a:solidFill>
                            <a:srgbClr val="142638"/>
                          </a:solidFill>
                          <a:latin typeface="Aptos"/>
                        </a:defRPr>
                      </a:pPr>
                      <a:r>
                        <a:t>$292</a:t>
                      </a:r>
                    </a:p>
                  </a:txBody>
                  <a:tcPr marL="82296" marR="54864" marT="45720">
                    <a:solidFill>
                      <a:srgbClr val="EAF3F4"/>
                    </a:solidFill>
                  </a:tcPr>
                </a:tc>
                <a:tc>
                  <a:txBody>
                    <a:bodyPr/>
                    <a:lstStyle/>
                    <a:p>
                      <a:pPr>
                        <a:defRPr sz="1200" b="0">
                          <a:solidFill>
                            <a:srgbClr val="142638"/>
                          </a:solidFill>
                          <a:latin typeface="Aptos"/>
                        </a:defRPr>
                      </a:pPr>
                      <a:r>
                        <a:t>$296</a:t>
                      </a:r>
                    </a:p>
                  </a:txBody>
                  <a:tcPr marL="82296" marR="54864" marT="45720">
                    <a:solidFill>
                      <a:srgbClr val="EAF3F4"/>
                    </a:solidFill>
                  </a:tcPr>
                </a:tc>
                <a:tc>
                  <a:txBody>
                    <a:bodyPr/>
                    <a:lstStyle/>
                    <a:p>
                      <a:pPr>
                        <a:defRPr sz="1200" b="0">
                          <a:solidFill>
                            <a:srgbClr val="142638"/>
                          </a:solidFill>
                          <a:latin typeface="Aptos"/>
                        </a:defRPr>
                      </a:pPr>
                      <a:r>
                        <a:t>$300</a:t>
                      </a:r>
                    </a:p>
                  </a:txBody>
                  <a:tcPr marL="82296" marR="54864" marT="45720">
                    <a:solidFill>
                      <a:srgbClr val="EAF3F4"/>
                    </a:solidFill>
                  </a:tcPr>
                </a:tc>
                <a:tc>
                  <a:txBody>
                    <a:bodyPr/>
                    <a:lstStyle/>
                    <a:p>
                      <a:pPr>
                        <a:defRPr sz="1200" b="0">
                          <a:solidFill>
                            <a:srgbClr val="142638"/>
                          </a:solidFill>
                          <a:latin typeface="Aptos"/>
                        </a:defRPr>
                      </a:pPr>
                      <a:r>
                        <a:t>$305</a:t>
                      </a:r>
                    </a:p>
                  </a:txBody>
                  <a:tcPr marL="82296" marR="54864" marT="45720">
                    <a:solidFill>
                      <a:srgbClr val="EAF3F4"/>
                    </a:solidFill>
                  </a:tcPr>
                </a:tc>
                <a:tc>
                  <a:txBody>
                    <a:bodyPr/>
                    <a:lstStyle/>
                    <a:p>
                      <a:pPr>
                        <a:defRPr sz="1200" b="0">
                          <a:solidFill>
                            <a:srgbClr val="142638"/>
                          </a:solidFill>
                          <a:latin typeface="Aptos"/>
                        </a:defRPr>
                      </a:pPr>
                      <a:r>
                        <a:t>$311</a:t>
                      </a:r>
                    </a:p>
                  </a:txBody>
                  <a:tcPr marL="82296" marR="54864" marT="45720">
                    <a:solidFill>
                      <a:srgbClr val="EAF3F4"/>
                    </a:solidFill>
                  </a:tcPr>
                </a:tc>
              </a:tr>
              <a:tr h="480060">
                <a:tc>
                  <a:txBody>
                    <a:bodyPr/>
                    <a:lstStyle/>
                    <a:p>
                      <a:pPr>
                        <a:defRPr sz="1200" b="0">
                          <a:solidFill>
                            <a:srgbClr val="142638"/>
                          </a:solidFill>
                          <a:latin typeface="Aptos"/>
                        </a:defRPr>
                      </a:pPr>
                      <a:r>
                        <a:t>14.97%</a:t>
                      </a:r>
                    </a:p>
                  </a:txBody>
                  <a:tcPr marL="82296" marR="54864" marT="45720">
                    <a:solidFill>
                      <a:srgbClr val="FFFFFF"/>
                    </a:solidFill>
                  </a:tcPr>
                </a:tc>
                <a:tc>
                  <a:txBody>
                    <a:bodyPr/>
                    <a:lstStyle/>
                    <a:p>
                      <a:pPr>
                        <a:defRPr sz="1200" b="0">
                          <a:solidFill>
                            <a:srgbClr val="142638"/>
                          </a:solidFill>
                          <a:latin typeface="Aptos"/>
                        </a:defRPr>
                      </a:pPr>
                      <a:r>
                        <a:t>$269</a:t>
                      </a:r>
                    </a:p>
                  </a:txBody>
                  <a:tcPr marL="82296" marR="54864" marT="45720">
                    <a:solidFill>
                      <a:srgbClr val="FFFFFF"/>
                    </a:solidFill>
                  </a:tcPr>
                </a:tc>
                <a:tc>
                  <a:txBody>
                    <a:bodyPr/>
                    <a:lstStyle/>
                    <a:p>
                      <a:pPr>
                        <a:defRPr sz="1200" b="0">
                          <a:solidFill>
                            <a:srgbClr val="142638"/>
                          </a:solidFill>
                          <a:latin typeface="Aptos"/>
                        </a:defRPr>
                      </a:pPr>
                      <a:r>
                        <a:t>$272</a:t>
                      </a:r>
                    </a:p>
                  </a:txBody>
                  <a:tcPr marL="82296" marR="54864" marT="45720">
                    <a:solidFill>
                      <a:srgbClr val="FFFFFF"/>
                    </a:solidFill>
                  </a:tcPr>
                </a:tc>
                <a:tc>
                  <a:txBody>
                    <a:bodyPr/>
                    <a:lstStyle/>
                    <a:p>
                      <a:pPr>
                        <a:defRPr sz="1200" b="0">
                          <a:solidFill>
                            <a:srgbClr val="142638"/>
                          </a:solidFill>
                          <a:latin typeface="Aptos"/>
                        </a:defRPr>
                      </a:pPr>
                      <a:r>
                        <a:t>$276</a:t>
                      </a:r>
                    </a:p>
                  </a:txBody>
                  <a:tcPr marL="82296" marR="54864" marT="45720">
                    <a:solidFill>
                      <a:srgbClr val="FFFFFF"/>
                    </a:solidFill>
                  </a:tcPr>
                </a:tc>
                <a:tc>
                  <a:txBody>
                    <a:bodyPr/>
                    <a:lstStyle/>
                    <a:p>
                      <a:pPr>
                        <a:defRPr sz="1200" b="0">
                          <a:solidFill>
                            <a:srgbClr val="142638"/>
                          </a:solidFill>
                          <a:latin typeface="Aptos"/>
                        </a:defRPr>
                      </a:pPr>
                      <a:r>
                        <a:t>$280</a:t>
                      </a:r>
                    </a:p>
                  </a:txBody>
                  <a:tcPr marL="82296" marR="54864" marT="45720">
                    <a:solidFill>
                      <a:srgbClr val="FFFFFF"/>
                    </a:solidFill>
                  </a:tcPr>
                </a:tc>
                <a:tc>
                  <a:txBody>
                    <a:bodyPr/>
                    <a:lstStyle/>
                    <a:p>
                      <a:pPr>
                        <a:defRPr sz="1200" b="0">
                          <a:solidFill>
                            <a:srgbClr val="142638"/>
                          </a:solidFill>
                          <a:latin typeface="Aptos"/>
                        </a:defRPr>
                      </a:pPr>
                      <a:r>
                        <a:t>$284</a:t>
                      </a:r>
                    </a:p>
                  </a:txBody>
                  <a:tcPr marL="82296" marR="54864" marT="45720">
                    <a:solidFill>
                      <a:srgbClr val="FFFFFF"/>
                    </a:solidFill>
                  </a:tcPr>
                </a:tc>
              </a:tr>
              <a:tr h="480060">
                <a:tc>
                  <a:txBody>
                    <a:bodyPr/>
                    <a:lstStyle/>
                    <a:p>
                      <a:pPr>
                        <a:defRPr sz="1200" b="0">
                          <a:solidFill>
                            <a:srgbClr val="142638"/>
                          </a:solidFill>
                          <a:latin typeface="Aptos"/>
                        </a:defRPr>
                      </a:pPr>
                      <a:r>
                        <a:t>15.97%</a:t>
                      </a:r>
                    </a:p>
                  </a:txBody>
                  <a:tcPr marL="82296" marR="54864" marT="45720">
                    <a:solidFill>
                      <a:srgbClr val="EAF3F4"/>
                    </a:solidFill>
                  </a:tcPr>
                </a:tc>
                <a:tc>
                  <a:txBody>
                    <a:bodyPr/>
                    <a:lstStyle/>
                    <a:p>
                      <a:pPr>
                        <a:defRPr sz="1200" b="0">
                          <a:solidFill>
                            <a:srgbClr val="142638"/>
                          </a:solidFill>
                          <a:latin typeface="Aptos"/>
                        </a:defRPr>
                      </a:pPr>
                      <a:r>
                        <a:t>$250</a:t>
                      </a:r>
                    </a:p>
                  </a:txBody>
                  <a:tcPr marL="82296" marR="54864" marT="45720">
                    <a:solidFill>
                      <a:srgbClr val="EAF3F4"/>
                    </a:solidFill>
                  </a:tcPr>
                </a:tc>
                <a:tc>
                  <a:txBody>
                    <a:bodyPr/>
                    <a:lstStyle/>
                    <a:p>
                      <a:pPr>
                        <a:defRPr sz="1200" b="0">
                          <a:solidFill>
                            <a:srgbClr val="142638"/>
                          </a:solidFill>
                          <a:latin typeface="Aptos"/>
                        </a:defRPr>
                      </a:pPr>
                      <a:r>
                        <a:t>$252</a:t>
                      </a:r>
                    </a:p>
                  </a:txBody>
                  <a:tcPr marL="82296" marR="54864" marT="45720">
                    <a:solidFill>
                      <a:srgbClr val="EAF3F4"/>
                    </a:solidFill>
                  </a:tcPr>
                </a:tc>
                <a:tc>
                  <a:txBody>
                    <a:bodyPr/>
                    <a:lstStyle/>
                    <a:p>
                      <a:pPr>
                        <a:defRPr sz="1200" b="0">
                          <a:solidFill>
                            <a:srgbClr val="142638"/>
                          </a:solidFill>
                          <a:latin typeface="Aptos"/>
                        </a:defRPr>
                      </a:pPr>
                      <a:r>
                        <a:t>$255</a:t>
                      </a:r>
                    </a:p>
                  </a:txBody>
                  <a:tcPr marL="82296" marR="54864" marT="45720">
                    <a:solidFill>
                      <a:srgbClr val="EAF3F4"/>
                    </a:solidFill>
                  </a:tcPr>
                </a:tc>
                <a:tc>
                  <a:txBody>
                    <a:bodyPr/>
                    <a:lstStyle/>
                    <a:p>
                      <a:pPr>
                        <a:defRPr sz="1200" b="0">
                          <a:solidFill>
                            <a:srgbClr val="142638"/>
                          </a:solidFill>
                          <a:latin typeface="Aptos"/>
                        </a:defRPr>
                      </a:pPr>
                      <a:r>
                        <a:t>$258</a:t>
                      </a:r>
                    </a:p>
                  </a:txBody>
                  <a:tcPr marL="82296" marR="54864" marT="45720">
                    <a:solidFill>
                      <a:srgbClr val="EAF3F4"/>
                    </a:solidFill>
                  </a:tcPr>
                </a:tc>
                <a:tc>
                  <a:txBody>
                    <a:bodyPr/>
                    <a:lstStyle/>
                    <a:p>
                      <a:pPr>
                        <a:defRPr sz="1200" b="0">
                          <a:solidFill>
                            <a:srgbClr val="142638"/>
                          </a:solidFill>
                          <a:latin typeface="Aptos"/>
                        </a:defRPr>
                      </a:pPr>
                      <a:r>
                        <a:t>$261</a:t>
                      </a:r>
                    </a:p>
                  </a:txBody>
                  <a:tcPr marL="82296" marR="54864" marT="45720">
                    <a:solidFill>
                      <a:srgbClr val="EAF3F4"/>
                    </a:solidFill>
                  </a:tcPr>
                </a:tc>
              </a:tr>
            </a:tbl>
          </a:graphicData>
        </a:graphic>
      </p:graphicFrame>
      <p:graphicFrame>
        <p:nvGraphicFramePr>
          <p:cNvPr id="9" name="Table 8"/>
          <p:cNvGraphicFramePr>
            <a:graphicFrameLocks noGrp="1"/>
          </p:cNvGraphicFramePr>
          <p:nvPr/>
        </p:nvGraphicFramePr>
        <p:xfrm>
          <a:off x="6217920" y="1783080"/>
          <a:ext cx="5486399" cy="2880360"/>
        </p:xfrm>
        <a:graphic>
          <a:graphicData uri="http://schemas.openxmlformats.org/drawingml/2006/table">
            <a:tbl>
              <a:tblPr firstRow="1" bandRow="1">
                <a:tableStyleId>{5C22544A-7EE6-4342-B048-85BDC9FD1C3A}</a:tableStyleId>
              </a:tblPr>
              <a:tblGrid>
                <a:gridCol w="1132114"/>
                <a:gridCol w="870857"/>
                <a:gridCol w="870857"/>
                <a:gridCol w="870857"/>
                <a:gridCol w="870857"/>
                <a:gridCol w="870857"/>
              </a:tblGrid>
              <a:tr h="480060">
                <a:tc>
                  <a:txBody>
                    <a:bodyPr/>
                    <a:lstStyle/>
                    <a:p>
                      <a:pPr>
                        <a:defRPr sz="1200" b="1">
                          <a:solidFill>
                            <a:srgbClr val="FFFFFF"/>
                          </a:solidFill>
                          <a:latin typeface="Aptos"/>
                        </a:defRPr>
                      </a:pPr>
                      <a:r>
                        <a:t>WACC / exit</a:t>
                      </a:r>
                    </a:p>
                  </a:txBody>
                  <a:tcPr marL="82296" marR="54864" marT="45720">
                    <a:solidFill>
                      <a:srgbClr val="087F8C"/>
                    </a:solidFill>
                  </a:tcPr>
                </a:tc>
                <a:tc>
                  <a:txBody>
                    <a:bodyPr/>
                    <a:lstStyle/>
                    <a:p>
                      <a:pPr>
                        <a:defRPr sz="1200" b="1">
                          <a:solidFill>
                            <a:srgbClr val="FFFFFF"/>
                          </a:solidFill>
                          <a:latin typeface="Aptos"/>
                        </a:defRPr>
                      </a:pPr>
                      <a:r>
                        <a:t>12×</a:t>
                      </a:r>
                    </a:p>
                  </a:txBody>
                  <a:tcPr marL="82296" marR="54864" marT="45720">
                    <a:solidFill>
                      <a:srgbClr val="087F8C"/>
                    </a:solidFill>
                  </a:tcPr>
                </a:tc>
                <a:tc>
                  <a:txBody>
                    <a:bodyPr/>
                    <a:lstStyle/>
                    <a:p>
                      <a:pPr>
                        <a:defRPr sz="1200" b="1">
                          <a:solidFill>
                            <a:srgbClr val="FFFFFF"/>
                          </a:solidFill>
                          <a:latin typeface="Aptos"/>
                        </a:defRPr>
                      </a:pPr>
                      <a:r>
                        <a:t>14×</a:t>
                      </a:r>
                    </a:p>
                  </a:txBody>
                  <a:tcPr marL="82296" marR="54864" marT="45720">
                    <a:solidFill>
                      <a:srgbClr val="087F8C"/>
                    </a:solidFill>
                  </a:tcPr>
                </a:tc>
                <a:tc>
                  <a:txBody>
                    <a:bodyPr/>
                    <a:lstStyle/>
                    <a:p>
                      <a:pPr>
                        <a:defRPr sz="1200" b="1">
                          <a:solidFill>
                            <a:srgbClr val="FFFFFF"/>
                          </a:solidFill>
                          <a:latin typeface="Aptos"/>
                        </a:defRPr>
                      </a:pPr>
                      <a:r>
                        <a:t>16×</a:t>
                      </a:r>
                    </a:p>
                  </a:txBody>
                  <a:tcPr marL="82296" marR="54864" marT="45720">
                    <a:solidFill>
                      <a:srgbClr val="087F8C"/>
                    </a:solidFill>
                  </a:tcPr>
                </a:tc>
                <a:tc>
                  <a:txBody>
                    <a:bodyPr/>
                    <a:lstStyle/>
                    <a:p>
                      <a:pPr>
                        <a:defRPr sz="1200" b="1">
                          <a:solidFill>
                            <a:srgbClr val="FFFFFF"/>
                          </a:solidFill>
                          <a:latin typeface="Aptos"/>
                        </a:defRPr>
                      </a:pPr>
                      <a:r>
                        <a:t>18×</a:t>
                      </a:r>
                    </a:p>
                  </a:txBody>
                  <a:tcPr marL="82296" marR="54864" marT="45720">
                    <a:solidFill>
                      <a:srgbClr val="087F8C"/>
                    </a:solidFill>
                  </a:tcPr>
                </a:tc>
                <a:tc>
                  <a:txBody>
                    <a:bodyPr/>
                    <a:lstStyle/>
                    <a:p>
                      <a:pPr>
                        <a:defRPr sz="1200" b="1">
                          <a:solidFill>
                            <a:srgbClr val="FFFFFF"/>
                          </a:solidFill>
                          <a:latin typeface="Aptos"/>
                        </a:defRPr>
                      </a:pPr>
                      <a:r>
                        <a:t>20×</a:t>
                      </a:r>
                    </a:p>
                  </a:txBody>
                  <a:tcPr marL="82296" marR="54864" marT="45720">
                    <a:solidFill>
                      <a:srgbClr val="087F8C"/>
                    </a:solidFill>
                  </a:tcPr>
                </a:tc>
              </a:tr>
              <a:tr h="480060">
                <a:tc>
                  <a:txBody>
                    <a:bodyPr/>
                    <a:lstStyle/>
                    <a:p>
                      <a:pPr>
                        <a:defRPr sz="1200" b="0">
                          <a:solidFill>
                            <a:srgbClr val="142638"/>
                          </a:solidFill>
                          <a:latin typeface="Aptos"/>
                        </a:defRPr>
                      </a:pPr>
                      <a:r>
                        <a:t>11.97%</a:t>
                      </a:r>
                    </a:p>
                  </a:txBody>
                  <a:tcPr marL="82296" marR="54864" marT="45720">
                    <a:solidFill>
                      <a:srgbClr val="EAF3F4"/>
                    </a:solidFill>
                  </a:tcPr>
                </a:tc>
                <a:tc>
                  <a:txBody>
                    <a:bodyPr/>
                    <a:lstStyle/>
                    <a:p>
                      <a:pPr>
                        <a:defRPr sz="1200" b="0">
                          <a:solidFill>
                            <a:srgbClr val="142638"/>
                          </a:solidFill>
                          <a:latin typeface="Aptos"/>
                        </a:defRPr>
                      </a:pPr>
                      <a:r>
                        <a:t>$483</a:t>
                      </a:r>
                    </a:p>
                  </a:txBody>
                  <a:tcPr marL="82296" marR="54864" marT="45720">
                    <a:solidFill>
                      <a:srgbClr val="EAF3F4"/>
                    </a:solidFill>
                  </a:tcPr>
                </a:tc>
                <a:tc>
                  <a:txBody>
                    <a:bodyPr/>
                    <a:lstStyle/>
                    <a:p>
                      <a:pPr>
                        <a:defRPr sz="1200" b="0">
                          <a:solidFill>
                            <a:srgbClr val="142638"/>
                          </a:solidFill>
                          <a:latin typeface="Aptos"/>
                        </a:defRPr>
                      </a:pPr>
                      <a:r>
                        <a:t>$528</a:t>
                      </a:r>
                    </a:p>
                  </a:txBody>
                  <a:tcPr marL="82296" marR="54864" marT="45720">
                    <a:solidFill>
                      <a:srgbClr val="EAF3F4"/>
                    </a:solidFill>
                  </a:tcPr>
                </a:tc>
                <a:tc>
                  <a:txBody>
                    <a:bodyPr/>
                    <a:lstStyle/>
                    <a:p>
                      <a:pPr>
                        <a:defRPr sz="1200" b="0">
                          <a:solidFill>
                            <a:srgbClr val="142638"/>
                          </a:solidFill>
                          <a:latin typeface="Aptos"/>
                        </a:defRPr>
                      </a:pPr>
                      <a:r>
                        <a:t>$573</a:t>
                      </a:r>
                    </a:p>
                  </a:txBody>
                  <a:tcPr marL="82296" marR="54864" marT="45720">
                    <a:solidFill>
                      <a:srgbClr val="EAF3F4"/>
                    </a:solidFill>
                  </a:tcPr>
                </a:tc>
                <a:tc>
                  <a:txBody>
                    <a:bodyPr/>
                    <a:lstStyle/>
                    <a:p>
                      <a:pPr>
                        <a:defRPr sz="1200" b="0">
                          <a:solidFill>
                            <a:srgbClr val="142638"/>
                          </a:solidFill>
                          <a:latin typeface="Aptos"/>
                        </a:defRPr>
                      </a:pPr>
                      <a:r>
                        <a:t>$618</a:t>
                      </a:r>
                    </a:p>
                  </a:txBody>
                  <a:tcPr marL="82296" marR="54864" marT="45720">
                    <a:solidFill>
                      <a:srgbClr val="EAF3F4"/>
                    </a:solidFill>
                  </a:tcPr>
                </a:tc>
                <a:tc>
                  <a:txBody>
                    <a:bodyPr/>
                    <a:lstStyle/>
                    <a:p>
                      <a:pPr>
                        <a:defRPr sz="1200" b="0">
                          <a:solidFill>
                            <a:srgbClr val="142638"/>
                          </a:solidFill>
                          <a:latin typeface="Aptos"/>
                        </a:defRPr>
                      </a:pPr>
                      <a:r>
                        <a:t>$663</a:t>
                      </a:r>
                    </a:p>
                  </a:txBody>
                  <a:tcPr marL="82296" marR="54864" marT="45720">
                    <a:solidFill>
                      <a:srgbClr val="EAF3F4"/>
                    </a:solidFill>
                  </a:tcPr>
                </a:tc>
              </a:tr>
              <a:tr h="480060">
                <a:tc>
                  <a:txBody>
                    <a:bodyPr/>
                    <a:lstStyle/>
                    <a:p>
                      <a:pPr>
                        <a:defRPr sz="1200" b="0">
                          <a:solidFill>
                            <a:srgbClr val="142638"/>
                          </a:solidFill>
                          <a:latin typeface="Aptos"/>
                        </a:defRPr>
                      </a:pPr>
                      <a:r>
                        <a:t>12.97%</a:t>
                      </a:r>
                    </a:p>
                  </a:txBody>
                  <a:tcPr marL="82296" marR="54864" marT="45720">
                    <a:solidFill>
                      <a:srgbClr val="FFFFFF"/>
                    </a:solidFill>
                  </a:tcPr>
                </a:tc>
                <a:tc>
                  <a:txBody>
                    <a:bodyPr/>
                    <a:lstStyle/>
                    <a:p>
                      <a:pPr>
                        <a:defRPr sz="1200" b="0">
                          <a:solidFill>
                            <a:srgbClr val="142638"/>
                          </a:solidFill>
                          <a:latin typeface="Aptos"/>
                        </a:defRPr>
                      </a:pPr>
                      <a:r>
                        <a:t>$451</a:t>
                      </a:r>
                    </a:p>
                  </a:txBody>
                  <a:tcPr marL="82296" marR="54864" marT="45720">
                    <a:solidFill>
                      <a:srgbClr val="FFFFFF"/>
                    </a:solidFill>
                  </a:tcPr>
                </a:tc>
                <a:tc>
                  <a:txBody>
                    <a:bodyPr/>
                    <a:lstStyle/>
                    <a:p>
                      <a:pPr>
                        <a:defRPr sz="1200" b="0">
                          <a:solidFill>
                            <a:srgbClr val="142638"/>
                          </a:solidFill>
                          <a:latin typeface="Aptos"/>
                        </a:defRPr>
                      </a:pPr>
                      <a:r>
                        <a:t>$493</a:t>
                      </a:r>
                    </a:p>
                  </a:txBody>
                  <a:tcPr marL="82296" marR="54864" marT="45720">
                    <a:solidFill>
                      <a:srgbClr val="FFFFFF"/>
                    </a:solidFill>
                  </a:tcPr>
                </a:tc>
                <a:tc>
                  <a:txBody>
                    <a:bodyPr/>
                    <a:lstStyle/>
                    <a:p>
                      <a:pPr>
                        <a:defRPr sz="1200" b="0">
                          <a:solidFill>
                            <a:srgbClr val="142638"/>
                          </a:solidFill>
                          <a:latin typeface="Aptos"/>
                        </a:defRPr>
                      </a:pPr>
                      <a:r>
                        <a:t>$534</a:t>
                      </a:r>
                    </a:p>
                  </a:txBody>
                  <a:tcPr marL="82296" marR="54864" marT="45720">
                    <a:solidFill>
                      <a:srgbClr val="FFFFFF"/>
                    </a:solidFill>
                  </a:tcPr>
                </a:tc>
                <a:tc>
                  <a:txBody>
                    <a:bodyPr/>
                    <a:lstStyle/>
                    <a:p>
                      <a:pPr>
                        <a:defRPr sz="1200" b="0">
                          <a:solidFill>
                            <a:srgbClr val="142638"/>
                          </a:solidFill>
                          <a:latin typeface="Aptos"/>
                        </a:defRPr>
                      </a:pPr>
                      <a:r>
                        <a:t>$575</a:t>
                      </a:r>
                    </a:p>
                  </a:txBody>
                  <a:tcPr marL="82296" marR="54864" marT="45720">
                    <a:solidFill>
                      <a:srgbClr val="FFFFFF"/>
                    </a:solidFill>
                  </a:tcPr>
                </a:tc>
                <a:tc>
                  <a:txBody>
                    <a:bodyPr/>
                    <a:lstStyle/>
                    <a:p>
                      <a:pPr>
                        <a:defRPr sz="1200" b="0">
                          <a:solidFill>
                            <a:srgbClr val="142638"/>
                          </a:solidFill>
                          <a:latin typeface="Aptos"/>
                        </a:defRPr>
                      </a:pPr>
                      <a:r>
                        <a:t>$617</a:t>
                      </a:r>
                    </a:p>
                  </a:txBody>
                  <a:tcPr marL="82296" marR="54864" marT="45720">
                    <a:solidFill>
                      <a:srgbClr val="FFFFFF"/>
                    </a:solidFill>
                  </a:tcPr>
                </a:tc>
              </a:tr>
              <a:tr h="480060">
                <a:tc>
                  <a:txBody>
                    <a:bodyPr/>
                    <a:lstStyle/>
                    <a:p>
                      <a:pPr>
                        <a:defRPr sz="1200" b="0">
                          <a:solidFill>
                            <a:srgbClr val="142638"/>
                          </a:solidFill>
                          <a:latin typeface="Aptos"/>
                        </a:defRPr>
                      </a:pPr>
                      <a:r>
                        <a:t>13.97%</a:t>
                      </a:r>
                    </a:p>
                  </a:txBody>
                  <a:tcPr marL="82296" marR="54864" marT="45720">
                    <a:solidFill>
                      <a:srgbClr val="EAF3F4"/>
                    </a:solidFill>
                  </a:tcPr>
                </a:tc>
                <a:tc>
                  <a:txBody>
                    <a:bodyPr/>
                    <a:lstStyle/>
                    <a:p>
                      <a:pPr>
                        <a:defRPr sz="1200" b="0">
                          <a:solidFill>
                            <a:srgbClr val="142638"/>
                          </a:solidFill>
                          <a:latin typeface="Aptos"/>
                        </a:defRPr>
                      </a:pPr>
                      <a:r>
                        <a:t>$423</a:t>
                      </a:r>
                    </a:p>
                  </a:txBody>
                  <a:tcPr marL="82296" marR="54864" marT="45720">
                    <a:solidFill>
                      <a:srgbClr val="EAF3F4"/>
                    </a:solidFill>
                  </a:tcPr>
                </a:tc>
                <a:tc>
                  <a:txBody>
                    <a:bodyPr/>
                    <a:lstStyle/>
                    <a:p>
                      <a:pPr>
                        <a:defRPr sz="1200" b="0">
                          <a:solidFill>
                            <a:srgbClr val="142638"/>
                          </a:solidFill>
                          <a:latin typeface="Aptos"/>
                        </a:defRPr>
                      </a:pPr>
                      <a:r>
                        <a:t>$461</a:t>
                      </a:r>
                    </a:p>
                  </a:txBody>
                  <a:tcPr marL="82296" marR="54864" marT="45720">
                    <a:solidFill>
                      <a:srgbClr val="EAF3F4"/>
                    </a:solidFill>
                  </a:tcPr>
                </a:tc>
                <a:tc>
                  <a:txBody>
                    <a:bodyPr/>
                    <a:lstStyle/>
                    <a:p>
                      <a:pPr>
                        <a:defRPr sz="1200" b="0">
                          <a:solidFill>
                            <a:srgbClr val="142638"/>
                          </a:solidFill>
                          <a:latin typeface="Aptos"/>
                        </a:defRPr>
                      </a:pPr>
                      <a:r>
                        <a:t>$499</a:t>
                      </a:r>
                    </a:p>
                  </a:txBody>
                  <a:tcPr marL="82296" marR="54864" marT="45720">
                    <a:solidFill>
                      <a:srgbClr val="EAF3F4"/>
                    </a:solidFill>
                  </a:tcPr>
                </a:tc>
                <a:tc>
                  <a:txBody>
                    <a:bodyPr/>
                    <a:lstStyle/>
                    <a:p>
                      <a:pPr>
                        <a:defRPr sz="1200" b="0">
                          <a:solidFill>
                            <a:srgbClr val="142638"/>
                          </a:solidFill>
                          <a:latin typeface="Aptos"/>
                        </a:defRPr>
                      </a:pPr>
                      <a:r>
                        <a:t>$536</a:t>
                      </a:r>
                    </a:p>
                  </a:txBody>
                  <a:tcPr marL="82296" marR="54864" marT="45720">
                    <a:solidFill>
                      <a:srgbClr val="EAF3F4"/>
                    </a:solidFill>
                  </a:tcPr>
                </a:tc>
                <a:tc>
                  <a:txBody>
                    <a:bodyPr/>
                    <a:lstStyle/>
                    <a:p>
                      <a:pPr>
                        <a:defRPr sz="1200" b="0">
                          <a:solidFill>
                            <a:srgbClr val="142638"/>
                          </a:solidFill>
                          <a:latin typeface="Aptos"/>
                        </a:defRPr>
                      </a:pPr>
                      <a:r>
                        <a:t>$574</a:t>
                      </a:r>
                    </a:p>
                  </a:txBody>
                  <a:tcPr marL="82296" marR="54864" marT="45720">
                    <a:solidFill>
                      <a:srgbClr val="EAF3F4"/>
                    </a:solidFill>
                  </a:tcPr>
                </a:tc>
              </a:tr>
              <a:tr h="480060">
                <a:tc>
                  <a:txBody>
                    <a:bodyPr/>
                    <a:lstStyle/>
                    <a:p>
                      <a:pPr>
                        <a:defRPr sz="1200" b="0">
                          <a:solidFill>
                            <a:srgbClr val="142638"/>
                          </a:solidFill>
                          <a:latin typeface="Aptos"/>
                        </a:defRPr>
                      </a:pPr>
                      <a:r>
                        <a:t>14.97%</a:t>
                      </a:r>
                    </a:p>
                  </a:txBody>
                  <a:tcPr marL="82296" marR="54864" marT="45720">
                    <a:solidFill>
                      <a:srgbClr val="FFFFFF"/>
                    </a:solidFill>
                  </a:tcPr>
                </a:tc>
                <a:tc>
                  <a:txBody>
                    <a:bodyPr/>
                    <a:lstStyle/>
                    <a:p>
                      <a:pPr>
                        <a:defRPr sz="1200" b="0">
                          <a:solidFill>
                            <a:srgbClr val="142638"/>
                          </a:solidFill>
                          <a:latin typeface="Aptos"/>
                        </a:defRPr>
                      </a:pPr>
                      <a:r>
                        <a:t>$396</a:t>
                      </a:r>
                    </a:p>
                  </a:txBody>
                  <a:tcPr marL="82296" marR="54864" marT="45720">
                    <a:solidFill>
                      <a:srgbClr val="FFFFFF"/>
                    </a:solidFill>
                  </a:tcPr>
                </a:tc>
                <a:tc>
                  <a:txBody>
                    <a:bodyPr/>
                    <a:lstStyle/>
                    <a:p>
                      <a:pPr>
                        <a:defRPr sz="1200" b="0">
                          <a:solidFill>
                            <a:srgbClr val="142638"/>
                          </a:solidFill>
                          <a:latin typeface="Aptos"/>
                        </a:defRPr>
                      </a:pPr>
                      <a:r>
                        <a:t>$431</a:t>
                      </a:r>
                    </a:p>
                  </a:txBody>
                  <a:tcPr marL="82296" marR="54864" marT="45720">
                    <a:solidFill>
                      <a:srgbClr val="FFFFFF"/>
                    </a:solidFill>
                  </a:tcPr>
                </a:tc>
                <a:tc>
                  <a:txBody>
                    <a:bodyPr/>
                    <a:lstStyle/>
                    <a:p>
                      <a:pPr>
                        <a:defRPr sz="1200" b="0">
                          <a:solidFill>
                            <a:srgbClr val="142638"/>
                          </a:solidFill>
                          <a:latin typeface="Aptos"/>
                        </a:defRPr>
                      </a:pPr>
                      <a:r>
                        <a:t>$466</a:t>
                      </a:r>
                    </a:p>
                  </a:txBody>
                  <a:tcPr marL="82296" marR="54864" marT="45720">
                    <a:solidFill>
                      <a:srgbClr val="FFFFFF"/>
                    </a:solidFill>
                  </a:tcPr>
                </a:tc>
                <a:tc>
                  <a:txBody>
                    <a:bodyPr/>
                    <a:lstStyle/>
                    <a:p>
                      <a:pPr>
                        <a:defRPr sz="1200" b="0">
                          <a:solidFill>
                            <a:srgbClr val="142638"/>
                          </a:solidFill>
                          <a:latin typeface="Aptos"/>
                        </a:defRPr>
                      </a:pPr>
                      <a:r>
                        <a:t>$501</a:t>
                      </a:r>
                    </a:p>
                  </a:txBody>
                  <a:tcPr marL="82296" marR="54864" marT="45720">
                    <a:solidFill>
                      <a:srgbClr val="FFFFFF"/>
                    </a:solidFill>
                  </a:tcPr>
                </a:tc>
                <a:tc>
                  <a:txBody>
                    <a:bodyPr/>
                    <a:lstStyle/>
                    <a:p>
                      <a:pPr>
                        <a:defRPr sz="1200" b="0">
                          <a:solidFill>
                            <a:srgbClr val="142638"/>
                          </a:solidFill>
                          <a:latin typeface="Aptos"/>
                        </a:defRPr>
                      </a:pPr>
                      <a:r>
                        <a:t>$536</a:t>
                      </a:r>
                    </a:p>
                  </a:txBody>
                  <a:tcPr marL="82296" marR="54864" marT="45720">
                    <a:solidFill>
                      <a:srgbClr val="FFFFFF"/>
                    </a:solidFill>
                  </a:tcPr>
                </a:tc>
              </a:tr>
              <a:tr h="480060">
                <a:tc>
                  <a:txBody>
                    <a:bodyPr/>
                    <a:lstStyle/>
                    <a:p>
                      <a:pPr>
                        <a:defRPr sz="1200" b="0">
                          <a:solidFill>
                            <a:srgbClr val="142638"/>
                          </a:solidFill>
                          <a:latin typeface="Aptos"/>
                        </a:defRPr>
                      </a:pPr>
                      <a:r>
                        <a:t>15.97%</a:t>
                      </a:r>
                    </a:p>
                  </a:txBody>
                  <a:tcPr marL="82296" marR="54864" marT="45720">
                    <a:solidFill>
                      <a:srgbClr val="EAF3F4"/>
                    </a:solidFill>
                  </a:tcPr>
                </a:tc>
                <a:tc>
                  <a:txBody>
                    <a:bodyPr/>
                    <a:lstStyle/>
                    <a:p>
                      <a:pPr>
                        <a:defRPr sz="1200" b="0">
                          <a:solidFill>
                            <a:srgbClr val="142638"/>
                          </a:solidFill>
                          <a:latin typeface="Aptos"/>
                        </a:defRPr>
                      </a:pPr>
                      <a:r>
                        <a:t>$372</a:t>
                      </a:r>
                    </a:p>
                  </a:txBody>
                  <a:tcPr marL="82296" marR="54864" marT="45720">
                    <a:solidFill>
                      <a:srgbClr val="EAF3F4"/>
                    </a:solidFill>
                  </a:tcPr>
                </a:tc>
                <a:tc>
                  <a:txBody>
                    <a:bodyPr/>
                    <a:lstStyle/>
                    <a:p>
                      <a:pPr>
                        <a:defRPr sz="1200" b="0">
                          <a:solidFill>
                            <a:srgbClr val="142638"/>
                          </a:solidFill>
                          <a:latin typeface="Aptos"/>
                        </a:defRPr>
                      </a:pPr>
                      <a:r>
                        <a:t>$404</a:t>
                      </a:r>
                    </a:p>
                  </a:txBody>
                  <a:tcPr marL="82296" marR="54864" marT="45720">
                    <a:solidFill>
                      <a:srgbClr val="EAF3F4"/>
                    </a:solidFill>
                  </a:tcPr>
                </a:tc>
                <a:tc>
                  <a:txBody>
                    <a:bodyPr/>
                    <a:lstStyle/>
                    <a:p>
                      <a:pPr>
                        <a:defRPr sz="1200" b="0">
                          <a:solidFill>
                            <a:srgbClr val="142638"/>
                          </a:solidFill>
                          <a:latin typeface="Aptos"/>
                        </a:defRPr>
                      </a:pPr>
                      <a:r>
                        <a:t>$436</a:t>
                      </a:r>
                    </a:p>
                  </a:txBody>
                  <a:tcPr marL="82296" marR="54864" marT="45720">
                    <a:solidFill>
                      <a:srgbClr val="EAF3F4"/>
                    </a:solidFill>
                  </a:tcPr>
                </a:tc>
                <a:tc>
                  <a:txBody>
                    <a:bodyPr/>
                    <a:lstStyle/>
                    <a:p>
                      <a:pPr>
                        <a:defRPr sz="1200" b="0">
                          <a:solidFill>
                            <a:srgbClr val="142638"/>
                          </a:solidFill>
                          <a:latin typeface="Aptos"/>
                        </a:defRPr>
                      </a:pPr>
                      <a:r>
                        <a:t>$468</a:t>
                      </a:r>
                    </a:p>
                  </a:txBody>
                  <a:tcPr marL="82296" marR="54864" marT="45720">
                    <a:solidFill>
                      <a:srgbClr val="EAF3F4"/>
                    </a:solidFill>
                  </a:tcPr>
                </a:tc>
                <a:tc>
                  <a:txBody>
                    <a:bodyPr/>
                    <a:lstStyle/>
                    <a:p>
                      <a:pPr>
                        <a:defRPr sz="1200" b="0">
                          <a:solidFill>
                            <a:srgbClr val="142638"/>
                          </a:solidFill>
                          <a:latin typeface="Aptos"/>
                        </a:defRPr>
                      </a:pPr>
                      <a:r>
                        <a:t>$500</a:t>
                      </a:r>
                    </a:p>
                  </a:txBody>
                  <a:tcPr marL="82296" marR="54864" marT="45720">
                    <a:solidFill>
                      <a:srgbClr val="EAF3F4"/>
                    </a:solidFill>
                  </a:tcPr>
                </a:tc>
              </a:tr>
            </a:tbl>
          </a:graphicData>
        </a:graphic>
      </p:graphicFrame>
      <p:sp>
        <p:nvSpPr>
          <p:cNvPr id="10" name="TextBox 9"/>
          <p:cNvSpPr txBox="1"/>
          <p:nvPr/>
        </p:nvSpPr>
        <p:spPr>
          <a:xfrm>
            <a:off x="548640" y="1426464"/>
            <a:ext cx="5486400" cy="274320"/>
          </a:xfrm>
          <a:prstGeom prst="rect">
            <a:avLst/>
          </a:prstGeom>
          <a:noFill/>
        </p:spPr>
        <p:txBody>
          <a:bodyPr wrap="square" lIns="18288" rIns="18288" tIns="13716">
            <a:spAutoFit/>
          </a:bodyPr>
          <a:lstStyle/>
          <a:p>
            <a:pPr>
              <a:spcAft>
                <a:spcPts val="500"/>
              </a:spcAft>
              <a:defRPr sz="1600" b="1">
                <a:solidFill>
                  <a:srgbClr val="142638"/>
                </a:solidFill>
                <a:latin typeface="Aptos"/>
              </a:defRPr>
            </a:pPr>
            <a:r>
              <a:t>Gordon growth</a:t>
            </a:r>
          </a:p>
        </p:txBody>
      </p:sp>
      <p:sp>
        <p:nvSpPr>
          <p:cNvPr id="11" name="TextBox 10"/>
          <p:cNvSpPr txBox="1"/>
          <p:nvPr/>
        </p:nvSpPr>
        <p:spPr>
          <a:xfrm>
            <a:off x="6263640" y="1426464"/>
            <a:ext cx="5486400" cy="274320"/>
          </a:xfrm>
          <a:prstGeom prst="rect">
            <a:avLst/>
          </a:prstGeom>
          <a:noFill/>
        </p:spPr>
        <p:txBody>
          <a:bodyPr wrap="square" lIns="18288" rIns="18288" tIns="13716">
            <a:spAutoFit/>
          </a:bodyPr>
          <a:lstStyle/>
          <a:p>
            <a:pPr>
              <a:spcAft>
                <a:spcPts val="500"/>
              </a:spcAft>
              <a:defRPr sz="1600" b="1">
                <a:solidFill>
                  <a:srgbClr val="142638"/>
                </a:solidFill>
                <a:latin typeface="Aptos"/>
              </a:defRPr>
            </a:pPr>
            <a:r>
              <a:t>Exit EBITDA multiple</a:t>
            </a:r>
          </a:p>
        </p:txBody>
      </p:sp>
      <p:sp>
        <p:nvSpPr>
          <p:cNvPr id="12" name="TextBox 11"/>
          <p:cNvSpPr txBox="1"/>
          <p:nvPr/>
        </p:nvSpPr>
        <p:spPr>
          <a:xfrm>
            <a:off x="640080" y="5047488"/>
            <a:ext cx="10789920" cy="640080"/>
          </a:xfrm>
          <a:prstGeom prst="rect">
            <a:avLst/>
          </a:prstGeom>
          <a:noFill/>
        </p:spPr>
        <p:txBody>
          <a:bodyPr wrap="square" lIns="18288" rIns="18288" tIns="13716">
            <a:spAutoFit/>
          </a:bodyPr>
          <a:lstStyle/>
          <a:p>
            <a:pPr>
              <a:spcAft>
                <a:spcPts val="500"/>
              </a:spcAft>
              <a:defRPr sz="1900" b="1">
                <a:solidFill>
                  <a:srgbClr val="142638"/>
                </a:solidFill>
                <a:latin typeface="Aptos"/>
              </a:defRPr>
            </a:pPr>
            <a:r>
              <a:t>Discount-rate normalization alone must be justified independently. The model does not reduce WACC merely to reproduce an analyst price target.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10896"/>
            <a:ext cx="11247120" cy="594360"/>
          </a:xfrm>
          <a:prstGeom prst="rect">
            <a:avLst/>
          </a:prstGeom>
          <a:noFill/>
        </p:spPr>
        <p:txBody>
          <a:bodyPr wrap="square" lIns="18288" rIns="18288" tIns="13716">
            <a:spAutoFit/>
          </a:bodyPr>
          <a:lstStyle/>
          <a:p>
            <a:pPr>
              <a:spcAft>
                <a:spcPts val="500"/>
              </a:spcAft>
              <a:defRPr sz="2600" b="1">
                <a:solidFill>
                  <a:srgbClr val="142638"/>
                </a:solidFill>
                <a:latin typeface="Aptos"/>
              </a:defRPr>
            </a:pPr>
            <a:r>
              <a:t>Cross-checks distinguish intrinsic value from a recovery trade</a:t>
            </a:r>
          </a:p>
        </p:txBody>
      </p:sp>
      <p:sp>
        <p:nvSpPr>
          <p:cNvPr id="4" name="TextBox 3"/>
          <p:cNvSpPr txBox="1"/>
          <p:nvPr/>
        </p:nvSpPr>
        <p:spPr>
          <a:xfrm>
            <a:off x="457200" y="950976"/>
            <a:ext cx="11247120" cy="457200"/>
          </a:xfrm>
          <a:prstGeom prst="rect">
            <a:avLst/>
          </a:prstGeom>
          <a:noFill/>
        </p:spPr>
        <p:txBody>
          <a:bodyPr wrap="square" lIns="18288" rIns="18288" tIns="13716">
            <a:spAutoFit/>
          </a:bodyPr>
          <a:lstStyle/>
          <a:p>
            <a:pPr>
              <a:spcAft>
                <a:spcPts val="500"/>
              </a:spcAft>
              <a:defRPr sz="1400" b="0">
                <a:solidFill>
                  <a:srgbClr val="536575"/>
                </a:solidFill>
                <a:latin typeface="Aptos"/>
              </a:defRPr>
            </a:pPr>
            <a:r>
              <a:t>The analyst average is a 12-month benchmark; our proposed catalyst window is 3–6 months.</a:t>
            </a:r>
          </a:p>
        </p:txBody>
      </p:sp>
      <p:sp>
        <p:nvSpPr>
          <p:cNvPr id="5" name="Rectangle 4"/>
          <p:cNvSpPr/>
          <p:nvPr/>
        </p:nvSpPr>
        <p:spPr>
          <a:xfrm>
            <a:off x="457200" y="6208776"/>
            <a:ext cx="11247120" cy="13716"/>
          </a:xfrm>
          <a:prstGeom prst="rect">
            <a:avLst/>
          </a:prstGeom>
          <a:solidFill>
            <a:srgbClr val="CDD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18504"/>
            <a:ext cx="10698480" cy="347472"/>
          </a:xfrm>
          <a:prstGeom prst="rect">
            <a:avLst/>
          </a:prstGeom>
          <a:noFill/>
        </p:spPr>
        <p:txBody>
          <a:bodyPr wrap="square" lIns="18288" rIns="18288" tIns="13716">
            <a:spAutoFit/>
          </a:bodyPr>
          <a:lstStyle/>
          <a:p>
            <a:pPr>
              <a:spcAft>
                <a:spcPts val="500"/>
              </a:spcAft>
              <a:defRPr sz="800" b="0">
                <a:solidFill>
                  <a:srgbClr val="536575"/>
                </a:solidFill>
                <a:latin typeface="Aptos"/>
              </a:defRPr>
            </a:pPr>
            <a:r>
              <a:t>Sources: S3, S4, S8, S9, S10  |  AI: source extraction, model and slides; team review pending.</a:t>
            </a:r>
          </a:p>
        </p:txBody>
      </p:sp>
      <p:sp>
        <p:nvSpPr>
          <p:cNvPr id="7" name="TextBox 6"/>
          <p:cNvSpPr txBox="1"/>
          <p:nvPr/>
        </p:nvSpPr>
        <p:spPr>
          <a:xfrm>
            <a:off x="11320272" y="6291072"/>
            <a:ext cx="411480" cy="320040"/>
          </a:xfrm>
          <a:prstGeom prst="rect">
            <a:avLst/>
          </a:prstGeom>
          <a:noFill/>
        </p:spPr>
        <p:txBody>
          <a:bodyPr wrap="square" lIns="18288" rIns="18288" tIns="13716">
            <a:spAutoFit/>
          </a:bodyPr>
          <a:lstStyle/>
          <a:p>
            <a:pPr>
              <a:spcAft>
                <a:spcPts val="500"/>
              </a:spcAft>
              <a:defRPr sz="1000" b="0">
                <a:solidFill>
                  <a:srgbClr val="536575"/>
                </a:solidFill>
                <a:latin typeface="Aptos"/>
              </a:defRPr>
            </a:pPr>
            <a:r>
              <a:t>8</a:t>
            </a:r>
          </a:p>
        </p:txBody>
      </p:sp>
      <p:graphicFrame>
        <p:nvGraphicFramePr>
          <p:cNvPr id="8" name="Table 7"/>
          <p:cNvGraphicFramePr>
            <a:graphicFrameLocks noGrp="1"/>
          </p:cNvGraphicFramePr>
          <p:nvPr/>
        </p:nvGraphicFramePr>
        <p:xfrm>
          <a:off x="502920" y="1572768"/>
          <a:ext cx="4663440" cy="2103120"/>
        </p:xfrm>
        <a:graphic>
          <a:graphicData uri="http://schemas.openxmlformats.org/drawingml/2006/table">
            <a:tbl>
              <a:tblPr firstRow="1" bandRow="1">
                <a:tableStyleId>{5C22544A-7EE6-4342-B048-85BDC9FD1C3A}</a:tableStyleId>
              </a:tblPr>
              <a:tblGrid>
                <a:gridCol w="1554480"/>
                <a:gridCol w="1554480"/>
                <a:gridCol w="1554480"/>
              </a:tblGrid>
              <a:tr h="525780">
                <a:tc>
                  <a:txBody>
                    <a:bodyPr/>
                    <a:lstStyle/>
                    <a:p>
                      <a:pPr>
                        <a:defRPr sz="1500" b="1">
                          <a:solidFill>
                            <a:srgbClr val="FFFFFF"/>
                          </a:solidFill>
                          <a:latin typeface="Aptos"/>
                        </a:defRPr>
                      </a:pPr>
                      <a:r>
                        <a:t>Peer</a:t>
                      </a:r>
                    </a:p>
                  </a:txBody>
                  <a:tcPr marL="82296" marR="54864" marT="45720">
                    <a:solidFill>
                      <a:srgbClr val="087F8C"/>
                    </a:solidFill>
                  </a:tcPr>
                </a:tc>
                <a:tc>
                  <a:txBody>
                    <a:bodyPr/>
                    <a:lstStyle/>
                    <a:p>
                      <a:pPr>
                        <a:defRPr sz="1500" b="1">
                          <a:solidFill>
                            <a:srgbClr val="FFFFFF"/>
                          </a:solidFill>
                          <a:latin typeface="Aptos"/>
                        </a:defRPr>
                      </a:pPr>
                      <a:r>
                        <a:t>EV / EBITDA</a:t>
                      </a:r>
                    </a:p>
                  </a:txBody>
                  <a:tcPr marL="82296" marR="54864" marT="45720">
                    <a:solidFill>
                      <a:srgbClr val="087F8C"/>
                    </a:solidFill>
                  </a:tcPr>
                </a:tc>
                <a:tc>
                  <a:txBody>
                    <a:bodyPr/>
                    <a:lstStyle/>
                    <a:p>
                      <a:pPr>
                        <a:defRPr sz="1500" b="1">
                          <a:solidFill>
                            <a:srgbClr val="FFFFFF"/>
                          </a:solidFill>
                          <a:latin typeface="Aptos"/>
                        </a:defRPr>
                      </a:pPr>
                      <a:r>
                        <a:t>Fwd P/E</a:t>
                      </a:r>
                    </a:p>
                  </a:txBody>
                  <a:tcPr marL="82296" marR="54864" marT="45720">
                    <a:solidFill>
                      <a:srgbClr val="087F8C"/>
                    </a:solidFill>
                  </a:tcPr>
                </a:tc>
              </a:tr>
              <a:tr h="525780">
                <a:tc>
                  <a:txBody>
                    <a:bodyPr/>
                    <a:lstStyle/>
                    <a:p>
                      <a:pPr>
                        <a:defRPr sz="1500" b="0">
                          <a:solidFill>
                            <a:srgbClr val="142638"/>
                          </a:solidFill>
                          <a:latin typeface="Aptos"/>
                        </a:defRPr>
                      </a:pPr>
                      <a:r>
                        <a:t>COHR</a:t>
                      </a:r>
                    </a:p>
                  </a:txBody>
                  <a:tcPr marL="82296" marR="54864" marT="45720">
                    <a:solidFill>
                      <a:srgbClr val="EAF3F4"/>
                    </a:solidFill>
                  </a:tcPr>
                </a:tc>
                <a:tc>
                  <a:txBody>
                    <a:bodyPr/>
                    <a:lstStyle/>
                    <a:p>
                      <a:pPr>
                        <a:defRPr sz="1500" b="0">
                          <a:solidFill>
                            <a:srgbClr val="142638"/>
                          </a:solidFill>
                          <a:latin typeface="Aptos"/>
                        </a:defRPr>
                      </a:pPr>
                      <a:r>
                        <a:t>41.9×</a:t>
                      </a:r>
                    </a:p>
                  </a:txBody>
                  <a:tcPr marL="82296" marR="54864" marT="45720">
                    <a:solidFill>
                      <a:srgbClr val="EAF3F4"/>
                    </a:solidFill>
                  </a:tcPr>
                </a:tc>
                <a:tc>
                  <a:txBody>
                    <a:bodyPr/>
                    <a:lstStyle/>
                    <a:p>
                      <a:pPr>
                        <a:defRPr sz="1500" b="0">
                          <a:solidFill>
                            <a:srgbClr val="142638"/>
                          </a:solidFill>
                          <a:latin typeface="Aptos"/>
                        </a:defRPr>
                      </a:pPr>
                      <a:r>
                        <a:t>31.4×</a:t>
                      </a:r>
                    </a:p>
                  </a:txBody>
                  <a:tcPr marL="82296" marR="54864" marT="45720">
                    <a:solidFill>
                      <a:srgbClr val="EAF3F4"/>
                    </a:solidFill>
                  </a:tcPr>
                </a:tc>
              </a:tr>
              <a:tr h="525780">
                <a:tc>
                  <a:txBody>
                    <a:bodyPr/>
                    <a:lstStyle/>
                    <a:p>
                      <a:pPr>
                        <a:defRPr sz="1500" b="0">
                          <a:solidFill>
                            <a:srgbClr val="142638"/>
                          </a:solidFill>
                          <a:latin typeface="Aptos"/>
                        </a:defRPr>
                      </a:pPr>
                      <a:r>
                        <a:t>MRVL</a:t>
                      </a:r>
                    </a:p>
                  </a:txBody>
                  <a:tcPr marL="82296" marR="54864" marT="45720">
                    <a:solidFill>
                      <a:srgbClr val="FFFFFF"/>
                    </a:solidFill>
                  </a:tcPr>
                </a:tc>
                <a:tc>
                  <a:txBody>
                    <a:bodyPr/>
                    <a:lstStyle/>
                    <a:p>
                      <a:pPr>
                        <a:defRPr sz="1500" b="0">
                          <a:solidFill>
                            <a:srgbClr val="142638"/>
                          </a:solidFill>
                          <a:latin typeface="Aptos"/>
                        </a:defRPr>
                      </a:pPr>
                      <a:r>
                        <a:t>74.6×</a:t>
                      </a:r>
                    </a:p>
                  </a:txBody>
                  <a:tcPr marL="82296" marR="54864" marT="45720">
                    <a:solidFill>
                      <a:srgbClr val="FFFFFF"/>
                    </a:solidFill>
                  </a:tcPr>
                </a:tc>
                <a:tc>
                  <a:txBody>
                    <a:bodyPr/>
                    <a:lstStyle/>
                    <a:p>
                      <a:pPr>
                        <a:defRPr sz="1500" b="0">
                          <a:solidFill>
                            <a:srgbClr val="142638"/>
                          </a:solidFill>
                          <a:latin typeface="Aptos"/>
                        </a:defRPr>
                      </a:pPr>
                      <a:r>
                        <a:t>44.1×</a:t>
                      </a:r>
                    </a:p>
                  </a:txBody>
                  <a:tcPr marL="82296" marR="54864" marT="45720">
                    <a:solidFill>
                      <a:srgbClr val="FFFFFF"/>
                    </a:solidFill>
                  </a:tcPr>
                </a:tc>
              </a:tr>
              <a:tr h="525780">
                <a:tc>
                  <a:txBody>
                    <a:bodyPr/>
                    <a:lstStyle/>
                    <a:p>
                      <a:pPr>
                        <a:defRPr sz="1500" b="0">
                          <a:solidFill>
                            <a:srgbClr val="142638"/>
                          </a:solidFill>
                          <a:latin typeface="Aptos"/>
                        </a:defRPr>
                      </a:pPr>
                      <a:r>
                        <a:t>FN</a:t>
                      </a:r>
                    </a:p>
                  </a:txBody>
                  <a:tcPr marL="82296" marR="54864" marT="45720">
                    <a:solidFill>
                      <a:srgbClr val="EAF3F4"/>
                    </a:solidFill>
                  </a:tcPr>
                </a:tc>
                <a:tc>
                  <a:txBody>
                    <a:bodyPr/>
                    <a:lstStyle/>
                    <a:p>
                      <a:pPr>
                        <a:defRPr sz="1500" b="0">
                          <a:solidFill>
                            <a:srgbClr val="142638"/>
                          </a:solidFill>
                          <a:latin typeface="Aptos"/>
                        </a:defRPr>
                      </a:pPr>
                      <a:r>
                        <a:t>24.1×</a:t>
                      </a:r>
                    </a:p>
                  </a:txBody>
                  <a:tcPr marL="82296" marR="54864" marT="45720">
                    <a:solidFill>
                      <a:srgbClr val="EAF3F4"/>
                    </a:solidFill>
                  </a:tcPr>
                </a:tc>
                <a:tc>
                  <a:txBody>
                    <a:bodyPr/>
                    <a:lstStyle/>
                    <a:p>
                      <a:pPr>
                        <a:defRPr sz="1500" b="0">
                          <a:solidFill>
                            <a:srgbClr val="142638"/>
                          </a:solidFill>
                          <a:latin typeface="Aptos"/>
                        </a:defRPr>
                      </a:pPr>
                      <a:r>
                        <a:t>20.7×</a:t>
                      </a:r>
                    </a:p>
                  </a:txBody>
                  <a:tcPr marL="82296" marR="54864" marT="45720">
                    <a:solidFill>
                      <a:srgbClr val="EAF3F4"/>
                    </a:solidFill>
                  </a:tcPr>
                </a:tc>
              </a:tr>
            </a:tbl>
          </a:graphicData>
        </a:graphic>
      </p:graphicFrame>
      <p:sp>
        <p:nvSpPr>
          <p:cNvPr id="9" name="TextBox 8"/>
          <p:cNvSpPr txBox="1"/>
          <p:nvPr/>
        </p:nvSpPr>
        <p:spPr>
          <a:xfrm>
            <a:off x="594360" y="4005072"/>
            <a:ext cx="4389120" cy="1463040"/>
          </a:xfrm>
          <a:prstGeom prst="rect">
            <a:avLst/>
          </a:prstGeom>
          <a:noFill/>
        </p:spPr>
        <p:txBody>
          <a:bodyPr wrap="square" lIns="18288" rIns="18288" tIns="13716">
            <a:spAutoFit/>
          </a:bodyPr>
          <a:lstStyle/>
          <a:p>
            <a:pPr>
              <a:spcAft>
                <a:spcPts val="500"/>
              </a:spcAft>
              <a:defRPr sz="1700" b="0">
                <a:solidFill>
                  <a:srgbClr val="142638"/>
                </a:solidFill>
                <a:latin typeface="Aptos"/>
              </a:defRPr>
            </a:pPr>
            <a:r>
              <a:t>Peer P/E × $21.67 LITE EPS:</a:t>
            </a:r>
          </a:p>
          <a:p>
            <a:pPr>
              <a:spcAft>
                <a:spcPts val="500"/>
              </a:spcAft>
              <a:defRPr sz="1700" b="0">
                <a:solidFill>
                  <a:srgbClr val="142638"/>
                </a:solidFill>
                <a:latin typeface="Aptos"/>
              </a:defRPr>
            </a:pPr>
            <a:r>
              <a:t>$449–$956</a:t>
            </a:r>
          </a:p>
          <a:p>
            <a:pPr>
              <a:spcAft>
                <a:spcPts val="500"/>
              </a:spcAft>
              <a:defRPr sz="1700" b="0">
                <a:solidFill>
                  <a:srgbClr val="142638"/>
                </a:solidFill>
                <a:latin typeface="Aptos"/>
              </a:defRPr>
            </a:pPr>
            <a:r>
              <a:t>Indicative, not a like-for-like target.</a:t>
            </a:r>
          </a:p>
        </p:txBody>
      </p:sp>
      <p:pic>
        <p:nvPicPr>
          <p:cNvPr id="10" name="Picture 9" descr="LITE_Valuation_Football_Field.png"/>
          <p:cNvPicPr>
            <a:picLocks noChangeAspect="1"/>
          </p:cNvPicPr>
          <p:nvPr/>
        </p:nvPicPr>
        <p:blipFill>
          <a:blip r:embed="rId3"/>
          <a:stretch>
            <a:fillRect/>
          </a:stretch>
        </p:blipFill>
        <p:spPr>
          <a:xfrm>
            <a:off x="5349240" y="1554480"/>
            <a:ext cx="6400800" cy="41605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10896"/>
            <a:ext cx="11247120" cy="594360"/>
          </a:xfrm>
          <a:prstGeom prst="rect">
            <a:avLst/>
          </a:prstGeom>
          <a:noFill/>
        </p:spPr>
        <p:txBody>
          <a:bodyPr wrap="square" lIns="18288" rIns="18288" tIns="13716">
            <a:spAutoFit/>
          </a:bodyPr>
          <a:lstStyle/>
          <a:p>
            <a:pPr>
              <a:spcAft>
                <a:spcPts val="500"/>
              </a:spcAft>
              <a:defRPr sz="2600" b="1">
                <a:solidFill>
                  <a:srgbClr val="142638"/>
                </a:solidFill>
                <a:latin typeface="Aptos"/>
              </a:defRPr>
            </a:pPr>
            <a:r>
              <a:t>Bear / Base / Bull: operating survival is not an equity floor</a:t>
            </a:r>
          </a:p>
        </p:txBody>
      </p:sp>
      <p:sp>
        <p:nvSpPr>
          <p:cNvPr id="4" name="TextBox 3"/>
          <p:cNvSpPr txBox="1"/>
          <p:nvPr/>
        </p:nvSpPr>
        <p:spPr>
          <a:xfrm>
            <a:off x="457200" y="950976"/>
            <a:ext cx="11247120" cy="457200"/>
          </a:xfrm>
          <a:prstGeom prst="rect">
            <a:avLst/>
          </a:prstGeom>
          <a:noFill/>
        </p:spPr>
        <p:txBody>
          <a:bodyPr wrap="square" lIns="18288" rIns="18288" tIns="13716">
            <a:spAutoFit/>
          </a:bodyPr>
          <a:lstStyle/>
          <a:p>
            <a:pPr>
              <a:spcAft>
                <a:spcPts val="500"/>
              </a:spcAft>
              <a:defRPr sz="1400" b="0">
                <a:solidFill>
                  <a:srgbClr val="536575"/>
                </a:solidFill>
                <a:latin typeface="Aptos"/>
              </a:defRPr>
            </a:pPr>
            <a:r>
              <a:t>Only operating execution varies; common WACC, tax, terminal growth, terminal margin and exit multiple.</a:t>
            </a:r>
          </a:p>
        </p:txBody>
      </p:sp>
      <p:sp>
        <p:nvSpPr>
          <p:cNvPr id="5" name="Rectangle 4"/>
          <p:cNvSpPr/>
          <p:nvPr/>
        </p:nvSpPr>
        <p:spPr>
          <a:xfrm>
            <a:off x="457200" y="6208776"/>
            <a:ext cx="11247120" cy="13716"/>
          </a:xfrm>
          <a:prstGeom prst="rect">
            <a:avLst/>
          </a:prstGeom>
          <a:solidFill>
            <a:srgbClr val="CDD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18504"/>
            <a:ext cx="10698480" cy="347472"/>
          </a:xfrm>
          <a:prstGeom prst="rect">
            <a:avLst/>
          </a:prstGeom>
          <a:noFill/>
        </p:spPr>
        <p:txBody>
          <a:bodyPr wrap="square" lIns="18288" rIns="18288" tIns="13716">
            <a:spAutoFit/>
          </a:bodyPr>
          <a:lstStyle/>
          <a:p>
            <a:pPr>
              <a:spcAft>
                <a:spcPts val="500"/>
              </a:spcAft>
              <a:defRPr sz="800" b="0">
                <a:solidFill>
                  <a:srgbClr val="536575"/>
                </a:solidFill>
                <a:latin typeface="Aptos"/>
              </a:defRPr>
            </a:pPr>
            <a:r>
              <a:t>Sources: S1, S2, S4  |  AI: source extraction, model and slides; team review pending.</a:t>
            </a:r>
          </a:p>
        </p:txBody>
      </p:sp>
      <p:sp>
        <p:nvSpPr>
          <p:cNvPr id="7" name="TextBox 6"/>
          <p:cNvSpPr txBox="1"/>
          <p:nvPr/>
        </p:nvSpPr>
        <p:spPr>
          <a:xfrm>
            <a:off x="11320272" y="6291072"/>
            <a:ext cx="411480" cy="320040"/>
          </a:xfrm>
          <a:prstGeom prst="rect">
            <a:avLst/>
          </a:prstGeom>
          <a:noFill/>
        </p:spPr>
        <p:txBody>
          <a:bodyPr wrap="square" lIns="18288" rIns="18288" tIns="13716">
            <a:spAutoFit/>
          </a:bodyPr>
          <a:lstStyle/>
          <a:p>
            <a:pPr>
              <a:spcAft>
                <a:spcPts val="500"/>
              </a:spcAft>
              <a:defRPr sz="1000" b="0">
                <a:solidFill>
                  <a:srgbClr val="536575"/>
                </a:solidFill>
                <a:latin typeface="Aptos"/>
              </a:defRPr>
            </a:pPr>
            <a:r>
              <a:t>9</a:t>
            </a:r>
          </a:p>
        </p:txBody>
      </p:sp>
      <p:graphicFrame>
        <p:nvGraphicFramePr>
          <p:cNvPr id="8" name="Table 7"/>
          <p:cNvGraphicFramePr>
            <a:graphicFrameLocks noGrp="1"/>
          </p:cNvGraphicFramePr>
          <p:nvPr/>
        </p:nvGraphicFramePr>
        <p:xfrm>
          <a:off x="502920" y="1600200"/>
          <a:ext cx="7315198" cy="3337560"/>
        </p:xfrm>
        <a:graphic>
          <a:graphicData uri="http://schemas.openxmlformats.org/drawingml/2006/table">
            <a:tbl>
              <a:tblPr firstRow="1" bandRow="1">
                <a:tableStyleId>{5C22544A-7EE6-4342-B048-85BDC9FD1C3A}</a:tableStyleId>
              </a:tblPr>
              <a:tblGrid>
                <a:gridCol w="3325090"/>
                <a:gridCol w="1330036"/>
                <a:gridCol w="1330036"/>
                <a:gridCol w="1330036"/>
              </a:tblGrid>
              <a:tr h="476794">
                <a:tc>
                  <a:txBody>
                    <a:bodyPr/>
                    <a:lstStyle/>
                    <a:p>
                      <a:pPr>
                        <a:defRPr sz="1500" b="1">
                          <a:solidFill>
                            <a:srgbClr val="FFFFFF"/>
                          </a:solidFill>
                          <a:latin typeface="Aptos"/>
                        </a:defRPr>
                      </a:pPr>
                      <a:r>
                        <a:t>USD m except per share</a:t>
                      </a:r>
                    </a:p>
                  </a:txBody>
                  <a:tcPr marL="82296" marR="54864" marT="45720">
                    <a:solidFill>
                      <a:srgbClr val="087F8C"/>
                    </a:solidFill>
                  </a:tcPr>
                </a:tc>
                <a:tc>
                  <a:txBody>
                    <a:bodyPr/>
                    <a:lstStyle/>
                    <a:p>
                      <a:pPr>
                        <a:defRPr sz="1500" b="1">
                          <a:solidFill>
                            <a:srgbClr val="FFFFFF"/>
                          </a:solidFill>
                          <a:latin typeface="Aptos"/>
                        </a:defRPr>
                      </a:pPr>
                      <a:r>
                        <a:t>Bear</a:t>
                      </a:r>
                    </a:p>
                  </a:txBody>
                  <a:tcPr marL="82296" marR="54864" marT="45720">
                    <a:solidFill>
                      <a:srgbClr val="087F8C"/>
                    </a:solidFill>
                  </a:tcPr>
                </a:tc>
                <a:tc>
                  <a:txBody>
                    <a:bodyPr/>
                    <a:lstStyle/>
                    <a:p>
                      <a:pPr>
                        <a:defRPr sz="1500" b="1">
                          <a:solidFill>
                            <a:srgbClr val="FFFFFF"/>
                          </a:solidFill>
                          <a:latin typeface="Aptos"/>
                        </a:defRPr>
                      </a:pPr>
                      <a:r>
                        <a:t>Base</a:t>
                      </a:r>
                    </a:p>
                  </a:txBody>
                  <a:tcPr marL="82296" marR="54864" marT="45720">
                    <a:solidFill>
                      <a:srgbClr val="087F8C"/>
                    </a:solidFill>
                  </a:tcPr>
                </a:tc>
                <a:tc>
                  <a:txBody>
                    <a:bodyPr/>
                    <a:lstStyle/>
                    <a:p>
                      <a:pPr>
                        <a:defRPr sz="1500" b="1">
                          <a:solidFill>
                            <a:srgbClr val="FFFFFF"/>
                          </a:solidFill>
                          <a:latin typeface="Aptos"/>
                        </a:defRPr>
                      </a:pPr>
                      <a:r>
                        <a:t>Bull</a:t>
                      </a:r>
                    </a:p>
                  </a:txBody>
                  <a:tcPr marL="82296" marR="54864" marT="45720">
                    <a:solidFill>
                      <a:srgbClr val="087F8C"/>
                    </a:solidFill>
                  </a:tcPr>
                </a:tc>
              </a:tr>
              <a:tr h="476794">
                <a:tc>
                  <a:txBody>
                    <a:bodyPr/>
                    <a:lstStyle/>
                    <a:p>
                      <a:pPr>
                        <a:defRPr sz="1500" b="0">
                          <a:solidFill>
                            <a:srgbClr val="142638"/>
                          </a:solidFill>
                          <a:latin typeface="Aptos"/>
                        </a:defRPr>
                      </a:pPr>
                      <a:r>
                        <a:t>FY27 revenue</a:t>
                      </a:r>
                    </a:p>
                  </a:txBody>
                  <a:tcPr marL="82296" marR="54864" marT="45720">
                    <a:solidFill>
                      <a:srgbClr val="EAF3F4"/>
                    </a:solidFill>
                  </a:tcPr>
                </a:tc>
                <a:tc>
                  <a:txBody>
                    <a:bodyPr/>
                    <a:lstStyle/>
                    <a:p>
                      <a:pPr>
                        <a:defRPr sz="1500" b="0">
                          <a:solidFill>
                            <a:srgbClr val="142638"/>
                          </a:solidFill>
                          <a:latin typeface="Aptos"/>
                        </a:defRPr>
                      </a:pPr>
                      <a:r>
                        <a:t>5,600</a:t>
                      </a:r>
                    </a:p>
                  </a:txBody>
                  <a:tcPr marL="82296" marR="54864" marT="45720">
                    <a:solidFill>
                      <a:srgbClr val="EAF3F4"/>
                    </a:solidFill>
                  </a:tcPr>
                </a:tc>
                <a:tc>
                  <a:txBody>
                    <a:bodyPr/>
                    <a:lstStyle/>
                    <a:p>
                      <a:pPr>
                        <a:defRPr sz="1500" b="0">
                          <a:solidFill>
                            <a:srgbClr val="142638"/>
                          </a:solidFill>
                          <a:latin typeface="Aptos"/>
                        </a:defRPr>
                      </a:pPr>
                      <a:r>
                        <a:t>6,320</a:t>
                      </a:r>
                    </a:p>
                  </a:txBody>
                  <a:tcPr marL="82296" marR="54864" marT="45720">
                    <a:solidFill>
                      <a:srgbClr val="EAF3F4"/>
                    </a:solidFill>
                  </a:tcPr>
                </a:tc>
                <a:tc>
                  <a:txBody>
                    <a:bodyPr/>
                    <a:lstStyle/>
                    <a:p>
                      <a:pPr>
                        <a:defRPr sz="1500" b="0">
                          <a:solidFill>
                            <a:srgbClr val="142638"/>
                          </a:solidFill>
                          <a:latin typeface="Aptos"/>
                        </a:defRPr>
                      </a:pPr>
                      <a:r>
                        <a:t>6,652</a:t>
                      </a:r>
                    </a:p>
                  </a:txBody>
                  <a:tcPr marL="82296" marR="54864" marT="45720">
                    <a:solidFill>
                      <a:srgbClr val="EAF3F4"/>
                    </a:solidFill>
                  </a:tcPr>
                </a:tc>
              </a:tr>
              <a:tr h="476794">
                <a:tc>
                  <a:txBody>
                    <a:bodyPr/>
                    <a:lstStyle/>
                    <a:p>
                      <a:pPr>
                        <a:defRPr sz="1500" b="0">
                          <a:solidFill>
                            <a:srgbClr val="142638"/>
                          </a:solidFill>
                          <a:latin typeface="Aptos"/>
                        </a:defRPr>
                      </a:pPr>
                      <a:r>
                        <a:t>FY27 uFCF</a:t>
                      </a:r>
                    </a:p>
                  </a:txBody>
                  <a:tcPr marL="82296" marR="54864" marT="45720">
                    <a:solidFill>
                      <a:srgbClr val="FFFFFF"/>
                    </a:solidFill>
                  </a:tcPr>
                </a:tc>
                <a:tc>
                  <a:txBody>
                    <a:bodyPr/>
                    <a:lstStyle/>
                    <a:p>
                      <a:pPr>
                        <a:defRPr sz="1500" b="0">
                          <a:solidFill>
                            <a:srgbClr val="142638"/>
                          </a:solidFill>
                          <a:latin typeface="Aptos"/>
                        </a:defRPr>
                      </a:pPr>
                      <a:r>
                        <a:t>184</a:t>
                      </a:r>
                    </a:p>
                  </a:txBody>
                  <a:tcPr marL="82296" marR="54864" marT="45720">
                    <a:solidFill>
                      <a:srgbClr val="FFFFFF"/>
                    </a:solidFill>
                  </a:tcPr>
                </a:tc>
                <a:tc>
                  <a:txBody>
                    <a:bodyPr/>
                    <a:lstStyle/>
                    <a:p>
                      <a:pPr>
                        <a:defRPr sz="1500" b="0">
                          <a:solidFill>
                            <a:srgbClr val="142638"/>
                          </a:solidFill>
                          <a:latin typeface="Aptos"/>
                        </a:defRPr>
                      </a:pPr>
                      <a:r>
                        <a:t>655</a:t>
                      </a:r>
                    </a:p>
                  </a:txBody>
                  <a:tcPr marL="82296" marR="54864" marT="45720">
                    <a:solidFill>
                      <a:srgbClr val="FFFFFF"/>
                    </a:solidFill>
                  </a:tcPr>
                </a:tc>
                <a:tc>
                  <a:txBody>
                    <a:bodyPr/>
                    <a:lstStyle/>
                    <a:p>
                      <a:pPr>
                        <a:defRPr sz="1500" b="0">
                          <a:solidFill>
                            <a:srgbClr val="142638"/>
                          </a:solidFill>
                          <a:latin typeface="Aptos"/>
                        </a:defRPr>
                      </a:pPr>
                      <a:r>
                        <a:t>686</a:t>
                      </a:r>
                    </a:p>
                  </a:txBody>
                  <a:tcPr marL="82296" marR="54864" marT="45720">
                    <a:solidFill>
                      <a:srgbClr val="FFFFFF"/>
                    </a:solidFill>
                  </a:tcPr>
                </a:tc>
              </a:tr>
              <a:tr h="476794">
                <a:tc>
                  <a:txBody>
                    <a:bodyPr/>
                    <a:lstStyle/>
                    <a:p>
                      <a:pPr>
                        <a:defRPr sz="1500" b="0">
                          <a:solidFill>
                            <a:srgbClr val="142638"/>
                          </a:solidFill>
                          <a:latin typeface="Aptos"/>
                        </a:defRPr>
                      </a:pPr>
                      <a:r>
                        <a:t>FY31 revenue</a:t>
                      </a:r>
                    </a:p>
                  </a:txBody>
                  <a:tcPr marL="82296" marR="54864" marT="45720">
                    <a:solidFill>
                      <a:srgbClr val="EAF3F4"/>
                    </a:solidFill>
                  </a:tcPr>
                </a:tc>
                <a:tc>
                  <a:txBody>
                    <a:bodyPr/>
                    <a:lstStyle/>
                    <a:p>
                      <a:pPr>
                        <a:defRPr sz="1500" b="0">
                          <a:solidFill>
                            <a:srgbClr val="142638"/>
                          </a:solidFill>
                          <a:latin typeface="Aptos"/>
                        </a:defRPr>
                      </a:pPr>
                      <a:r>
                        <a:t>9,036</a:t>
                      </a:r>
                    </a:p>
                  </a:txBody>
                  <a:tcPr marL="82296" marR="54864" marT="45720">
                    <a:solidFill>
                      <a:srgbClr val="EAF3F4"/>
                    </a:solidFill>
                  </a:tcPr>
                </a:tc>
                <a:tc>
                  <a:txBody>
                    <a:bodyPr/>
                    <a:lstStyle/>
                    <a:p>
                      <a:pPr>
                        <a:defRPr sz="1500" b="0">
                          <a:solidFill>
                            <a:srgbClr val="142638"/>
                          </a:solidFill>
                          <a:latin typeface="Aptos"/>
                        </a:defRPr>
                      </a:pPr>
                      <a:r>
                        <a:t>17,528</a:t>
                      </a:r>
                    </a:p>
                  </a:txBody>
                  <a:tcPr marL="82296" marR="54864" marT="45720">
                    <a:solidFill>
                      <a:srgbClr val="EAF3F4"/>
                    </a:solidFill>
                  </a:tcPr>
                </a:tc>
                <a:tc>
                  <a:txBody>
                    <a:bodyPr/>
                    <a:lstStyle/>
                    <a:p>
                      <a:pPr>
                        <a:defRPr sz="1500" b="0">
                          <a:solidFill>
                            <a:srgbClr val="142638"/>
                          </a:solidFill>
                          <a:latin typeface="Aptos"/>
                        </a:defRPr>
                      </a:pPr>
                      <a:r>
                        <a:t>20,004</a:t>
                      </a:r>
                    </a:p>
                  </a:txBody>
                  <a:tcPr marL="82296" marR="54864" marT="45720">
                    <a:solidFill>
                      <a:srgbClr val="EAF3F4"/>
                    </a:solidFill>
                  </a:tcPr>
                </a:tc>
              </a:tr>
              <a:tr h="476794">
                <a:tc>
                  <a:txBody>
                    <a:bodyPr/>
                    <a:lstStyle/>
                    <a:p>
                      <a:pPr>
                        <a:defRPr sz="1500" b="0">
                          <a:solidFill>
                            <a:srgbClr val="142638"/>
                          </a:solidFill>
                          <a:latin typeface="Aptos"/>
                        </a:defRPr>
                      </a:pPr>
                      <a:r>
                        <a:t>Gordon value</a:t>
                      </a:r>
                    </a:p>
                  </a:txBody>
                  <a:tcPr marL="82296" marR="54864" marT="45720">
                    <a:solidFill>
                      <a:srgbClr val="FFFFFF"/>
                    </a:solidFill>
                  </a:tcPr>
                </a:tc>
                <a:tc>
                  <a:txBody>
                    <a:bodyPr/>
                    <a:lstStyle/>
                    <a:p>
                      <a:pPr>
                        <a:defRPr sz="1500" b="0">
                          <a:solidFill>
                            <a:srgbClr val="142638"/>
                          </a:solidFill>
                          <a:latin typeface="Aptos"/>
                        </a:defRPr>
                      </a:pPr>
                      <a:r>
                        <a:t>$126</a:t>
                      </a:r>
                    </a:p>
                  </a:txBody>
                  <a:tcPr marL="82296" marR="54864" marT="45720">
                    <a:solidFill>
                      <a:srgbClr val="FFFFFF"/>
                    </a:solidFill>
                  </a:tcPr>
                </a:tc>
                <a:tc>
                  <a:txBody>
                    <a:bodyPr/>
                    <a:lstStyle/>
                    <a:p>
                      <a:pPr>
                        <a:defRPr sz="1500" b="0">
                          <a:solidFill>
                            <a:srgbClr val="142638"/>
                          </a:solidFill>
                          <a:latin typeface="Aptos"/>
                        </a:defRPr>
                      </a:pPr>
                      <a:r>
                        <a:t>$268</a:t>
                      </a:r>
                    </a:p>
                  </a:txBody>
                  <a:tcPr marL="82296" marR="54864" marT="45720">
                    <a:solidFill>
                      <a:srgbClr val="FFFFFF"/>
                    </a:solidFill>
                  </a:tcPr>
                </a:tc>
                <a:tc>
                  <a:txBody>
                    <a:bodyPr/>
                    <a:lstStyle/>
                    <a:p>
                      <a:pPr>
                        <a:defRPr sz="1500" b="0">
                          <a:solidFill>
                            <a:srgbClr val="142638"/>
                          </a:solidFill>
                          <a:latin typeface="Aptos"/>
                        </a:defRPr>
                      </a:pPr>
                      <a:r>
                        <a:t>$300</a:t>
                      </a:r>
                    </a:p>
                  </a:txBody>
                  <a:tcPr marL="82296" marR="54864" marT="45720">
                    <a:solidFill>
                      <a:srgbClr val="FFFFFF"/>
                    </a:solidFill>
                  </a:tcPr>
                </a:tc>
              </a:tr>
              <a:tr h="476794">
                <a:tc>
                  <a:txBody>
                    <a:bodyPr/>
                    <a:lstStyle/>
                    <a:p>
                      <a:pPr>
                        <a:defRPr sz="1500" b="0">
                          <a:solidFill>
                            <a:srgbClr val="142638"/>
                          </a:solidFill>
                          <a:latin typeface="Aptos"/>
                        </a:defRPr>
                      </a:pPr>
                      <a:r>
                        <a:t>Exit value</a:t>
                      </a:r>
                    </a:p>
                  </a:txBody>
                  <a:tcPr marL="82296" marR="54864" marT="45720">
                    <a:solidFill>
                      <a:srgbClr val="EAF3F4"/>
                    </a:solidFill>
                  </a:tcPr>
                </a:tc>
                <a:tc>
                  <a:txBody>
                    <a:bodyPr/>
                    <a:lstStyle/>
                    <a:p>
                      <a:pPr>
                        <a:defRPr sz="1500" b="0">
                          <a:solidFill>
                            <a:srgbClr val="142638"/>
                          </a:solidFill>
                          <a:latin typeface="Aptos"/>
                        </a:defRPr>
                      </a:pPr>
                      <a:r>
                        <a:t>$211</a:t>
                      </a:r>
                    </a:p>
                  </a:txBody>
                  <a:tcPr marL="82296" marR="54864" marT="45720">
                    <a:solidFill>
                      <a:srgbClr val="EAF3F4"/>
                    </a:solidFill>
                  </a:tcPr>
                </a:tc>
                <a:tc>
                  <a:txBody>
                    <a:bodyPr/>
                    <a:lstStyle/>
                    <a:p>
                      <a:pPr>
                        <a:defRPr sz="1500" b="0">
                          <a:solidFill>
                            <a:srgbClr val="142638"/>
                          </a:solidFill>
                          <a:latin typeface="Aptos"/>
                        </a:defRPr>
                      </a:pPr>
                      <a:r>
                        <a:t>$448</a:t>
                      </a:r>
                    </a:p>
                  </a:txBody>
                  <a:tcPr marL="82296" marR="54864" marT="45720">
                    <a:solidFill>
                      <a:srgbClr val="EAF3F4"/>
                    </a:solidFill>
                  </a:tcPr>
                </a:tc>
                <a:tc>
                  <a:txBody>
                    <a:bodyPr/>
                    <a:lstStyle/>
                    <a:p>
                      <a:pPr>
                        <a:defRPr sz="1500" b="0">
                          <a:solidFill>
                            <a:srgbClr val="142638"/>
                          </a:solidFill>
                          <a:latin typeface="Aptos"/>
                        </a:defRPr>
                      </a:pPr>
                      <a:r>
                        <a:t>$499</a:t>
                      </a:r>
                    </a:p>
                  </a:txBody>
                  <a:tcPr marL="82296" marR="54864" marT="45720">
                    <a:solidFill>
                      <a:srgbClr val="EAF3F4"/>
                    </a:solidFill>
                  </a:tcPr>
                </a:tc>
              </a:tr>
              <a:tr h="476796">
                <a:tc>
                  <a:txBody>
                    <a:bodyPr/>
                    <a:lstStyle/>
                    <a:p>
                      <a:pPr>
                        <a:defRPr sz="1500" b="0">
                          <a:solidFill>
                            <a:srgbClr val="142638"/>
                          </a:solidFill>
                          <a:latin typeface="Aptos"/>
                        </a:defRPr>
                      </a:pPr>
                      <a:r>
                        <a:t>Gordon return</a:t>
                      </a:r>
                    </a:p>
                  </a:txBody>
                  <a:tcPr marL="82296" marR="54864" marT="45720">
                    <a:solidFill>
                      <a:srgbClr val="FFFFFF"/>
                    </a:solidFill>
                  </a:tcPr>
                </a:tc>
                <a:tc>
                  <a:txBody>
                    <a:bodyPr/>
                    <a:lstStyle/>
                    <a:p>
                      <a:pPr>
                        <a:defRPr sz="1500" b="0">
                          <a:solidFill>
                            <a:srgbClr val="142638"/>
                          </a:solidFill>
                          <a:latin typeface="Aptos"/>
                        </a:defRPr>
                      </a:pPr>
                      <a:r>
                        <a:t>-85.9%</a:t>
                      </a:r>
                    </a:p>
                  </a:txBody>
                  <a:tcPr marL="82296" marR="54864" marT="45720">
                    <a:solidFill>
                      <a:srgbClr val="FFFFFF"/>
                    </a:solidFill>
                  </a:tcPr>
                </a:tc>
                <a:tc>
                  <a:txBody>
                    <a:bodyPr/>
                    <a:lstStyle/>
                    <a:p>
                      <a:pPr>
                        <a:defRPr sz="1500" b="0">
                          <a:solidFill>
                            <a:srgbClr val="142638"/>
                          </a:solidFill>
                          <a:latin typeface="Aptos"/>
                        </a:defRPr>
                      </a:pPr>
                      <a:r>
                        <a:t>-70.0%</a:t>
                      </a:r>
                    </a:p>
                  </a:txBody>
                  <a:tcPr marL="82296" marR="54864" marT="45720">
                    <a:solidFill>
                      <a:srgbClr val="FFFFFF"/>
                    </a:solidFill>
                  </a:tcPr>
                </a:tc>
                <a:tc>
                  <a:txBody>
                    <a:bodyPr/>
                    <a:lstStyle/>
                    <a:p>
                      <a:pPr>
                        <a:defRPr sz="1500" b="0">
                          <a:solidFill>
                            <a:srgbClr val="142638"/>
                          </a:solidFill>
                          <a:latin typeface="Aptos"/>
                        </a:defRPr>
                      </a:pPr>
                      <a:r>
                        <a:t>-66.4%</a:t>
                      </a:r>
                    </a:p>
                  </a:txBody>
                  <a:tcPr marL="82296" marR="54864" marT="45720">
                    <a:solidFill>
                      <a:srgbClr val="FFFFFF"/>
                    </a:solidFill>
                  </a:tcPr>
                </a:tc>
              </a:tr>
            </a:tbl>
          </a:graphicData>
        </a:graphic>
      </p:graphicFrame>
      <p:sp>
        <p:nvSpPr>
          <p:cNvPr id="9" name="Rectangle 8"/>
          <p:cNvSpPr/>
          <p:nvPr/>
        </p:nvSpPr>
        <p:spPr>
          <a:xfrm>
            <a:off x="8183879" y="1645920"/>
            <a:ext cx="3474720" cy="3383280"/>
          </a:xfrm>
          <a:prstGeom prst="rect">
            <a:avLst/>
          </a:prstGeom>
          <a:solidFill>
            <a:srgbClr val="EA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66760" y="1828800"/>
            <a:ext cx="3108960" cy="3017520"/>
          </a:xfrm>
          <a:prstGeom prst="rect">
            <a:avLst/>
          </a:prstGeom>
          <a:noFill/>
        </p:spPr>
        <p:txBody>
          <a:bodyPr wrap="square" lIns="18288" rIns="18288" tIns="13716">
            <a:spAutoFit/>
          </a:bodyPr>
          <a:lstStyle/>
          <a:p>
            <a:pPr>
              <a:spcAft>
                <a:spcPts val="500"/>
              </a:spcAft>
              <a:defRPr sz="1800" b="0">
                <a:solidFill>
                  <a:srgbClr val="142638"/>
                </a:solidFill>
                <a:latin typeface="Aptos"/>
              </a:defRPr>
            </a:pPr>
            <a:r>
              <a:t>Bear cash remains positive</a:t>
            </a:r>
          </a:p>
          <a:p>
            <a:pPr>
              <a:spcAft>
                <a:spcPts val="500"/>
              </a:spcAft>
              <a:defRPr sz="1800" b="0">
                <a:solidFill>
                  <a:srgbClr val="142638"/>
                </a:solidFill>
                <a:latin typeface="Aptos"/>
              </a:defRPr>
            </a:pPr>
          </a:p>
          <a:p>
            <a:pPr>
              <a:spcAft>
                <a:spcPts val="500"/>
              </a:spcAft>
              <a:defRPr sz="1800" b="0">
                <a:solidFill>
                  <a:srgbClr val="142638"/>
                </a:solidFill>
                <a:latin typeface="Aptos"/>
              </a:defRPr>
            </a:pPr>
            <a:r>
              <a:t>Minimum modeled year-end cash / investments:</a:t>
            </a:r>
          </a:p>
          <a:p>
            <a:pPr>
              <a:spcAft>
                <a:spcPts val="500"/>
              </a:spcAft>
              <a:defRPr sz="1800" b="0">
                <a:solidFill>
                  <a:srgbClr val="142638"/>
                </a:solidFill>
                <a:latin typeface="Aptos"/>
              </a:defRPr>
            </a:pPr>
            <a:r>
              <a:t>$2.70bn</a:t>
            </a:r>
          </a:p>
          <a:p>
            <a:pPr>
              <a:spcAft>
                <a:spcPts val="500"/>
              </a:spcAft>
              <a:defRPr sz="1800" b="0">
                <a:solidFill>
                  <a:srgbClr val="142638"/>
                </a:solidFill>
                <a:latin typeface="Aptos"/>
              </a:defRPr>
            </a:pPr>
          </a:p>
          <a:p>
            <a:pPr>
              <a:spcAft>
                <a:spcPts val="500"/>
              </a:spcAft>
              <a:defRPr sz="1800" b="0">
                <a:solidFill>
                  <a:srgbClr val="142638"/>
                </a:solidFill>
                <a:latin typeface="Aptos"/>
              </a:defRPr>
            </a:pPr>
            <a:r>
              <a:t>All principal funded; no buybacks or acquisitions assumed.</a:t>
            </a:r>
          </a:p>
        </p:txBody>
      </p:sp>
      <p:sp>
        <p:nvSpPr>
          <p:cNvPr id="11" name="TextBox 10"/>
          <p:cNvSpPr txBox="1"/>
          <p:nvPr/>
        </p:nvSpPr>
        <p:spPr>
          <a:xfrm>
            <a:off x="640080" y="5266944"/>
            <a:ext cx="10789920" cy="548640"/>
          </a:xfrm>
          <a:prstGeom prst="rect">
            <a:avLst/>
          </a:prstGeom>
          <a:noFill/>
        </p:spPr>
        <p:txBody>
          <a:bodyPr wrap="square" lIns="18288" rIns="18288" tIns="13716">
            <a:spAutoFit/>
          </a:bodyPr>
          <a:lstStyle/>
          <a:p>
            <a:pPr>
              <a:spcAft>
                <a:spcPts val="500"/>
              </a:spcAft>
              <a:defRPr sz="1900" b="1">
                <a:solidFill>
                  <a:srgbClr val="142638"/>
                </a:solidFill>
                <a:latin typeface="Aptos"/>
              </a:defRPr>
            </a:pPr>
            <a:r>
              <a:t>Invalidate the trade if orders slip, utilization weakens or the next guidance cannot support continuing execution.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10896"/>
            <a:ext cx="11247120" cy="594360"/>
          </a:xfrm>
          <a:prstGeom prst="rect">
            <a:avLst/>
          </a:prstGeom>
          <a:noFill/>
        </p:spPr>
        <p:txBody>
          <a:bodyPr wrap="square" lIns="18288" rIns="18288" tIns="13716">
            <a:spAutoFit/>
          </a:bodyPr>
          <a:lstStyle/>
          <a:p>
            <a:pPr>
              <a:spcAft>
                <a:spcPts val="500"/>
              </a:spcAft>
              <a:defRPr sz="2600" b="1">
                <a:solidFill>
                  <a:srgbClr val="142638"/>
                </a:solidFill>
                <a:latin typeface="Aptos"/>
              </a:defRPr>
            </a:pPr>
            <a:r>
              <a:t>Reverse DCF: what must be true at today’s price?</a:t>
            </a:r>
          </a:p>
        </p:txBody>
      </p:sp>
      <p:sp>
        <p:nvSpPr>
          <p:cNvPr id="4" name="TextBox 3"/>
          <p:cNvSpPr txBox="1"/>
          <p:nvPr/>
        </p:nvSpPr>
        <p:spPr>
          <a:xfrm>
            <a:off x="457200" y="950976"/>
            <a:ext cx="11247120" cy="457200"/>
          </a:xfrm>
          <a:prstGeom prst="rect">
            <a:avLst/>
          </a:prstGeom>
          <a:noFill/>
        </p:spPr>
        <p:txBody>
          <a:bodyPr wrap="square" lIns="18288" rIns="18288" tIns="13716">
            <a:spAutoFit/>
          </a:bodyPr>
          <a:lstStyle/>
          <a:p>
            <a:pPr>
              <a:spcAft>
                <a:spcPts val="500"/>
              </a:spcAft>
              <a:defRPr sz="1400" b="0">
                <a:solidFill>
                  <a:srgbClr val="536575"/>
                </a:solidFill>
                <a:latin typeface="Aptos"/>
              </a:defRPr>
            </a:pPr>
            <a:r>
              <a:t>Conditional market-implied paths expose the gap between a near-term fear unwind and long-term valuation.</a:t>
            </a:r>
          </a:p>
        </p:txBody>
      </p:sp>
      <p:sp>
        <p:nvSpPr>
          <p:cNvPr id="5" name="Rectangle 4"/>
          <p:cNvSpPr/>
          <p:nvPr/>
        </p:nvSpPr>
        <p:spPr>
          <a:xfrm>
            <a:off x="457200" y="6208776"/>
            <a:ext cx="11247120" cy="13716"/>
          </a:xfrm>
          <a:prstGeom prst="rect">
            <a:avLst/>
          </a:prstGeom>
          <a:solidFill>
            <a:srgbClr val="CDD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18504"/>
            <a:ext cx="10698480" cy="347472"/>
          </a:xfrm>
          <a:prstGeom prst="rect">
            <a:avLst/>
          </a:prstGeom>
          <a:noFill/>
        </p:spPr>
        <p:txBody>
          <a:bodyPr wrap="square" lIns="18288" rIns="18288" tIns="13716">
            <a:spAutoFit/>
          </a:bodyPr>
          <a:lstStyle/>
          <a:p>
            <a:pPr>
              <a:spcAft>
                <a:spcPts val="500"/>
              </a:spcAft>
              <a:defRPr sz="800" b="0">
                <a:solidFill>
                  <a:srgbClr val="536575"/>
                </a:solidFill>
                <a:latin typeface="Aptos"/>
              </a:defRPr>
            </a:pPr>
            <a:r>
              <a:t>Sources: S1, S2, S3, S13, S14  |  AI: source extraction, model and slides; team review pending.</a:t>
            </a:r>
          </a:p>
        </p:txBody>
      </p:sp>
      <p:sp>
        <p:nvSpPr>
          <p:cNvPr id="7" name="TextBox 6"/>
          <p:cNvSpPr txBox="1"/>
          <p:nvPr/>
        </p:nvSpPr>
        <p:spPr>
          <a:xfrm>
            <a:off x="11320272" y="6291072"/>
            <a:ext cx="411480" cy="320040"/>
          </a:xfrm>
          <a:prstGeom prst="rect">
            <a:avLst/>
          </a:prstGeom>
          <a:noFill/>
        </p:spPr>
        <p:txBody>
          <a:bodyPr wrap="square" lIns="18288" rIns="18288" tIns="13716">
            <a:spAutoFit/>
          </a:bodyPr>
          <a:lstStyle/>
          <a:p>
            <a:pPr>
              <a:spcAft>
                <a:spcPts val="500"/>
              </a:spcAft>
              <a:defRPr sz="1000" b="0">
                <a:solidFill>
                  <a:srgbClr val="536575"/>
                </a:solidFill>
                <a:latin typeface="Aptos"/>
              </a:defRPr>
            </a:pPr>
            <a:r>
              <a:t>10</a:t>
            </a:r>
          </a:p>
        </p:txBody>
      </p:sp>
      <p:graphicFrame>
        <p:nvGraphicFramePr>
          <p:cNvPr id="8" name="Table 7"/>
          <p:cNvGraphicFramePr>
            <a:graphicFrameLocks noGrp="1"/>
          </p:cNvGraphicFramePr>
          <p:nvPr/>
        </p:nvGraphicFramePr>
        <p:xfrm>
          <a:off x="502920" y="1554480"/>
          <a:ext cx="6995158" cy="3474720"/>
        </p:xfrm>
        <a:graphic>
          <a:graphicData uri="http://schemas.openxmlformats.org/drawingml/2006/table">
            <a:tbl>
              <a:tblPr firstRow="1" bandRow="1">
                <a:tableStyleId>{5C22544A-7EE6-4342-B048-85BDC9FD1C3A}</a:tableStyleId>
              </a:tblPr>
              <a:tblGrid>
                <a:gridCol w="2192512"/>
                <a:gridCol w="1879296"/>
                <a:gridCol w="2923350"/>
              </a:tblGrid>
              <a:tr h="579120">
                <a:tc>
                  <a:txBody>
                    <a:bodyPr/>
                    <a:lstStyle/>
                    <a:p>
                      <a:pPr>
                        <a:defRPr sz="1400" b="1">
                          <a:solidFill>
                            <a:srgbClr val="FFFFFF"/>
                          </a:solidFill>
                          <a:latin typeface="Aptos"/>
                        </a:defRPr>
                      </a:pPr>
                      <a:r>
                        <a:t>At $894</a:t>
                      </a:r>
                    </a:p>
                  </a:txBody>
                  <a:tcPr marL="82296" marR="54864" marT="45720">
                    <a:solidFill>
                      <a:srgbClr val="087F8C"/>
                    </a:solidFill>
                  </a:tcPr>
                </a:tc>
                <a:tc>
                  <a:txBody>
                    <a:bodyPr/>
                    <a:lstStyle/>
                    <a:p>
                      <a:pPr>
                        <a:defRPr sz="1400" b="1">
                          <a:solidFill>
                            <a:srgbClr val="FFFFFF"/>
                          </a:solidFill>
                          <a:latin typeface="Aptos"/>
                        </a:defRPr>
                      </a:pPr>
                      <a:r>
                        <a:t>Required outcome</a:t>
                      </a:r>
                    </a:p>
                  </a:txBody>
                  <a:tcPr marL="82296" marR="54864" marT="45720">
                    <a:solidFill>
                      <a:srgbClr val="087F8C"/>
                    </a:solidFill>
                  </a:tcPr>
                </a:tc>
                <a:tc>
                  <a:txBody>
                    <a:bodyPr/>
                    <a:lstStyle/>
                    <a:p>
                      <a:pPr>
                        <a:defRPr sz="1400" b="1">
                          <a:solidFill>
                            <a:srgbClr val="FFFFFF"/>
                          </a:solidFill>
                          <a:latin typeface="Aptos"/>
                        </a:defRPr>
                      </a:pPr>
                      <a:r>
                        <a:t>Meaning</a:t>
                      </a:r>
                    </a:p>
                  </a:txBody>
                  <a:tcPr marL="82296" marR="54864" marT="45720">
                    <a:solidFill>
                      <a:srgbClr val="087F8C"/>
                    </a:solidFill>
                  </a:tcPr>
                </a:tc>
              </a:tr>
              <a:tr h="579120">
                <a:tc>
                  <a:txBody>
                    <a:bodyPr/>
                    <a:lstStyle/>
                    <a:p>
                      <a:pPr>
                        <a:defRPr sz="1400" b="0">
                          <a:solidFill>
                            <a:srgbClr val="142638"/>
                          </a:solidFill>
                          <a:latin typeface="Aptos"/>
                        </a:defRPr>
                      </a:pPr>
                      <a:r>
                        <a:t>Growth-only solve</a:t>
                      </a:r>
                    </a:p>
                  </a:txBody>
                  <a:tcPr marL="82296" marR="54864" marT="45720">
                    <a:solidFill>
                      <a:srgbClr val="EAF3F4"/>
                    </a:solidFill>
                  </a:tcPr>
                </a:tc>
                <a:tc>
                  <a:txBody>
                    <a:bodyPr/>
                    <a:lstStyle/>
                    <a:p>
                      <a:pPr>
                        <a:defRPr sz="1400" b="0">
                          <a:solidFill>
                            <a:srgbClr val="142638"/>
                          </a:solidFill>
                          <a:latin typeface="Aptos"/>
                        </a:defRPr>
                      </a:pPr>
                      <a:r>
                        <a:t>59.5% Cloud CAGR</a:t>
                      </a:r>
                    </a:p>
                  </a:txBody>
                  <a:tcPr marL="82296" marR="54864" marT="45720">
                    <a:solidFill>
                      <a:srgbClr val="EAF3F4"/>
                    </a:solidFill>
                  </a:tcPr>
                </a:tc>
                <a:tc>
                  <a:txBody>
                    <a:bodyPr/>
                    <a:lstStyle/>
                    <a:p>
                      <a:pPr>
                        <a:defRPr sz="1400" b="0">
                          <a:solidFill>
                            <a:srgbClr val="142638"/>
                          </a:solidFill>
                          <a:latin typeface="Aptos"/>
                        </a:defRPr>
                      </a:pPr>
                      <a:r>
                        <a:t>FY28–31; fade to 3% by FY36</a:t>
                      </a:r>
                    </a:p>
                  </a:txBody>
                  <a:tcPr marL="82296" marR="54864" marT="45720">
                    <a:solidFill>
                      <a:srgbClr val="EAF3F4"/>
                    </a:solidFill>
                  </a:tcPr>
                </a:tc>
              </a:tr>
              <a:tr h="579120">
                <a:tc>
                  <a:txBody>
                    <a:bodyPr/>
                    <a:lstStyle/>
                    <a:p>
                      <a:pPr>
                        <a:defRPr sz="1400" b="0">
                          <a:solidFill>
                            <a:srgbClr val="142638"/>
                          </a:solidFill>
                          <a:latin typeface="Aptos"/>
                        </a:defRPr>
                      </a:pPr>
                      <a:r>
                        <a:t>Implied FY31 revenue</a:t>
                      </a:r>
                    </a:p>
                  </a:txBody>
                  <a:tcPr marL="82296" marR="54864" marT="45720">
                    <a:solidFill>
                      <a:srgbClr val="FFFFFF"/>
                    </a:solidFill>
                  </a:tcPr>
                </a:tc>
                <a:tc>
                  <a:txBody>
                    <a:bodyPr/>
                    <a:lstStyle/>
                    <a:p>
                      <a:pPr>
                        <a:defRPr sz="1400" b="0">
                          <a:solidFill>
                            <a:srgbClr val="142638"/>
                          </a:solidFill>
                          <a:latin typeface="Aptos"/>
                        </a:defRPr>
                      </a:pPr>
                      <a:r>
                        <a:t>$41.7bn</a:t>
                      </a:r>
                    </a:p>
                  </a:txBody>
                  <a:tcPr marL="82296" marR="54864" marT="45720">
                    <a:solidFill>
                      <a:srgbClr val="FFFFFF"/>
                    </a:solidFill>
                  </a:tcPr>
                </a:tc>
                <a:tc>
                  <a:txBody>
                    <a:bodyPr/>
                    <a:lstStyle/>
                    <a:p>
                      <a:pPr>
                        <a:defRPr sz="1400" b="0">
                          <a:solidFill>
                            <a:srgbClr val="142638"/>
                          </a:solidFill>
                          <a:latin typeface="Aptos"/>
                        </a:defRPr>
                      </a:pPr>
                      <a:r>
                        <a:t>vs Bull $20.0bn</a:t>
                      </a:r>
                    </a:p>
                  </a:txBody>
                  <a:tcPr marL="82296" marR="54864" marT="45720">
                    <a:solidFill>
                      <a:srgbClr val="FFFFFF"/>
                    </a:solidFill>
                  </a:tcPr>
                </a:tc>
              </a:tr>
              <a:tr h="579120">
                <a:tc>
                  <a:txBody>
                    <a:bodyPr/>
                    <a:lstStyle/>
                    <a:p>
                      <a:pPr>
                        <a:defRPr sz="1400" b="0">
                          <a:solidFill>
                            <a:srgbClr val="142638"/>
                          </a:solidFill>
                          <a:latin typeface="Aptos"/>
                        </a:defRPr>
                      </a:pPr>
                      <a:r>
                        <a:t>Implied FY31 capex</a:t>
                      </a:r>
                    </a:p>
                  </a:txBody>
                  <a:tcPr marL="82296" marR="54864" marT="45720">
                    <a:solidFill>
                      <a:srgbClr val="EAF3F4"/>
                    </a:solidFill>
                  </a:tcPr>
                </a:tc>
                <a:tc>
                  <a:txBody>
                    <a:bodyPr/>
                    <a:lstStyle/>
                    <a:p>
                      <a:pPr>
                        <a:defRPr sz="1400" b="0">
                          <a:solidFill>
                            <a:srgbClr val="142638"/>
                          </a:solidFill>
                          <a:latin typeface="Aptos"/>
                        </a:defRPr>
                      </a:pPr>
                      <a:r>
                        <a:t>$3.1bn</a:t>
                      </a:r>
                    </a:p>
                  </a:txBody>
                  <a:tcPr marL="82296" marR="54864" marT="45720">
                    <a:solidFill>
                      <a:srgbClr val="EAF3F4"/>
                    </a:solidFill>
                  </a:tcPr>
                </a:tc>
                <a:tc>
                  <a:txBody>
                    <a:bodyPr/>
                    <a:lstStyle/>
                    <a:p>
                      <a:pPr>
                        <a:defRPr sz="1400" b="0">
                          <a:solidFill>
                            <a:srgbClr val="142638"/>
                          </a:solidFill>
                          <a:latin typeface="Aptos"/>
                        </a:defRPr>
                      </a:pPr>
                      <a:r>
                        <a:t>Explicit funding burden, not costless growth</a:t>
                      </a:r>
                    </a:p>
                  </a:txBody>
                  <a:tcPr marL="82296" marR="54864" marT="45720">
                    <a:solidFill>
                      <a:srgbClr val="EAF3F4"/>
                    </a:solidFill>
                  </a:tcPr>
                </a:tc>
              </a:tr>
              <a:tr h="579120">
                <a:tc>
                  <a:txBody>
                    <a:bodyPr/>
                    <a:lstStyle/>
                    <a:p>
                      <a:pPr>
                        <a:defRPr sz="1400" b="0">
                          <a:solidFill>
                            <a:srgbClr val="142638"/>
                          </a:solidFill>
                          <a:latin typeface="Aptos"/>
                        </a:defRPr>
                      </a:pPr>
                      <a:r>
                        <a:t>Margin-only solve</a:t>
                      </a:r>
                    </a:p>
                  </a:txBody>
                  <a:tcPr marL="82296" marR="54864" marT="45720">
                    <a:solidFill>
                      <a:srgbClr val="FFFFFF"/>
                    </a:solidFill>
                  </a:tcPr>
                </a:tc>
                <a:tc>
                  <a:txBody>
                    <a:bodyPr/>
                    <a:lstStyle/>
                    <a:p>
                      <a:pPr>
                        <a:defRPr sz="1400" b="0">
                          <a:solidFill>
                            <a:srgbClr val="142638"/>
                          </a:solidFill>
                          <a:latin typeface="Aptos"/>
                        </a:defRPr>
                      </a:pPr>
                      <a:r>
                        <a:t>171.4%</a:t>
                      </a:r>
                    </a:p>
                  </a:txBody>
                  <a:tcPr marL="82296" marR="54864" marT="45720">
                    <a:solidFill>
                      <a:srgbClr val="FFFFFF"/>
                    </a:solidFill>
                  </a:tcPr>
                </a:tc>
                <a:tc>
                  <a:txBody>
                    <a:bodyPr/>
                    <a:lstStyle/>
                    <a:p>
                      <a:pPr>
                        <a:defRPr sz="1400" b="0">
                          <a:solidFill>
                            <a:srgbClr val="142638"/>
                          </a:solidFill>
                          <a:latin typeface="Aptos"/>
                        </a:defRPr>
                      </a:pPr>
                      <a:r>
                        <a:t>Above 100%: economically infeasible</a:t>
                      </a:r>
                    </a:p>
                  </a:txBody>
                  <a:tcPr marL="82296" marR="54864" marT="45720">
                    <a:solidFill>
                      <a:srgbClr val="FFFFFF"/>
                    </a:solidFill>
                  </a:tcPr>
                </a:tc>
              </a:tr>
              <a:tr h="579120">
                <a:tc>
                  <a:txBody>
                    <a:bodyPr/>
                    <a:lstStyle/>
                    <a:p>
                      <a:pPr>
                        <a:defRPr sz="1400" b="0">
                          <a:solidFill>
                            <a:srgbClr val="142638"/>
                          </a:solidFill>
                          <a:latin typeface="Aptos"/>
                        </a:defRPr>
                      </a:pPr>
                      <a:r>
                        <a:t>Price-implied discount rate</a:t>
                      </a:r>
                    </a:p>
                  </a:txBody>
                  <a:tcPr marL="82296" marR="54864" marT="45720">
                    <a:solidFill>
                      <a:srgbClr val="EAF3F4"/>
                    </a:solidFill>
                  </a:tcPr>
                </a:tc>
                <a:tc>
                  <a:txBody>
                    <a:bodyPr/>
                    <a:lstStyle/>
                    <a:p>
                      <a:pPr>
                        <a:defRPr sz="1400" b="0">
                          <a:solidFill>
                            <a:srgbClr val="142638"/>
                          </a:solidFill>
                          <a:latin typeface="Aptos"/>
                        </a:defRPr>
                      </a:pPr>
                      <a:r>
                        <a:t>6.6%</a:t>
                      </a:r>
                    </a:p>
                  </a:txBody>
                  <a:tcPr marL="82296" marR="54864" marT="45720">
                    <a:solidFill>
                      <a:srgbClr val="EAF3F4"/>
                    </a:solidFill>
                  </a:tcPr>
                </a:tc>
                <a:tc>
                  <a:txBody>
                    <a:bodyPr/>
                    <a:lstStyle/>
                    <a:p>
                      <a:pPr>
                        <a:defRPr sz="1400" b="0">
                          <a:solidFill>
                            <a:srgbClr val="142638"/>
                          </a:solidFill>
                          <a:latin typeface="Aptos"/>
                        </a:defRPr>
                      </a:pPr>
                      <a:r>
                        <a:t>Below independent 14.0% WACC</a:t>
                      </a:r>
                    </a:p>
                  </a:txBody>
                  <a:tcPr marL="82296" marR="54864" marT="45720">
                    <a:solidFill>
                      <a:srgbClr val="EAF3F4"/>
                    </a:solidFill>
                  </a:tcPr>
                </a:tc>
              </a:tr>
            </a:tbl>
          </a:graphicData>
        </a:graphic>
      </p:graphicFrame>
      <p:sp>
        <p:nvSpPr>
          <p:cNvPr id="9" name="TextBox 8"/>
          <p:cNvSpPr txBox="1"/>
          <p:nvPr/>
        </p:nvSpPr>
        <p:spPr>
          <a:xfrm>
            <a:off x="7845552" y="1691640"/>
            <a:ext cx="3703320" cy="640080"/>
          </a:xfrm>
          <a:prstGeom prst="rect">
            <a:avLst/>
          </a:prstGeom>
          <a:noFill/>
        </p:spPr>
        <p:txBody>
          <a:bodyPr wrap="square" lIns="18288" rIns="18288" tIns="13716">
            <a:spAutoFit/>
          </a:bodyPr>
          <a:lstStyle/>
          <a:p>
            <a:pPr>
              <a:spcAft>
                <a:spcPts val="500"/>
              </a:spcAft>
              <a:defRPr sz="2000" b="1">
                <a:solidFill>
                  <a:srgbClr val="142638"/>
                </a:solidFill>
                <a:latin typeface="Aptos"/>
              </a:defRPr>
            </a:pPr>
            <a:r>
              <a:t>Capex supports continuity</a:t>
            </a:r>
          </a:p>
        </p:txBody>
      </p:sp>
      <p:sp>
        <p:nvSpPr>
          <p:cNvPr id="10" name="TextBox 9"/>
          <p:cNvSpPr txBox="1"/>
          <p:nvPr/>
        </p:nvSpPr>
        <p:spPr>
          <a:xfrm>
            <a:off x="7845552" y="2423160"/>
            <a:ext cx="3703320" cy="1920240"/>
          </a:xfrm>
          <a:prstGeom prst="rect">
            <a:avLst/>
          </a:prstGeom>
          <a:noFill/>
        </p:spPr>
        <p:txBody>
          <a:bodyPr wrap="square" lIns="18288" rIns="18288" tIns="13716">
            <a:spAutoFit/>
          </a:bodyPr>
          <a:lstStyle/>
          <a:p>
            <a:pPr>
              <a:spcAft>
                <a:spcPts val="500"/>
              </a:spcAft>
              <a:defRPr sz="1700" b="0">
                <a:solidFill>
                  <a:srgbClr val="142638"/>
                </a:solidFill>
                <a:latin typeface="Aptos"/>
              </a:defRPr>
            </a:pPr>
            <a:r>
              <a:t>Meta: $130–145bn CY2026 guide.</a:t>
            </a:r>
          </a:p>
          <a:p>
            <a:pPr>
              <a:spcAft>
                <a:spcPts val="500"/>
              </a:spcAft>
              <a:defRPr sz="1700" b="0">
                <a:solidFill>
                  <a:srgbClr val="142638"/>
                </a:solidFill>
                <a:latin typeface="Aptos"/>
              </a:defRPr>
            </a:pPr>
            <a:r>
              <a:t>Amazon: $169bn TTM net PPE, +64%.</a:t>
            </a:r>
          </a:p>
          <a:p>
            <a:pPr>
              <a:spcAft>
                <a:spcPts val="500"/>
              </a:spcAft>
              <a:defRPr sz="1700" b="0">
                <a:solidFill>
                  <a:srgbClr val="142638"/>
                </a:solidFill>
                <a:latin typeface="Aptos"/>
              </a:defRPr>
            </a:pPr>
          </a:p>
          <a:p>
            <a:pPr>
              <a:spcAft>
                <a:spcPts val="500"/>
              </a:spcAft>
              <a:defRPr sz="1700" b="0">
                <a:solidFill>
                  <a:srgbClr val="142638"/>
                </a:solidFill>
                <a:latin typeface="Aptos"/>
              </a:defRPr>
            </a:pPr>
            <a:r>
              <a:t>These support spending today; they do not prove the market-implied decade of LITE growth.</a:t>
            </a:r>
          </a:p>
        </p:txBody>
      </p:sp>
      <p:sp>
        <p:nvSpPr>
          <p:cNvPr id="11" name="Rectangle 10"/>
          <p:cNvSpPr/>
          <p:nvPr/>
        </p:nvSpPr>
        <p:spPr>
          <a:xfrm>
            <a:off x="548640" y="5230368"/>
            <a:ext cx="11064240" cy="612648"/>
          </a:xfrm>
          <a:prstGeom prst="rect">
            <a:avLst/>
          </a:prstGeom>
          <a:solidFill>
            <a:srgbClr val="FFF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312664"/>
            <a:ext cx="10789920" cy="457200"/>
          </a:xfrm>
          <a:prstGeom prst="rect">
            <a:avLst/>
          </a:prstGeom>
          <a:noFill/>
        </p:spPr>
        <p:txBody>
          <a:bodyPr wrap="square" lIns="18288" rIns="18288" tIns="13716">
            <a:spAutoFit/>
          </a:bodyPr>
          <a:lstStyle/>
          <a:p>
            <a:pPr>
              <a:spcAft>
                <a:spcPts val="500"/>
              </a:spcAft>
              <a:defRPr sz="1700" b="1">
                <a:solidFill>
                  <a:srgbClr val="142638"/>
                </a:solidFill>
                <a:latin typeface="Aptos"/>
              </a:defRPr>
            </a:pPr>
            <a:r>
              <a:t>Defend the 3–6 month rebound as a conditional sentiment trade; the conservative DCF does not certify today’s price as cheap.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