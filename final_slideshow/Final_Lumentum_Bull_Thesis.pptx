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91640"/>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365760" y="256032"/>
            <a:ext cx="11430000" cy="640080"/>
          </a:xfrm>
          <a:prstGeom prst="rect">
            <a:avLst/>
          </a:prstGeom>
          <a:noFill/>
          <a:ln>
            <a:solidFill/>
          </a:ln>
        </p:spPr>
        <p:txBody>
          <a:bodyPr wrap="square" anchor="t">
            <a:spAutoFit/>
          </a:bodyPr>
          <a:lstStyle/>
          <a:p>
            <a:pPr algn="l">
              <a:spcBef>
                <a:spcPts val="0"/>
              </a:spcBef>
              <a:spcAft>
                <a:spcPts val="200"/>
              </a:spcAft>
              <a:defRPr>
                <a:solidFill/>
              </a:defRPr>
            </a:pPr>
            <a:r>
              <a:rPr sz="2800" b="1" i="0">
                <a:solidFill>
                  <a:srgbClr val="FFFFFF"/>
                </a:solidFill>
                <a:latin typeface="Calibri"/>
              </a:rPr>
              <a:t>Lumentum Holdings (NASDAQ: LITE)  |  Long Recommendation</a:t>
            </a:r>
          </a:p>
        </p:txBody>
      </p:sp>
      <p:sp>
        <p:nvSpPr>
          <p:cNvPr id="4" name="TextBox 3"/>
          <p:cNvSpPr txBox="1"/>
          <p:nvPr/>
        </p:nvSpPr>
        <p:spPr>
          <a:xfrm>
            <a:off x="365760" y="914400"/>
            <a:ext cx="11430000" cy="502920"/>
          </a:xfrm>
          <a:prstGeom prst="rect">
            <a:avLst/>
          </a:prstGeom>
          <a:noFill/>
          <a:ln>
            <a:solidFill/>
          </a:ln>
        </p:spPr>
        <p:txBody>
          <a:bodyPr wrap="square" anchor="t">
            <a:spAutoFit/>
          </a:bodyPr>
          <a:lstStyle/>
          <a:p>
            <a:pPr algn="l">
              <a:spcBef>
                <a:spcPts val="0"/>
              </a:spcBef>
              <a:spcAft>
                <a:spcPts val="200"/>
              </a:spcAft>
              <a:defRPr>
                <a:solidFill/>
              </a:defRPr>
            </a:pPr>
            <a:r>
              <a:rPr sz="1600" b="0" i="0">
                <a:solidFill>
                  <a:srgbClr val="E7C7C7"/>
                </a:solidFill>
                <a:latin typeface="Calibri"/>
              </a:rPr>
              <a:t>UChicago AI-Enabled Investing Competition  ·  Round 1  ·  18 September 2026</a:t>
            </a:r>
          </a:p>
        </p:txBody>
      </p:sp>
      <p:sp>
        <p:nvSpPr>
          <p:cNvPr id="5" name="TextBox 4"/>
          <p:cNvSpPr txBox="1"/>
          <p:nvPr/>
        </p:nvSpPr>
        <p:spPr>
          <a:xfrm>
            <a:off x="365760" y="2286000"/>
            <a:ext cx="11430000" cy="822960"/>
          </a:xfrm>
          <a:prstGeom prst="rect">
            <a:avLst/>
          </a:prstGeom>
          <a:noFill/>
          <a:ln>
            <a:solidFill/>
          </a:ln>
        </p:spPr>
        <p:txBody>
          <a:bodyPr wrap="square" anchor="t">
            <a:spAutoFit/>
          </a:bodyPr>
          <a:lstStyle/>
          <a:p>
            <a:pPr algn="ctr">
              <a:spcBef>
                <a:spcPts val="0"/>
              </a:spcBef>
              <a:spcAft>
                <a:spcPts val="200"/>
              </a:spcAft>
              <a:defRPr>
                <a:solidFill/>
              </a:defRPr>
            </a:pPr>
            <a:r>
              <a:rPr sz="2200" b="1" i="0">
                <a:solidFill>
                  <a:srgbClr val="800000"/>
                </a:solidFill>
                <a:latin typeface="Calibri"/>
              </a:rPr>
              <a:t>Safety commitments coexist with similar capex. That is the entire thesis.</a:t>
            </a:r>
          </a:p>
        </p:txBody>
      </p:sp>
      <p:sp>
        <p:nvSpPr>
          <p:cNvPr id="6" name="TextBox 5"/>
          <p:cNvSpPr txBox="1"/>
          <p:nvPr/>
        </p:nvSpPr>
        <p:spPr>
          <a:xfrm>
            <a:off x="731520" y="3063240"/>
            <a:ext cx="10698480" cy="1005840"/>
          </a:xfrm>
          <a:prstGeom prst="rect">
            <a:avLst/>
          </a:prstGeom>
          <a:noFill/>
          <a:ln>
            <a:solidFill/>
          </a:ln>
        </p:spPr>
        <p:txBody>
          <a:bodyPr wrap="square" anchor="t">
            <a:spAutoFit/>
          </a:bodyPr>
          <a:lstStyle/>
          <a:p>
            <a:pPr algn="ctr">
              <a:spcBef>
                <a:spcPts val="0"/>
              </a:spcBef>
              <a:spcAft>
                <a:spcPts val="200"/>
              </a:spcAft>
              <a:defRPr>
                <a:solidFill/>
              </a:defRPr>
            </a:pPr>
            <a:r>
              <a:rPr sz="1500" b="0" i="0">
                <a:solidFill>
                  <a:srgbClr val="5C0000"/>
                </a:solidFill>
                <a:latin typeface="Calibri"/>
              </a:rPr>
              <a:t>Dario Amodei’s 12 September essay does not call for a hyperscaler capex cut. Prior safety regimes did not produce one. Among LITE, COHR and FN, Lumentum is the cleanest 3–12 month expression of continued optical spend.</a:t>
            </a:r>
          </a:p>
        </p:txBody>
      </p:sp>
      <p:sp>
        <p:nvSpPr>
          <p:cNvPr id="7" name="Rectangle 6"/>
          <p:cNvSpPr/>
          <p:nvPr/>
        </p:nvSpPr>
        <p:spPr>
          <a:xfrm>
            <a:off x="640080" y="4297680"/>
            <a:ext cx="3566160" cy="1417320"/>
          </a:xfrm>
          <a:prstGeom prst="rect">
            <a:avLst/>
          </a:prstGeom>
          <a:solidFill>
            <a:srgbClr val="F5ECEC"/>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 name="TextBox 7"/>
          <p:cNvSpPr txBox="1"/>
          <p:nvPr/>
        </p:nvSpPr>
        <p:spPr>
          <a:xfrm>
            <a:off x="749808" y="4407408"/>
            <a:ext cx="3346704" cy="365760"/>
          </a:xfrm>
          <a:prstGeom prst="rect">
            <a:avLst/>
          </a:prstGeom>
          <a:noFill/>
          <a:ln>
            <a:solidFill/>
          </a:ln>
        </p:spPr>
        <p:txBody>
          <a:bodyPr wrap="square" anchor="t">
            <a:spAutoFit/>
          </a:bodyPr>
          <a:lstStyle/>
          <a:p>
            <a:pPr algn="ctr">
              <a:spcBef>
                <a:spcPts val="0"/>
              </a:spcBef>
              <a:spcAft>
                <a:spcPts val="200"/>
              </a:spcAft>
              <a:defRPr>
                <a:solidFill/>
              </a:defRPr>
            </a:pPr>
            <a:r>
              <a:rPr sz="1200" b="1" i="0">
                <a:solidFill>
                  <a:srgbClr val="800000"/>
                </a:solidFill>
                <a:latin typeface="Calibri"/>
              </a:rPr>
              <a:t>Pitched price (17 Sep close)</a:t>
            </a:r>
          </a:p>
        </p:txBody>
      </p:sp>
      <p:sp>
        <p:nvSpPr>
          <p:cNvPr id="9" name="TextBox 8"/>
          <p:cNvSpPr txBox="1"/>
          <p:nvPr/>
        </p:nvSpPr>
        <p:spPr>
          <a:xfrm>
            <a:off x="749808" y="4773168"/>
            <a:ext cx="3346704" cy="731520"/>
          </a:xfrm>
          <a:prstGeom prst="rect">
            <a:avLst/>
          </a:prstGeom>
          <a:noFill/>
          <a:ln>
            <a:solidFill/>
          </a:ln>
        </p:spPr>
        <p:txBody>
          <a:bodyPr wrap="square" anchor="ctr">
            <a:spAutoFit/>
          </a:bodyPr>
          <a:lstStyle/>
          <a:p>
            <a:pPr algn="ctr">
              <a:spcBef>
                <a:spcPts val="0"/>
              </a:spcBef>
              <a:spcAft>
                <a:spcPts val="200"/>
              </a:spcAft>
              <a:defRPr>
                <a:solidFill/>
              </a:defRPr>
            </a:pPr>
            <a:r>
              <a:rPr sz="2200" b="1" i="0">
                <a:solidFill>
                  <a:srgbClr val="5C0000"/>
                </a:solidFill>
                <a:latin typeface="Calibri"/>
              </a:rPr>
              <a:t>$893.61</a:t>
            </a:r>
          </a:p>
        </p:txBody>
      </p:sp>
      <p:sp>
        <p:nvSpPr>
          <p:cNvPr id="10" name="Rectangle 9"/>
          <p:cNvSpPr/>
          <p:nvPr/>
        </p:nvSpPr>
        <p:spPr>
          <a:xfrm>
            <a:off x="4434840" y="4297680"/>
            <a:ext cx="3566160" cy="1417320"/>
          </a:xfrm>
          <a:prstGeom prst="rect">
            <a:avLst/>
          </a:prstGeom>
          <a:solidFill>
            <a:srgbClr val="F5ECEC"/>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TextBox 10"/>
          <p:cNvSpPr txBox="1"/>
          <p:nvPr/>
        </p:nvSpPr>
        <p:spPr>
          <a:xfrm>
            <a:off x="4544568" y="4407408"/>
            <a:ext cx="3346704" cy="365760"/>
          </a:xfrm>
          <a:prstGeom prst="rect">
            <a:avLst/>
          </a:prstGeom>
          <a:noFill/>
          <a:ln>
            <a:solidFill/>
          </a:ln>
        </p:spPr>
        <p:txBody>
          <a:bodyPr wrap="square" anchor="t">
            <a:spAutoFit/>
          </a:bodyPr>
          <a:lstStyle/>
          <a:p>
            <a:pPr algn="ctr">
              <a:spcBef>
                <a:spcPts val="0"/>
              </a:spcBef>
              <a:spcAft>
                <a:spcPts val="200"/>
              </a:spcAft>
              <a:defRPr>
                <a:solidFill/>
              </a:defRPr>
            </a:pPr>
            <a:r>
              <a:rPr sz="1200" b="1" i="0">
                <a:solidFill>
                  <a:srgbClr val="800000"/>
                </a:solidFill>
                <a:latin typeface="Calibri"/>
              </a:rPr>
              <a:t>12-month base target</a:t>
            </a:r>
          </a:p>
        </p:txBody>
      </p:sp>
      <p:sp>
        <p:nvSpPr>
          <p:cNvPr id="12" name="TextBox 11"/>
          <p:cNvSpPr txBox="1"/>
          <p:nvPr/>
        </p:nvSpPr>
        <p:spPr>
          <a:xfrm>
            <a:off x="4544568" y="4773168"/>
            <a:ext cx="3346704" cy="731520"/>
          </a:xfrm>
          <a:prstGeom prst="rect">
            <a:avLst/>
          </a:prstGeom>
          <a:noFill/>
          <a:ln>
            <a:solidFill/>
          </a:ln>
        </p:spPr>
        <p:txBody>
          <a:bodyPr wrap="square" anchor="ctr">
            <a:spAutoFit/>
          </a:bodyPr>
          <a:lstStyle/>
          <a:p>
            <a:pPr algn="ctr">
              <a:spcBef>
                <a:spcPts val="0"/>
              </a:spcBef>
              <a:spcAft>
                <a:spcPts val="200"/>
              </a:spcAft>
              <a:defRPr>
                <a:solidFill/>
              </a:defRPr>
            </a:pPr>
            <a:r>
              <a:rPr sz="2200" b="1" i="0">
                <a:solidFill>
                  <a:srgbClr val="5C0000"/>
                </a:solidFill>
                <a:latin typeface="Calibri"/>
              </a:rPr>
              <a:t>$1,003  |  +12%</a:t>
            </a:r>
          </a:p>
        </p:txBody>
      </p:sp>
      <p:sp>
        <p:nvSpPr>
          <p:cNvPr id="13" name="Rectangle 12"/>
          <p:cNvSpPr/>
          <p:nvPr/>
        </p:nvSpPr>
        <p:spPr>
          <a:xfrm>
            <a:off x="8229600" y="4297680"/>
            <a:ext cx="3566160" cy="1417320"/>
          </a:xfrm>
          <a:prstGeom prst="rect">
            <a:avLst/>
          </a:prstGeom>
          <a:solidFill>
            <a:srgbClr val="F5ECEC"/>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TextBox 13"/>
          <p:cNvSpPr txBox="1"/>
          <p:nvPr/>
        </p:nvSpPr>
        <p:spPr>
          <a:xfrm>
            <a:off x="8339328" y="4407408"/>
            <a:ext cx="3346704" cy="365760"/>
          </a:xfrm>
          <a:prstGeom prst="rect">
            <a:avLst/>
          </a:prstGeom>
          <a:noFill/>
          <a:ln>
            <a:solidFill/>
          </a:ln>
        </p:spPr>
        <p:txBody>
          <a:bodyPr wrap="square" anchor="t">
            <a:spAutoFit/>
          </a:bodyPr>
          <a:lstStyle/>
          <a:p>
            <a:pPr algn="ctr">
              <a:spcBef>
                <a:spcPts val="0"/>
              </a:spcBef>
              <a:spcAft>
                <a:spcPts val="200"/>
              </a:spcAft>
              <a:defRPr>
                <a:solidFill/>
              </a:defRPr>
            </a:pPr>
            <a:r>
              <a:rPr sz="1200" b="1" i="0">
                <a:solidFill>
                  <a:srgbClr val="800000"/>
                </a:solidFill>
                <a:latin typeface="Calibri"/>
              </a:rPr>
              <a:t>Bull / Bear (12-month P/E)</a:t>
            </a:r>
          </a:p>
        </p:txBody>
      </p:sp>
      <p:sp>
        <p:nvSpPr>
          <p:cNvPr id="15" name="TextBox 14"/>
          <p:cNvSpPr txBox="1"/>
          <p:nvPr/>
        </p:nvSpPr>
        <p:spPr>
          <a:xfrm>
            <a:off x="8339328" y="4773168"/>
            <a:ext cx="3346704" cy="731520"/>
          </a:xfrm>
          <a:prstGeom prst="rect">
            <a:avLst/>
          </a:prstGeom>
          <a:noFill/>
          <a:ln>
            <a:solidFill/>
          </a:ln>
        </p:spPr>
        <p:txBody>
          <a:bodyPr wrap="square" anchor="ctr">
            <a:spAutoFit/>
          </a:bodyPr>
          <a:lstStyle/>
          <a:p>
            <a:pPr algn="ctr">
              <a:spcBef>
                <a:spcPts val="0"/>
              </a:spcBef>
              <a:spcAft>
                <a:spcPts val="200"/>
              </a:spcAft>
              <a:defRPr>
                <a:solidFill/>
              </a:defRPr>
            </a:pPr>
            <a:r>
              <a:rPr sz="2200" b="1" i="0">
                <a:solidFill>
                  <a:srgbClr val="5C0000"/>
                </a:solidFill>
                <a:latin typeface="Calibri"/>
              </a:rPr>
              <a:t>$1,605  /  $331</a:t>
            </a:r>
          </a:p>
        </p:txBody>
      </p:sp>
      <p:sp>
        <p:nvSpPr>
          <p:cNvPr id="16" name="Rectangle 15"/>
          <p:cNvSpPr/>
          <p:nvPr/>
        </p:nvSpPr>
        <p:spPr>
          <a:xfrm>
            <a:off x="0" y="6656832"/>
            <a:ext cx="12191695" cy="2011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TextBox 16"/>
          <p:cNvSpPr txBox="1"/>
          <p:nvPr/>
        </p:nvSpPr>
        <p:spPr>
          <a:xfrm>
            <a:off x="256032" y="6656832"/>
            <a:ext cx="10515600" cy="201168"/>
          </a:xfrm>
          <a:prstGeom prst="rect">
            <a:avLst/>
          </a:prstGeom>
          <a:noFill/>
          <a:ln>
            <a:solidFill/>
          </a:ln>
        </p:spPr>
        <p:txBody>
          <a:bodyPr wrap="square" anchor="ctr">
            <a:spAutoFit/>
          </a:bodyPr>
          <a:lstStyle/>
          <a:p>
            <a:pPr algn="l">
              <a:spcBef>
                <a:spcPts val="0"/>
              </a:spcBef>
              <a:spcAft>
                <a:spcPts val="200"/>
              </a:spcAft>
              <a:defRPr>
                <a:solidFill/>
              </a:defRPr>
            </a:pPr>
            <a:r>
              <a:rPr sz="800" b="0" i="0">
                <a:solidFill>
                  <a:srgbClr val="FFFFFF"/>
                </a:solidFill>
                <a:latin typeface="Calibri"/>
              </a:rPr>
              <a:t>UChicago AI-Enabled Investing Competition  |  18 September 2026  |  LONG LITE  |  Horizon 3–12 months  |  Sources on slide 10</a:t>
            </a:r>
          </a:p>
        </p:txBody>
      </p:sp>
      <p:sp>
        <p:nvSpPr>
          <p:cNvPr id="18" name="TextBox 17"/>
          <p:cNvSpPr txBox="1"/>
          <p:nvPr/>
        </p:nvSpPr>
        <p:spPr>
          <a:xfrm>
            <a:off x="11155680" y="6656832"/>
            <a:ext cx="822960" cy="201168"/>
          </a:xfrm>
          <a:prstGeom prst="rect">
            <a:avLst/>
          </a:prstGeom>
          <a:noFill/>
          <a:ln>
            <a:solidFill/>
          </a:ln>
        </p:spPr>
        <p:txBody>
          <a:bodyPr wrap="square" anchor="ctr">
            <a:spAutoFit/>
          </a:bodyPr>
          <a:lstStyle/>
          <a:p>
            <a:pPr algn="r">
              <a:spcBef>
                <a:spcPts val="0"/>
              </a:spcBef>
              <a:spcAft>
                <a:spcPts val="200"/>
              </a:spcAft>
              <a:defRPr>
                <a:solidFill/>
              </a:defRPr>
            </a:pPr>
            <a:r>
              <a:rPr sz="900" b="1" i="0">
                <a:solidFill>
                  <a:srgbClr val="FFFFFF"/>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292608" y="109728"/>
            <a:ext cx="11612880" cy="475488"/>
          </a:xfrm>
          <a:prstGeom prst="rect">
            <a:avLst/>
          </a:prstGeom>
          <a:noFill/>
          <a:ln>
            <a:solidFill/>
          </a:ln>
        </p:spPr>
        <p:txBody>
          <a:bodyPr wrap="square" anchor="ctr">
            <a:spAutoFit/>
          </a:bodyPr>
          <a:lstStyle/>
          <a:p>
            <a:pPr algn="l">
              <a:spcBef>
                <a:spcPts val="0"/>
              </a:spcBef>
              <a:spcAft>
                <a:spcPts val="200"/>
              </a:spcAft>
              <a:defRPr>
                <a:solidFill/>
              </a:defRPr>
            </a:pPr>
            <a:r>
              <a:rPr sz="2200" b="1" i="0">
                <a:solidFill>
                  <a:srgbClr val="FFFFFF"/>
                </a:solidFill>
                <a:latin typeface="Calibri"/>
              </a:rPr>
              <a:t>Executive Summary — LONG LITE, 3–12 months, because pacing ≠ capex pullback</a:t>
            </a:r>
          </a:p>
        </p:txBody>
      </p:sp>
      <p:sp>
        <p:nvSpPr>
          <p:cNvPr id="4" name="TextBox 3"/>
          <p:cNvSpPr txBox="1"/>
          <p:nvPr/>
        </p:nvSpPr>
        <p:spPr>
          <a:xfrm>
            <a:off x="256032" y="749808"/>
            <a:ext cx="7818120" cy="5806440"/>
          </a:xfrm>
          <a:prstGeom prst="rect">
            <a:avLst/>
          </a:prstGeom>
          <a:noFill/>
          <a:ln>
            <a:solidFill/>
          </a:ln>
        </p:spPr>
        <p:txBody>
          <a:bodyPr wrap="square" anchor="t">
            <a:spAutoFit/>
          </a:bodyPr>
          <a:lstStyle/>
          <a:p>
            <a:pPr algn="l">
              <a:spcBef>
                <a:spcPts val="0"/>
              </a:spcBef>
              <a:spcAft>
                <a:spcPts val="200"/>
              </a:spcAft>
              <a:defRPr>
                <a:solidFill/>
              </a:defRPr>
            </a:pPr>
            <a:r>
              <a:rPr sz="1200" b="0" i="0">
                <a:solidFill>
                  <a:srgbClr val="222222"/>
                </a:solidFill>
                <a:latin typeface="Calibri"/>
              </a:rPr>
              <a:t>The PM’s question. Last week Dario Amodei published “We Must Pace the Frontier,” and investors read it as a signal that hyperscalers may pull back compute capex, hitting chip and infrastructure suppliers. We were asked to pick LONG or SHORT one of Lumentum, Coherent, or Fabrinet. Our answer is LONG LITE.</a:t>
            </a:r>
          </a:p>
          <a:p>
            <a:pPr algn="l">
              <a:spcBef>
                <a:spcPts val="0"/>
              </a:spcBef>
              <a:spcAft>
                <a:spcPts val="200"/>
              </a:spcAft>
              <a:defRPr>
                <a:solidFill/>
              </a:defRPr>
            </a:pPr>
            <a:r>
              <a:rPr sz="1200" b="0" i="0">
                <a:solidFill>
                  <a:srgbClr val="222222"/>
                </a:solidFill>
                <a:latin typeface="Calibri"/>
              </a:rPr>
              <a:t>The variant view, in one sentence. Safety commitments coexist with similar capital expenditure. Pacing, as written, is about embedded evaluators, alignment work, and coordination — not a halt to training, cluster buildout, or optical interconnect. Amodei says explicitly that pacing “does not mean halting model training or technical progress.”</a:t>
            </a:r>
          </a:p>
          <a:p>
            <a:pPr algn="l">
              <a:spcBef>
                <a:spcPts val="0"/>
              </a:spcBef>
              <a:spcAft>
                <a:spcPts val="200"/>
              </a:spcAft>
              <a:defRPr>
                <a:solidFill/>
              </a:defRPr>
            </a:pPr>
            <a:r>
              <a:rPr sz="1200" b="0" i="0">
                <a:solidFill>
                  <a:srgbClr val="222222"/>
                </a:solidFill>
                <a:latin typeface="Calibri"/>
              </a:rPr>
              <a:t>What we did this morning. We read the essay. We checked LITE’s tape around the weekend. We then walked a long list of prior safety events — the March 2023 FLI pause letter, Anthropic’s RSP, the Bletchley Declaration, the Seoul frontier commitments, the 2023 White House EO, and SB 1047 — and asked a single question: did infrastructure spend contract? It did not. Microsoft cash PP&amp;E rose 58% then 45% across the Bletchley/Seoul windows. After the FLI letter, labs accelerated.</a:t>
            </a:r>
          </a:p>
          <a:p>
            <a:pPr algn="l">
              <a:spcBef>
                <a:spcPts val="0"/>
              </a:spcBef>
              <a:spcAft>
                <a:spcPts val="200"/>
              </a:spcAft>
              <a:defRPr>
                <a:solidFill/>
              </a:defRPr>
            </a:pPr>
            <a:r>
              <a:rPr sz="1200" b="0" i="0">
                <a:solidFill>
                  <a:srgbClr val="222222"/>
                </a:solidFill>
                <a:latin typeface="Calibri"/>
              </a:rPr>
              <a:t>The tape this week is a narrative, not a revision. LITE fell 9.9% on Monday 14 September (close $835) and recovered to $919 by Wednesday. Frozen reference is Thursday’s $893.61 close. That is a one-session supply-chain scare. No hyperscaler cut a capex line. Buyer stocks (Meta, Alphabet, Microsoft) did not confirm a spend stop.</a:t>
            </a:r>
          </a:p>
          <a:p>
            <a:pPr algn="l">
              <a:spcBef>
                <a:spcPts val="0"/>
              </a:spcBef>
              <a:spcAft>
                <a:spcPts val="200"/>
              </a:spcAft>
              <a:defRPr>
                <a:solidFill/>
              </a:defRPr>
            </a:pPr>
            <a:r>
              <a:rPr sz="1200" b="0" i="0">
                <a:solidFill>
                  <a:srgbClr val="222222"/>
                </a:solidFill>
                <a:latin typeface="Calibri"/>
              </a:rPr>
              <a:t>Why Lumentum, not the other two. LITE is the optical-content compounder inside the cluster — CPO lasers, ELS, NPO, OCS, 1.6T modules — already printing the ramp (Q4 revenue $1.01bn, +109% YoY; Q1 guide $1.25bn midpoint, 39.5–40.5% adj. OM, ahead of the target model). It is FCF-positive ($300m CFO−capex) with $1.1bn net cash and an NVIDIA multi-year purchase commitment plus $2bn investment. COHR funds growth with −$1.02bn cash conversion. FN is EMS with ~$4m of FCF after capex. If spend continues, LITE has the operating leverage. If the scare is wrong, LITE is the name that was mis-tagged as a capex victim.</a:t>
            </a:r>
          </a:p>
          <a:p>
            <a:pPr algn="l">
              <a:spcBef>
                <a:spcPts val="0"/>
              </a:spcBef>
              <a:spcAft>
                <a:spcPts val="200"/>
              </a:spcAft>
              <a:defRPr>
                <a:solidFill/>
              </a:defRPr>
            </a:pPr>
            <a:r>
              <a:rPr sz="1200" b="1" i="0">
                <a:solidFill>
                  <a:srgbClr val="5C0000"/>
                </a:solidFill>
                <a:latin typeface="Calibri"/>
              </a:rPr>
              <a:t>How the trade gets paid. Next 3–12 months: Q1 print vs $1.225–1.275bn / $4.05–$4.35; subsequent quarters on product ramps and gross margin; hyperscaler capex commentary. Base 12-month value is 30× FY28 EPS $33.42 = $1,003. DCF ($545) is a conservative intrinsic cross-check, not the trading target — 72% terminal, SBC treated as cash, no multiple for the growth year. Bull is $1,605 if content/mix hits; bear is $331 if training orders are haircut. We are long because the historical base rate on “safety talk cuts capex” is approximately zero, and LITE is the best way to own that fact.</a:t>
            </a:r>
          </a:p>
        </p:txBody>
      </p:sp>
      <p:sp>
        <p:nvSpPr>
          <p:cNvPr id="5" name="Rectangle 4"/>
          <p:cNvSpPr/>
          <p:nvPr/>
        </p:nvSpPr>
        <p:spPr>
          <a:xfrm>
            <a:off x="8183879" y="749808"/>
            <a:ext cx="3749039" cy="530352"/>
          </a:xfrm>
          <a:prstGeom prst="rect">
            <a:avLst/>
          </a:prstGeom>
          <a:solidFill>
            <a:srgbClr val="FFFFFF"/>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 name="TextBox 5"/>
          <p:cNvSpPr txBox="1"/>
          <p:nvPr/>
        </p:nvSpPr>
        <p:spPr>
          <a:xfrm>
            <a:off x="8275320" y="749808"/>
            <a:ext cx="1417320" cy="530352"/>
          </a:xfrm>
          <a:prstGeom prst="rect">
            <a:avLst/>
          </a:prstGeom>
          <a:noFill/>
          <a:ln>
            <a:solidFill/>
          </a:ln>
        </p:spPr>
        <p:txBody>
          <a:bodyPr wrap="square" anchor="ctr">
            <a:spAutoFit/>
          </a:bodyPr>
          <a:lstStyle/>
          <a:p>
            <a:pPr algn="l">
              <a:spcBef>
                <a:spcPts val="0"/>
              </a:spcBef>
              <a:spcAft>
                <a:spcPts val="200"/>
              </a:spcAft>
              <a:defRPr>
                <a:solidFill/>
              </a:defRPr>
            </a:pPr>
            <a:r>
              <a:rPr sz="1000" b="1" i="0">
                <a:solidFill>
                  <a:srgbClr val="800000"/>
                </a:solidFill>
                <a:latin typeface="Calibri"/>
              </a:rPr>
              <a:t>Recommendation</a:t>
            </a:r>
          </a:p>
        </p:txBody>
      </p:sp>
      <p:sp>
        <p:nvSpPr>
          <p:cNvPr id="7" name="TextBox 6"/>
          <p:cNvSpPr txBox="1"/>
          <p:nvPr/>
        </p:nvSpPr>
        <p:spPr>
          <a:xfrm>
            <a:off x="9646920" y="749808"/>
            <a:ext cx="2194560" cy="530352"/>
          </a:xfrm>
          <a:prstGeom prst="rect">
            <a:avLst/>
          </a:prstGeom>
          <a:noFill/>
          <a:ln>
            <a:solidFill/>
          </a:ln>
        </p:spPr>
        <p:txBody>
          <a:bodyPr wrap="square" anchor="ctr">
            <a:spAutoFit/>
          </a:bodyPr>
          <a:lstStyle/>
          <a:p>
            <a:pPr algn="l">
              <a:spcBef>
                <a:spcPts val="0"/>
              </a:spcBef>
              <a:spcAft>
                <a:spcPts val="200"/>
              </a:spcAft>
              <a:defRPr>
                <a:solidFill/>
              </a:defRPr>
            </a:pPr>
            <a:r>
              <a:rPr sz="1200" b="1" i="0">
                <a:solidFill>
                  <a:srgbClr val="5C0000"/>
                </a:solidFill>
                <a:latin typeface="Calibri"/>
              </a:rPr>
              <a:t>LONG LITE</a:t>
            </a:r>
          </a:p>
        </p:txBody>
      </p:sp>
      <p:sp>
        <p:nvSpPr>
          <p:cNvPr id="8" name="Rectangle 7"/>
          <p:cNvSpPr/>
          <p:nvPr/>
        </p:nvSpPr>
        <p:spPr>
          <a:xfrm>
            <a:off x="8183879" y="1316736"/>
            <a:ext cx="3749039" cy="530352"/>
          </a:xfrm>
          <a:prstGeom prst="rect">
            <a:avLst/>
          </a:prstGeom>
          <a:solidFill>
            <a:srgbClr val="FFFFFF"/>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TextBox 8"/>
          <p:cNvSpPr txBox="1"/>
          <p:nvPr/>
        </p:nvSpPr>
        <p:spPr>
          <a:xfrm>
            <a:off x="8275320" y="1316736"/>
            <a:ext cx="1417320" cy="530352"/>
          </a:xfrm>
          <a:prstGeom prst="rect">
            <a:avLst/>
          </a:prstGeom>
          <a:noFill/>
          <a:ln>
            <a:solidFill/>
          </a:ln>
        </p:spPr>
        <p:txBody>
          <a:bodyPr wrap="square" anchor="ctr">
            <a:spAutoFit/>
          </a:bodyPr>
          <a:lstStyle/>
          <a:p>
            <a:pPr algn="l">
              <a:spcBef>
                <a:spcPts val="0"/>
              </a:spcBef>
              <a:spcAft>
                <a:spcPts val="200"/>
              </a:spcAft>
              <a:defRPr>
                <a:solidFill/>
              </a:defRPr>
            </a:pPr>
            <a:r>
              <a:rPr sz="1000" b="1" i="0">
                <a:solidFill>
                  <a:srgbClr val="800000"/>
                </a:solidFill>
                <a:latin typeface="Calibri"/>
              </a:rPr>
              <a:t>Horizon</a:t>
            </a:r>
          </a:p>
        </p:txBody>
      </p:sp>
      <p:sp>
        <p:nvSpPr>
          <p:cNvPr id="10" name="TextBox 9"/>
          <p:cNvSpPr txBox="1"/>
          <p:nvPr/>
        </p:nvSpPr>
        <p:spPr>
          <a:xfrm>
            <a:off x="9646920" y="1316736"/>
            <a:ext cx="2194560" cy="530352"/>
          </a:xfrm>
          <a:prstGeom prst="rect">
            <a:avLst/>
          </a:prstGeom>
          <a:noFill/>
          <a:ln>
            <a:solidFill/>
          </a:ln>
        </p:spPr>
        <p:txBody>
          <a:bodyPr wrap="square" anchor="ctr">
            <a:spAutoFit/>
          </a:bodyPr>
          <a:lstStyle/>
          <a:p>
            <a:pPr algn="l">
              <a:spcBef>
                <a:spcPts val="0"/>
              </a:spcBef>
              <a:spcAft>
                <a:spcPts val="200"/>
              </a:spcAft>
              <a:defRPr>
                <a:solidFill/>
              </a:defRPr>
            </a:pPr>
            <a:r>
              <a:rPr sz="1200" b="1" i="0">
                <a:solidFill>
                  <a:srgbClr val="5C0000"/>
                </a:solidFill>
                <a:latin typeface="Calibri"/>
              </a:rPr>
              <a:t>3–12 months</a:t>
            </a:r>
          </a:p>
        </p:txBody>
      </p:sp>
      <p:sp>
        <p:nvSpPr>
          <p:cNvPr id="11" name="Rectangle 10"/>
          <p:cNvSpPr/>
          <p:nvPr/>
        </p:nvSpPr>
        <p:spPr>
          <a:xfrm>
            <a:off x="8183879" y="1883664"/>
            <a:ext cx="3749039" cy="530352"/>
          </a:xfrm>
          <a:prstGeom prst="rect">
            <a:avLst/>
          </a:prstGeom>
          <a:solidFill>
            <a:srgbClr val="FFFFFF"/>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TextBox 11"/>
          <p:cNvSpPr txBox="1"/>
          <p:nvPr/>
        </p:nvSpPr>
        <p:spPr>
          <a:xfrm>
            <a:off x="8275320" y="1883664"/>
            <a:ext cx="1417320" cy="530352"/>
          </a:xfrm>
          <a:prstGeom prst="rect">
            <a:avLst/>
          </a:prstGeom>
          <a:noFill/>
          <a:ln>
            <a:solidFill/>
          </a:ln>
        </p:spPr>
        <p:txBody>
          <a:bodyPr wrap="square" anchor="ctr">
            <a:spAutoFit/>
          </a:bodyPr>
          <a:lstStyle/>
          <a:p>
            <a:pPr algn="l">
              <a:spcBef>
                <a:spcPts val="0"/>
              </a:spcBef>
              <a:spcAft>
                <a:spcPts val="200"/>
              </a:spcAft>
              <a:defRPr>
                <a:solidFill/>
              </a:defRPr>
            </a:pPr>
            <a:r>
              <a:rPr sz="1000" b="1" i="0">
                <a:solidFill>
                  <a:srgbClr val="800000"/>
                </a:solidFill>
                <a:latin typeface="Calibri"/>
              </a:rPr>
              <a:t>Entry (17 Sep)</a:t>
            </a:r>
          </a:p>
        </p:txBody>
      </p:sp>
      <p:sp>
        <p:nvSpPr>
          <p:cNvPr id="13" name="TextBox 12"/>
          <p:cNvSpPr txBox="1"/>
          <p:nvPr/>
        </p:nvSpPr>
        <p:spPr>
          <a:xfrm>
            <a:off x="9646920" y="1883664"/>
            <a:ext cx="2194560" cy="530352"/>
          </a:xfrm>
          <a:prstGeom prst="rect">
            <a:avLst/>
          </a:prstGeom>
          <a:noFill/>
          <a:ln>
            <a:solidFill/>
          </a:ln>
        </p:spPr>
        <p:txBody>
          <a:bodyPr wrap="square" anchor="ctr">
            <a:spAutoFit/>
          </a:bodyPr>
          <a:lstStyle/>
          <a:p>
            <a:pPr algn="l">
              <a:spcBef>
                <a:spcPts val="0"/>
              </a:spcBef>
              <a:spcAft>
                <a:spcPts val="200"/>
              </a:spcAft>
              <a:defRPr>
                <a:solidFill/>
              </a:defRPr>
            </a:pPr>
            <a:r>
              <a:rPr sz="1200" b="1" i="0">
                <a:solidFill>
                  <a:srgbClr val="5C0000"/>
                </a:solidFill>
                <a:latin typeface="Calibri"/>
              </a:rPr>
              <a:t>$893.61</a:t>
            </a:r>
          </a:p>
        </p:txBody>
      </p:sp>
      <p:sp>
        <p:nvSpPr>
          <p:cNvPr id="14" name="Rectangle 13"/>
          <p:cNvSpPr/>
          <p:nvPr/>
        </p:nvSpPr>
        <p:spPr>
          <a:xfrm>
            <a:off x="8183879" y="2450592"/>
            <a:ext cx="3749039" cy="530352"/>
          </a:xfrm>
          <a:prstGeom prst="rect">
            <a:avLst/>
          </a:prstGeom>
          <a:solidFill>
            <a:srgbClr val="FFFFFF"/>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TextBox 14"/>
          <p:cNvSpPr txBox="1"/>
          <p:nvPr/>
        </p:nvSpPr>
        <p:spPr>
          <a:xfrm>
            <a:off x="8275320" y="2450592"/>
            <a:ext cx="1417320" cy="530352"/>
          </a:xfrm>
          <a:prstGeom prst="rect">
            <a:avLst/>
          </a:prstGeom>
          <a:noFill/>
          <a:ln>
            <a:solidFill/>
          </a:ln>
        </p:spPr>
        <p:txBody>
          <a:bodyPr wrap="square" anchor="ctr">
            <a:spAutoFit/>
          </a:bodyPr>
          <a:lstStyle/>
          <a:p>
            <a:pPr algn="l">
              <a:spcBef>
                <a:spcPts val="0"/>
              </a:spcBef>
              <a:spcAft>
                <a:spcPts val="200"/>
              </a:spcAft>
              <a:defRPr>
                <a:solidFill/>
              </a:defRPr>
            </a:pPr>
            <a:r>
              <a:rPr sz="1000" b="1" i="0">
                <a:solidFill>
                  <a:srgbClr val="800000"/>
                </a:solidFill>
                <a:latin typeface="Calibri"/>
              </a:rPr>
              <a:t>Base 12m PT</a:t>
            </a:r>
          </a:p>
        </p:txBody>
      </p:sp>
      <p:sp>
        <p:nvSpPr>
          <p:cNvPr id="16" name="TextBox 15"/>
          <p:cNvSpPr txBox="1"/>
          <p:nvPr/>
        </p:nvSpPr>
        <p:spPr>
          <a:xfrm>
            <a:off x="9646920" y="2450592"/>
            <a:ext cx="2194560" cy="530352"/>
          </a:xfrm>
          <a:prstGeom prst="rect">
            <a:avLst/>
          </a:prstGeom>
          <a:noFill/>
          <a:ln>
            <a:solidFill/>
          </a:ln>
        </p:spPr>
        <p:txBody>
          <a:bodyPr wrap="square" anchor="ctr">
            <a:spAutoFit/>
          </a:bodyPr>
          <a:lstStyle/>
          <a:p>
            <a:pPr algn="l">
              <a:spcBef>
                <a:spcPts val="0"/>
              </a:spcBef>
              <a:spcAft>
                <a:spcPts val="200"/>
              </a:spcAft>
              <a:defRPr>
                <a:solidFill/>
              </a:defRPr>
            </a:pPr>
            <a:r>
              <a:rPr sz="1200" b="1" i="0">
                <a:solidFill>
                  <a:srgbClr val="5C0000"/>
                </a:solidFill>
                <a:latin typeface="Calibri"/>
              </a:rPr>
              <a:t>$1,003 (+12%)</a:t>
            </a:r>
          </a:p>
        </p:txBody>
      </p:sp>
      <p:sp>
        <p:nvSpPr>
          <p:cNvPr id="17" name="Rectangle 16"/>
          <p:cNvSpPr/>
          <p:nvPr/>
        </p:nvSpPr>
        <p:spPr>
          <a:xfrm>
            <a:off x="8183879" y="3017520"/>
            <a:ext cx="3749039" cy="530352"/>
          </a:xfrm>
          <a:prstGeom prst="rect">
            <a:avLst/>
          </a:prstGeom>
          <a:solidFill>
            <a:srgbClr val="FFFFFF"/>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TextBox 17"/>
          <p:cNvSpPr txBox="1"/>
          <p:nvPr/>
        </p:nvSpPr>
        <p:spPr>
          <a:xfrm>
            <a:off x="8275320" y="3017520"/>
            <a:ext cx="1417320" cy="530352"/>
          </a:xfrm>
          <a:prstGeom prst="rect">
            <a:avLst/>
          </a:prstGeom>
          <a:noFill/>
          <a:ln>
            <a:solidFill/>
          </a:ln>
        </p:spPr>
        <p:txBody>
          <a:bodyPr wrap="square" anchor="ctr">
            <a:spAutoFit/>
          </a:bodyPr>
          <a:lstStyle/>
          <a:p>
            <a:pPr algn="l">
              <a:spcBef>
                <a:spcPts val="0"/>
              </a:spcBef>
              <a:spcAft>
                <a:spcPts val="200"/>
              </a:spcAft>
              <a:defRPr>
                <a:solidFill/>
              </a:defRPr>
            </a:pPr>
            <a:r>
              <a:rPr sz="1000" b="1" i="0">
                <a:solidFill>
                  <a:srgbClr val="800000"/>
                </a:solidFill>
                <a:latin typeface="Calibri"/>
              </a:rPr>
              <a:t>FY27E / FY28E EPS</a:t>
            </a:r>
          </a:p>
        </p:txBody>
      </p:sp>
      <p:sp>
        <p:nvSpPr>
          <p:cNvPr id="19" name="TextBox 18"/>
          <p:cNvSpPr txBox="1"/>
          <p:nvPr/>
        </p:nvSpPr>
        <p:spPr>
          <a:xfrm>
            <a:off x="9646920" y="3017520"/>
            <a:ext cx="2194560" cy="530352"/>
          </a:xfrm>
          <a:prstGeom prst="rect">
            <a:avLst/>
          </a:prstGeom>
          <a:noFill/>
          <a:ln>
            <a:solidFill/>
          </a:ln>
        </p:spPr>
        <p:txBody>
          <a:bodyPr wrap="square" anchor="ctr">
            <a:spAutoFit/>
          </a:bodyPr>
          <a:lstStyle/>
          <a:p>
            <a:pPr algn="l">
              <a:spcBef>
                <a:spcPts val="0"/>
              </a:spcBef>
              <a:spcAft>
                <a:spcPts val="200"/>
              </a:spcAft>
              <a:defRPr>
                <a:solidFill/>
              </a:defRPr>
            </a:pPr>
            <a:r>
              <a:rPr sz="1200" b="1" i="0">
                <a:solidFill>
                  <a:srgbClr val="5C0000"/>
                </a:solidFill>
                <a:latin typeface="Calibri"/>
              </a:rPr>
              <a:t>$21.83 / $33.42</a:t>
            </a:r>
          </a:p>
        </p:txBody>
      </p:sp>
      <p:sp>
        <p:nvSpPr>
          <p:cNvPr id="20" name="Rectangle 19"/>
          <p:cNvSpPr/>
          <p:nvPr/>
        </p:nvSpPr>
        <p:spPr>
          <a:xfrm>
            <a:off x="8183879" y="3584448"/>
            <a:ext cx="3749039" cy="530352"/>
          </a:xfrm>
          <a:prstGeom prst="rect">
            <a:avLst/>
          </a:prstGeom>
          <a:solidFill>
            <a:srgbClr val="FFFFFF"/>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TextBox 20"/>
          <p:cNvSpPr txBox="1"/>
          <p:nvPr/>
        </p:nvSpPr>
        <p:spPr>
          <a:xfrm>
            <a:off x="8275320" y="3584448"/>
            <a:ext cx="1417320" cy="530352"/>
          </a:xfrm>
          <a:prstGeom prst="rect">
            <a:avLst/>
          </a:prstGeom>
          <a:noFill/>
          <a:ln>
            <a:solidFill/>
          </a:ln>
        </p:spPr>
        <p:txBody>
          <a:bodyPr wrap="square" anchor="ctr">
            <a:spAutoFit/>
          </a:bodyPr>
          <a:lstStyle/>
          <a:p>
            <a:pPr algn="l">
              <a:spcBef>
                <a:spcPts val="0"/>
              </a:spcBef>
              <a:spcAft>
                <a:spcPts val="200"/>
              </a:spcAft>
              <a:defRPr>
                <a:solidFill/>
              </a:defRPr>
            </a:pPr>
            <a:r>
              <a:rPr sz="1000" b="1" i="0">
                <a:solidFill>
                  <a:srgbClr val="800000"/>
                </a:solidFill>
                <a:latin typeface="Calibri"/>
              </a:rPr>
              <a:t>Q1 FY27 guide</a:t>
            </a:r>
          </a:p>
        </p:txBody>
      </p:sp>
      <p:sp>
        <p:nvSpPr>
          <p:cNvPr id="22" name="TextBox 21"/>
          <p:cNvSpPr txBox="1"/>
          <p:nvPr/>
        </p:nvSpPr>
        <p:spPr>
          <a:xfrm>
            <a:off x="9646920" y="3584448"/>
            <a:ext cx="2194560" cy="530352"/>
          </a:xfrm>
          <a:prstGeom prst="rect">
            <a:avLst/>
          </a:prstGeom>
          <a:noFill/>
          <a:ln>
            <a:solidFill/>
          </a:ln>
        </p:spPr>
        <p:txBody>
          <a:bodyPr wrap="square" anchor="ctr">
            <a:spAutoFit/>
          </a:bodyPr>
          <a:lstStyle/>
          <a:p>
            <a:pPr algn="l">
              <a:spcBef>
                <a:spcPts val="0"/>
              </a:spcBef>
              <a:spcAft>
                <a:spcPts val="200"/>
              </a:spcAft>
              <a:defRPr>
                <a:solidFill/>
              </a:defRPr>
            </a:pPr>
            <a:r>
              <a:rPr sz="1200" b="1" i="0">
                <a:solidFill>
                  <a:srgbClr val="5C0000"/>
                </a:solidFill>
                <a:latin typeface="Calibri"/>
              </a:rPr>
              <a:t>$1.25bn  |  40% OM</a:t>
            </a:r>
          </a:p>
        </p:txBody>
      </p:sp>
      <p:sp>
        <p:nvSpPr>
          <p:cNvPr id="23" name="Rectangle 22"/>
          <p:cNvSpPr/>
          <p:nvPr/>
        </p:nvSpPr>
        <p:spPr>
          <a:xfrm>
            <a:off x="8183879" y="4151376"/>
            <a:ext cx="3749039" cy="530352"/>
          </a:xfrm>
          <a:prstGeom prst="rect">
            <a:avLst/>
          </a:prstGeom>
          <a:solidFill>
            <a:srgbClr val="FFFFFF"/>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TextBox 23"/>
          <p:cNvSpPr txBox="1"/>
          <p:nvPr/>
        </p:nvSpPr>
        <p:spPr>
          <a:xfrm>
            <a:off x="8275320" y="4151376"/>
            <a:ext cx="1417320" cy="530352"/>
          </a:xfrm>
          <a:prstGeom prst="rect">
            <a:avLst/>
          </a:prstGeom>
          <a:noFill/>
          <a:ln>
            <a:solidFill/>
          </a:ln>
        </p:spPr>
        <p:txBody>
          <a:bodyPr wrap="square" anchor="ctr">
            <a:spAutoFit/>
          </a:bodyPr>
          <a:lstStyle/>
          <a:p>
            <a:pPr algn="l">
              <a:spcBef>
                <a:spcPts val="0"/>
              </a:spcBef>
              <a:spcAft>
                <a:spcPts val="200"/>
              </a:spcAft>
              <a:defRPr>
                <a:solidFill/>
              </a:defRPr>
            </a:pPr>
            <a:r>
              <a:rPr sz="1000" b="1" i="0">
                <a:solidFill>
                  <a:srgbClr val="800000"/>
                </a:solidFill>
                <a:latin typeface="Calibri"/>
              </a:rPr>
              <a:t>FY26 revenue</a:t>
            </a:r>
          </a:p>
        </p:txBody>
      </p:sp>
      <p:sp>
        <p:nvSpPr>
          <p:cNvPr id="25" name="TextBox 24"/>
          <p:cNvSpPr txBox="1"/>
          <p:nvPr/>
        </p:nvSpPr>
        <p:spPr>
          <a:xfrm>
            <a:off x="9646920" y="4151376"/>
            <a:ext cx="2194560" cy="530352"/>
          </a:xfrm>
          <a:prstGeom prst="rect">
            <a:avLst/>
          </a:prstGeom>
          <a:noFill/>
          <a:ln>
            <a:solidFill/>
          </a:ln>
        </p:spPr>
        <p:txBody>
          <a:bodyPr wrap="square" anchor="ctr">
            <a:spAutoFit/>
          </a:bodyPr>
          <a:lstStyle/>
          <a:p>
            <a:pPr algn="l">
              <a:spcBef>
                <a:spcPts val="0"/>
              </a:spcBef>
              <a:spcAft>
                <a:spcPts val="200"/>
              </a:spcAft>
              <a:defRPr>
                <a:solidFill/>
              </a:defRPr>
            </a:pPr>
            <a:r>
              <a:rPr sz="1200" b="1" i="0">
                <a:solidFill>
                  <a:srgbClr val="5C0000"/>
                </a:solidFill>
                <a:latin typeface="Calibri"/>
              </a:rPr>
              <a:t>$3.01bn  (+83%)</a:t>
            </a:r>
          </a:p>
        </p:txBody>
      </p:sp>
      <p:sp>
        <p:nvSpPr>
          <p:cNvPr id="26" name="Rectangle 25"/>
          <p:cNvSpPr/>
          <p:nvPr/>
        </p:nvSpPr>
        <p:spPr>
          <a:xfrm>
            <a:off x="8183879" y="4718304"/>
            <a:ext cx="3749039" cy="530352"/>
          </a:xfrm>
          <a:prstGeom prst="rect">
            <a:avLst/>
          </a:prstGeom>
          <a:solidFill>
            <a:srgbClr val="FFFFFF"/>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TextBox 26"/>
          <p:cNvSpPr txBox="1"/>
          <p:nvPr/>
        </p:nvSpPr>
        <p:spPr>
          <a:xfrm>
            <a:off x="8275320" y="4718304"/>
            <a:ext cx="1417320" cy="530352"/>
          </a:xfrm>
          <a:prstGeom prst="rect">
            <a:avLst/>
          </a:prstGeom>
          <a:noFill/>
          <a:ln>
            <a:solidFill/>
          </a:ln>
        </p:spPr>
        <p:txBody>
          <a:bodyPr wrap="square" anchor="ctr">
            <a:spAutoFit/>
          </a:bodyPr>
          <a:lstStyle/>
          <a:p>
            <a:pPr algn="l">
              <a:spcBef>
                <a:spcPts val="0"/>
              </a:spcBef>
              <a:spcAft>
                <a:spcPts val="200"/>
              </a:spcAft>
              <a:defRPr>
                <a:solidFill/>
              </a:defRPr>
            </a:pPr>
            <a:r>
              <a:rPr sz="1000" b="1" i="0">
                <a:solidFill>
                  <a:srgbClr val="800000"/>
                </a:solidFill>
                <a:latin typeface="Calibri"/>
              </a:rPr>
              <a:t>Net cash</a:t>
            </a:r>
          </a:p>
        </p:txBody>
      </p:sp>
      <p:sp>
        <p:nvSpPr>
          <p:cNvPr id="28" name="TextBox 27"/>
          <p:cNvSpPr txBox="1"/>
          <p:nvPr/>
        </p:nvSpPr>
        <p:spPr>
          <a:xfrm>
            <a:off x="9646920" y="4718304"/>
            <a:ext cx="2194560" cy="530352"/>
          </a:xfrm>
          <a:prstGeom prst="rect">
            <a:avLst/>
          </a:prstGeom>
          <a:noFill/>
          <a:ln>
            <a:solidFill/>
          </a:ln>
        </p:spPr>
        <p:txBody>
          <a:bodyPr wrap="square" anchor="ctr">
            <a:spAutoFit/>
          </a:bodyPr>
          <a:lstStyle/>
          <a:p>
            <a:pPr algn="l">
              <a:spcBef>
                <a:spcPts val="0"/>
              </a:spcBef>
              <a:spcAft>
                <a:spcPts val="200"/>
              </a:spcAft>
              <a:defRPr>
                <a:solidFill/>
              </a:defRPr>
            </a:pPr>
            <a:r>
              <a:rPr sz="1200" b="1" i="0">
                <a:solidFill>
                  <a:srgbClr val="5C0000"/>
                </a:solidFill>
                <a:latin typeface="Calibri"/>
              </a:rPr>
              <a:t>$1.10bn</a:t>
            </a:r>
          </a:p>
        </p:txBody>
      </p:sp>
      <p:sp>
        <p:nvSpPr>
          <p:cNvPr id="29" name="Rectangle 28"/>
          <p:cNvSpPr/>
          <p:nvPr/>
        </p:nvSpPr>
        <p:spPr>
          <a:xfrm>
            <a:off x="8183879" y="5285232"/>
            <a:ext cx="3749039" cy="530352"/>
          </a:xfrm>
          <a:prstGeom prst="rect">
            <a:avLst/>
          </a:prstGeom>
          <a:solidFill>
            <a:srgbClr val="FFFFFF"/>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TextBox 29"/>
          <p:cNvSpPr txBox="1"/>
          <p:nvPr/>
        </p:nvSpPr>
        <p:spPr>
          <a:xfrm>
            <a:off x="8275320" y="5285232"/>
            <a:ext cx="1417320" cy="530352"/>
          </a:xfrm>
          <a:prstGeom prst="rect">
            <a:avLst/>
          </a:prstGeom>
          <a:noFill/>
          <a:ln>
            <a:solidFill/>
          </a:ln>
        </p:spPr>
        <p:txBody>
          <a:bodyPr wrap="square" anchor="ctr">
            <a:spAutoFit/>
          </a:bodyPr>
          <a:lstStyle/>
          <a:p>
            <a:pPr algn="l">
              <a:spcBef>
                <a:spcPts val="0"/>
              </a:spcBef>
              <a:spcAft>
                <a:spcPts val="200"/>
              </a:spcAft>
              <a:defRPr>
                <a:solidFill/>
              </a:defRPr>
            </a:pPr>
            <a:r>
              <a:rPr sz="1000" b="1" i="0">
                <a:solidFill>
                  <a:srgbClr val="800000"/>
                </a:solidFill>
                <a:latin typeface="Calibri"/>
              </a:rPr>
              <a:t>CFO − capex</a:t>
            </a:r>
          </a:p>
        </p:txBody>
      </p:sp>
      <p:sp>
        <p:nvSpPr>
          <p:cNvPr id="31" name="TextBox 30"/>
          <p:cNvSpPr txBox="1"/>
          <p:nvPr/>
        </p:nvSpPr>
        <p:spPr>
          <a:xfrm>
            <a:off x="9646920" y="5285232"/>
            <a:ext cx="2194560" cy="530352"/>
          </a:xfrm>
          <a:prstGeom prst="rect">
            <a:avLst/>
          </a:prstGeom>
          <a:noFill/>
          <a:ln>
            <a:solidFill/>
          </a:ln>
        </p:spPr>
        <p:txBody>
          <a:bodyPr wrap="square" anchor="ctr">
            <a:spAutoFit/>
          </a:bodyPr>
          <a:lstStyle/>
          <a:p>
            <a:pPr algn="l">
              <a:spcBef>
                <a:spcPts val="0"/>
              </a:spcBef>
              <a:spcAft>
                <a:spcPts val="200"/>
              </a:spcAft>
              <a:defRPr>
                <a:solidFill/>
              </a:defRPr>
            </a:pPr>
            <a:r>
              <a:rPr sz="1200" b="1" i="0">
                <a:solidFill>
                  <a:srgbClr val="5C0000"/>
                </a:solidFill>
                <a:latin typeface="Calibri"/>
              </a:rPr>
              <a:t>+$300m</a:t>
            </a:r>
          </a:p>
        </p:txBody>
      </p:sp>
      <p:sp>
        <p:nvSpPr>
          <p:cNvPr id="32" name="Rectangle 31"/>
          <p:cNvSpPr/>
          <p:nvPr/>
        </p:nvSpPr>
        <p:spPr>
          <a:xfrm>
            <a:off x="8183879" y="5852160"/>
            <a:ext cx="3749039" cy="530352"/>
          </a:xfrm>
          <a:prstGeom prst="rect">
            <a:avLst/>
          </a:prstGeom>
          <a:solidFill>
            <a:srgbClr val="FFFFFF"/>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TextBox 32"/>
          <p:cNvSpPr txBox="1"/>
          <p:nvPr/>
        </p:nvSpPr>
        <p:spPr>
          <a:xfrm>
            <a:off x="8275320" y="5852160"/>
            <a:ext cx="1417320" cy="530352"/>
          </a:xfrm>
          <a:prstGeom prst="rect">
            <a:avLst/>
          </a:prstGeom>
          <a:noFill/>
          <a:ln>
            <a:solidFill/>
          </a:ln>
        </p:spPr>
        <p:txBody>
          <a:bodyPr wrap="square" anchor="ctr">
            <a:spAutoFit/>
          </a:bodyPr>
          <a:lstStyle/>
          <a:p>
            <a:pPr algn="l">
              <a:spcBef>
                <a:spcPts val="0"/>
              </a:spcBef>
              <a:spcAft>
                <a:spcPts val="200"/>
              </a:spcAft>
              <a:defRPr>
                <a:solidFill/>
              </a:defRPr>
            </a:pPr>
            <a:r>
              <a:rPr sz="1000" b="1" i="0">
                <a:solidFill>
                  <a:srgbClr val="800000"/>
                </a:solidFill>
                <a:latin typeface="Calibri"/>
              </a:rPr>
              <a:t>NVIDIA</a:t>
            </a:r>
          </a:p>
        </p:txBody>
      </p:sp>
      <p:sp>
        <p:nvSpPr>
          <p:cNvPr id="34" name="TextBox 33"/>
          <p:cNvSpPr txBox="1"/>
          <p:nvPr/>
        </p:nvSpPr>
        <p:spPr>
          <a:xfrm>
            <a:off x="9646920" y="5852160"/>
            <a:ext cx="2194560" cy="530352"/>
          </a:xfrm>
          <a:prstGeom prst="rect">
            <a:avLst/>
          </a:prstGeom>
          <a:noFill/>
          <a:ln>
            <a:solidFill/>
          </a:ln>
        </p:spPr>
        <p:txBody>
          <a:bodyPr wrap="square" anchor="ctr">
            <a:spAutoFit/>
          </a:bodyPr>
          <a:lstStyle/>
          <a:p>
            <a:pPr algn="l">
              <a:spcBef>
                <a:spcPts val="0"/>
              </a:spcBef>
              <a:spcAft>
                <a:spcPts val="200"/>
              </a:spcAft>
              <a:defRPr>
                <a:solidFill/>
              </a:defRPr>
            </a:pPr>
            <a:r>
              <a:rPr sz="1200" b="1" i="0">
                <a:solidFill>
                  <a:srgbClr val="5C0000"/>
                </a:solidFill>
                <a:latin typeface="Calibri"/>
              </a:rPr>
              <a:t>Purchase + $2bn</a:t>
            </a:r>
          </a:p>
        </p:txBody>
      </p:sp>
      <p:sp>
        <p:nvSpPr>
          <p:cNvPr id="35" name="Rectangle 34"/>
          <p:cNvSpPr/>
          <p:nvPr/>
        </p:nvSpPr>
        <p:spPr>
          <a:xfrm>
            <a:off x="0" y="6656832"/>
            <a:ext cx="12191695" cy="2011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TextBox 35"/>
          <p:cNvSpPr txBox="1"/>
          <p:nvPr/>
        </p:nvSpPr>
        <p:spPr>
          <a:xfrm>
            <a:off x="256032" y="6656832"/>
            <a:ext cx="10515600" cy="201168"/>
          </a:xfrm>
          <a:prstGeom prst="rect">
            <a:avLst/>
          </a:prstGeom>
          <a:noFill/>
          <a:ln>
            <a:solidFill/>
          </a:ln>
        </p:spPr>
        <p:txBody>
          <a:bodyPr wrap="square" anchor="ctr">
            <a:spAutoFit/>
          </a:bodyPr>
          <a:lstStyle/>
          <a:p>
            <a:pPr algn="l">
              <a:spcBef>
                <a:spcPts val="0"/>
              </a:spcBef>
              <a:spcAft>
                <a:spcPts val="200"/>
              </a:spcAft>
              <a:defRPr>
                <a:solidFill/>
              </a:defRPr>
            </a:pPr>
            <a:r>
              <a:rPr sz="800" b="0" i="0">
                <a:solidFill>
                  <a:srgbClr val="FFFFFF"/>
                </a:solidFill>
                <a:latin typeface="Calibri"/>
              </a:rPr>
              <a:t>UChicago AI-Enabled Investing Competition  |  18 September 2026  |  LONG LITE  |  Horizon 3–12 months  |  Sources on slide 10</a:t>
            </a:r>
          </a:p>
        </p:txBody>
      </p:sp>
      <p:sp>
        <p:nvSpPr>
          <p:cNvPr id="37" name="TextBox 36"/>
          <p:cNvSpPr txBox="1"/>
          <p:nvPr/>
        </p:nvSpPr>
        <p:spPr>
          <a:xfrm>
            <a:off x="11155680" y="6656832"/>
            <a:ext cx="822960" cy="201168"/>
          </a:xfrm>
          <a:prstGeom prst="rect">
            <a:avLst/>
          </a:prstGeom>
          <a:noFill/>
          <a:ln>
            <a:solidFill/>
          </a:ln>
        </p:spPr>
        <p:txBody>
          <a:bodyPr wrap="square" anchor="ctr">
            <a:spAutoFit/>
          </a:bodyPr>
          <a:lstStyle/>
          <a:p>
            <a:pPr algn="r">
              <a:spcBef>
                <a:spcPts val="0"/>
              </a:spcBef>
              <a:spcAft>
                <a:spcPts val="200"/>
              </a:spcAft>
              <a:defRPr>
                <a:solidFill/>
              </a:defRPr>
            </a:pPr>
            <a:r>
              <a:rPr sz="900" b="1" i="0">
                <a:solidFill>
                  <a:srgbClr val="FFFFF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292608" y="109728"/>
            <a:ext cx="11612880" cy="475488"/>
          </a:xfrm>
          <a:prstGeom prst="rect">
            <a:avLst/>
          </a:prstGeom>
          <a:noFill/>
          <a:ln>
            <a:solidFill/>
          </a:ln>
        </p:spPr>
        <p:txBody>
          <a:bodyPr wrap="square" anchor="ctr">
            <a:spAutoFit/>
          </a:bodyPr>
          <a:lstStyle/>
          <a:p>
            <a:pPr algn="l">
              <a:spcBef>
                <a:spcPts val="0"/>
              </a:spcBef>
              <a:spcAft>
                <a:spcPts val="200"/>
              </a:spcAft>
              <a:defRPr>
                <a:solidFill/>
              </a:defRPr>
            </a:pPr>
            <a:r>
              <a:rPr sz="2200" b="1" i="0">
                <a:solidFill>
                  <a:srgbClr val="FFFFFF"/>
                </a:solidFill>
                <a:latin typeface="Calibri"/>
              </a:rPr>
              <a:t>Investment Thesis Summary</a:t>
            </a:r>
          </a:p>
        </p:txBody>
      </p:sp>
      <p:sp>
        <p:nvSpPr>
          <p:cNvPr id="4" name="TextBox 3"/>
          <p:cNvSpPr txBox="1"/>
          <p:nvPr/>
        </p:nvSpPr>
        <p:spPr>
          <a:xfrm>
            <a:off x="292608" y="749808"/>
            <a:ext cx="11612880" cy="384048"/>
          </a:xfrm>
          <a:prstGeom prst="rect">
            <a:avLst/>
          </a:prstGeom>
          <a:noFill/>
          <a:ln>
            <a:solidFill/>
          </a:ln>
        </p:spPr>
        <p:txBody>
          <a:bodyPr wrap="square" anchor="t">
            <a:spAutoFit/>
          </a:bodyPr>
          <a:lstStyle/>
          <a:p>
            <a:pPr algn="l">
              <a:spcBef>
                <a:spcPts val="0"/>
              </a:spcBef>
              <a:spcAft>
                <a:spcPts val="200"/>
              </a:spcAft>
              <a:defRPr>
                <a:solidFill/>
              </a:defRPr>
            </a:pPr>
            <a:r>
              <a:rPr sz="1400" b="1" i="0">
                <a:solidFill>
                  <a:srgbClr val="800000"/>
                </a:solidFill>
                <a:latin typeface="Calibri"/>
              </a:rPr>
              <a:t>The market is treating a safety essay as a capex cut. History, the essay’s own text, and this week’s tape all reject that mapping. LITE is the vehicle.</a:t>
            </a:r>
          </a:p>
        </p:txBody>
      </p:sp>
      <p:graphicFrame>
        <p:nvGraphicFramePr>
          <p:cNvPr id="5" name="Table 4"/>
          <p:cNvGraphicFramePr>
            <a:graphicFrameLocks noGrp="1"/>
          </p:cNvGraphicFramePr>
          <p:nvPr/>
        </p:nvGraphicFramePr>
        <p:xfrm>
          <a:off x="292608" y="1170432"/>
          <a:ext cx="11612880" cy="1417320"/>
        </p:xfrm>
        <a:graphic>
          <a:graphicData uri="http://schemas.openxmlformats.org/drawingml/2006/table">
            <a:tbl>
              <a:tblPr firstRow="1" bandRow="1">
                <a:tableStyleId>{5C22544A-7EE6-4342-B048-85BDC9FD1C3A}</a:tableStyleId>
              </a:tblPr>
              <a:tblGrid>
                <a:gridCol w="2011680"/>
                <a:gridCol w="9601200"/>
              </a:tblGrid>
              <a:tr h="472440">
                <a:tc>
                  <a:txBody>
                    <a:bodyPr/>
                    <a:lstStyle/>
                    <a:p>
                      <a:pPr algn="l">
                        <a:spcBef>
                          <a:spcPts val="0"/>
                        </a:spcBef>
                        <a:spcAft>
                          <a:spcPts val="0"/>
                        </a:spcAft>
                        <a:defRPr>
                          <a:solidFill/>
                        </a:defRPr>
                      </a:pPr>
                      <a:r>
                        <a:rPr sz="1200" b="1" i="0">
                          <a:solidFill>
                            <a:srgbClr val="FFFFFF"/>
                          </a:solidFill>
                          <a:latin typeface="Calibri"/>
                        </a:rPr>
                        <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200" b="1" i="0">
                          <a:solidFill>
                            <a:srgbClr val="FFFFFF"/>
                          </a:solidFill>
                          <a:latin typeface="Calibri"/>
                        </a:rPr>
                        <a:t>The claim</a:t>
                      </a:r>
                    </a:p>
                  </a:txBody>
                  <a:tcPr anchor="ctr">
                    <a:marL sz="40000"/>
                    <a:marR sz="40000"/>
                    <a:marT sz="30000"/>
                    <a:marB sz="30000"/>
                    <a:solidFill>
                      <a:srgbClr val="800000"/>
                    </a:solidFill>
                  </a:tcPr>
                </a:tc>
              </a:tr>
              <a:tr h="472440">
                <a:tc>
                  <a:txBody>
                    <a:bodyPr/>
                    <a:lstStyle/>
                    <a:p>
                      <a:pPr algn="l">
                        <a:spcBef>
                          <a:spcPts val="0"/>
                        </a:spcBef>
                        <a:spcAft>
                          <a:spcPts val="0"/>
                        </a:spcAft>
                        <a:defRPr>
                          <a:solidFill/>
                        </a:defRPr>
                      </a:pPr>
                      <a:r>
                        <a:rPr sz="1200" b="1" i="0">
                          <a:solidFill>
                            <a:srgbClr val="5C0000"/>
                          </a:solidFill>
                          <a:latin typeface="Calibri"/>
                        </a:rPr>
                        <a:t>Single thesis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200" b="0" i="0">
                          <a:solidFill>
                            <a:srgbClr val="222222"/>
                          </a:solidFill>
                          <a:latin typeface="Calibri"/>
                        </a:rPr>
                        <a:t>Safety commitments coexist with similar (or higher) infrastructure capex. Pacing, RSPs, summits and pause letters have not historically reduced cluster spend. Therefore the optical interconnect cycle is intact over a 3–12 month horizon.</a:t>
                      </a:r>
                    </a:p>
                  </a:txBody>
                  <a:tcPr anchor="ctr">
                    <a:marL sz="40000"/>
                    <a:marR sz="40000"/>
                    <a:marT sz="30000"/>
                    <a:marB sz="30000"/>
                    <a:solidFill>
                      <a:srgbClr val="F5ECEC"/>
                    </a:solidFill>
                  </a:tcPr>
                </a:tc>
              </a:tr>
              <a:tr h="472440">
                <a:tc>
                  <a:txBody>
                    <a:bodyPr/>
                    <a:lstStyle/>
                    <a:p>
                      <a:pPr algn="l">
                        <a:spcBef>
                          <a:spcPts val="0"/>
                        </a:spcBef>
                        <a:spcAft>
                          <a:spcPts val="0"/>
                        </a:spcAft>
                        <a:defRPr>
                          <a:solidFill/>
                        </a:defRPr>
                      </a:pPr>
                      <a:r>
                        <a:rPr sz="1200" b="1" i="0">
                          <a:solidFill>
                            <a:srgbClr val="5C0000"/>
                          </a:solidFill>
                          <a:latin typeface="Calibri"/>
                        </a:rPr>
                        <a:t>Why it pays in 3–12m</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200" b="0" i="0">
                          <a:solidFill>
                            <a:srgbClr val="222222"/>
                          </a:solidFill>
                          <a:latin typeface="Calibri"/>
                        </a:rPr>
                        <a:t>Q1–Q4 FY27 prints and hyperscaler capex commentary either confirm the spend or they do not. We do not need a 10-year DCF to be right; we need the next four quarters of optical content not to be cancelled.</a:t>
                      </a:r>
                    </a:p>
                  </a:txBody>
                  <a:tcPr anchor="ctr">
                    <a:marL sz="40000"/>
                    <a:marR sz="40000"/>
                    <a:marT sz="30000"/>
                    <a:marB sz="30000"/>
                    <a:solidFill>
                      <a:srgbClr val="FFFFFF"/>
                    </a:solidFill>
                  </a:tcPr>
                </a:tc>
              </a:tr>
            </a:tbl>
          </a:graphicData>
        </a:graphic>
      </p:graphicFrame>
      <p:graphicFrame>
        <p:nvGraphicFramePr>
          <p:cNvPr id="6" name="Table 5"/>
          <p:cNvGraphicFramePr>
            <a:graphicFrameLocks noGrp="1"/>
          </p:cNvGraphicFramePr>
          <p:nvPr/>
        </p:nvGraphicFramePr>
        <p:xfrm>
          <a:off x="292608" y="2697480"/>
          <a:ext cx="11612880" cy="1234440"/>
        </p:xfrm>
        <a:graphic>
          <a:graphicData uri="http://schemas.openxmlformats.org/drawingml/2006/table">
            <a:tbl>
              <a:tblPr firstRow="1" bandRow="1">
                <a:tableStyleId>{5C22544A-7EE6-4342-B048-85BDC9FD1C3A}</a:tableStyleId>
              </a:tblPr>
              <a:tblGrid>
                <a:gridCol w="2011680"/>
                <a:gridCol w="9601200"/>
              </a:tblGrid>
              <a:tr h="1234440">
                <a:tc>
                  <a:txBody>
                    <a:bodyPr/>
                    <a:lstStyle/>
                    <a:p>
                      <a:pPr algn="l">
                        <a:spcBef>
                          <a:spcPts val="0"/>
                        </a:spcBef>
                        <a:spcAft>
                          <a:spcPts val="0"/>
                        </a:spcAft>
                        <a:defRPr>
                          <a:solidFill/>
                        </a:defRPr>
                      </a:pPr>
                      <a:r>
                        <a:rPr sz="1200" b="1" i="0">
                          <a:solidFill>
                            <a:srgbClr val="FFFFFF"/>
                          </a:solidFill>
                          <a:latin typeface="Calibri"/>
                        </a:rPr>
                        <a:t>Information edge</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200" b="1" i="0">
                          <a:solidFill>
                            <a:srgbClr val="FFFFFF"/>
                          </a:solidFill>
                          <a:latin typeface="Calibri"/>
                        </a:rPr>
                        <a:t>1) Primary read of Amodei (12 Sep 2026) vs the capex-cut inference  2) LITE daily tape 8–17 Sep from stockanalysis  3) Event set of prior safety regimes vs Microsoft cash PP&amp;E and lab behavior  4) Three-name screen on FCF, net cash, NVIDIA contract, and in-rack optics mix  5) Dated DCF / 12-month P/E model in Lumentum_Investment_Model.xlsx</a:t>
                      </a:r>
                    </a:p>
                  </a:txBody>
                  <a:tcPr anchor="ctr">
                    <a:marL sz="40000"/>
                    <a:marR sz="40000"/>
                    <a:marT sz="30000"/>
                    <a:marB sz="30000"/>
                    <a:solidFill>
                      <a:srgbClr val="800000"/>
                    </a:solidFill>
                  </a:tcPr>
                </a:tc>
              </a:tr>
            </a:tbl>
          </a:graphicData>
        </a:graphic>
      </p:graphicFrame>
      <p:sp>
        <p:nvSpPr>
          <p:cNvPr id="7" name="Rectangle 6"/>
          <p:cNvSpPr/>
          <p:nvPr/>
        </p:nvSpPr>
        <p:spPr>
          <a:xfrm>
            <a:off x="292608" y="4069080"/>
            <a:ext cx="3749039" cy="2331720"/>
          </a:xfrm>
          <a:prstGeom prst="rect">
            <a:avLst/>
          </a:prstGeom>
          <a:solidFill>
            <a:srgbClr val="F5ECEC"/>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 name="Rectangle 7"/>
          <p:cNvSpPr/>
          <p:nvPr/>
        </p:nvSpPr>
        <p:spPr>
          <a:xfrm>
            <a:off x="292608" y="4069080"/>
            <a:ext cx="3749039" cy="38404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TextBox 8"/>
          <p:cNvSpPr txBox="1"/>
          <p:nvPr/>
        </p:nvSpPr>
        <p:spPr>
          <a:xfrm>
            <a:off x="292608" y="4069080"/>
            <a:ext cx="3749039" cy="384048"/>
          </a:xfrm>
          <a:prstGeom prst="rect">
            <a:avLst/>
          </a:prstGeom>
          <a:noFill/>
          <a:ln>
            <a:solidFill/>
          </a:ln>
        </p:spPr>
        <p:txBody>
          <a:bodyPr wrap="square" anchor="ctr">
            <a:spAutoFit/>
          </a:bodyPr>
          <a:lstStyle/>
          <a:p>
            <a:pPr algn="ctr">
              <a:spcBef>
                <a:spcPts val="0"/>
              </a:spcBef>
              <a:spcAft>
                <a:spcPts val="200"/>
              </a:spcAft>
              <a:defRPr>
                <a:solidFill/>
              </a:defRPr>
            </a:pPr>
            <a:r>
              <a:rPr sz="1400" b="1" i="0">
                <a:solidFill>
                  <a:srgbClr val="FFFFFF"/>
                </a:solidFill>
                <a:latin typeface="Calibri"/>
              </a:rPr>
              <a:t>Bear case</a:t>
            </a:r>
          </a:p>
        </p:txBody>
      </p:sp>
      <p:sp>
        <p:nvSpPr>
          <p:cNvPr id="10" name="TextBox 9"/>
          <p:cNvSpPr txBox="1"/>
          <p:nvPr/>
        </p:nvSpPr>
        <p:spPr>
          <a:xfrm>
            <a:off x="384048" y="4526280"/>
            <a:ext cx="3566160" cy="640080"/>
          </a:xfrm>
          <a:prstGeom prst="rect">
            <a:avLst/>
          </a:prstGeom>
          <a:noFill/>
          <a:ln>
            <a:solidFill/>
          </a:ln>
        </p:spPr>
        <p:txBody>
          <a:bodyPr wrap="square" anchor="t">
            <a:spAutoFit/>
          </a:bodyPr>
          <a:lstStyle/>
          <a:p>
            <a:pPr algn="ctr">
              <a:spcBef>
                <a:spcPts val="0"/>
              </a:spcBef>
              <a:spcAft>
                <a:spcPts val="200"/>
              </a:spcAft>
              <a:defRPr>
                <a:solidFill/>
              </a:defRPr>
            </a:pPr>
            <a:r>
              <a:rPr sz="2600" b="1" i="0">
                <a:solidFill>
                  <a:srgbClr val="5C0000"/>
                </a:solidFill>
                <a:latin typeface="Calibri"/>
              </a:rPr>
              <a:t>$331</a:t>
            </a:r>
          </a:p>
        </p:txBody>
      </p:sp>
      <p:sp>
        <p:nvSpPr>
          <p:cNvPr id="11" name="TextBox 10"/>
          <p:cNvSpPr txBox="1"/>
          <p:nvPr/>
        </p:nvSpPr>
        <p:spPr>
          <a:xfrm>
            <a:off x="384048" y="5074920"/>
            <a:ext cx="3566160" cy="292608"/>
          </a:xfrm>
          <a:prstGeom prst="rect">
            <a:avLst/>
          </a:prstGeom>
          <a:noFill/>
          <a:ln>
            <a:solidFill/>
          </a:ln>
        </p:spPr>
        <p:txBody>
          <a:bodyPr wrap="square" anchor="t">
            <a:spAutoFit/>
          </a:bodyPr>
          <a:lstStyle/>
          <a:p>
            <a:pPr algn="ctr">
              <a:spcBef>
                <a:spcPts val="0"/>
              </a:spcBef>
              <a:spcAft>
                <a:spcPts val="200"/>
              </a:spcAft>
              <a:defRPr>
                <a:solidFill/>
              </a:defRPr>
            </a:pPr>
            <a:r>
              <a:rPr sz="1400" b="1" i="0">
                <a:solidFill>
                  <a:srgbClr val="800000"/>
                </a:solidFill>
                <a:latin typeface="Calibri"/>
              </a:rPr>
              <a:t>−63% vs $893.61</a:t>
            </a:r>
          </a:p>
        </p:txBody>
      </p:sp>
      <p:sp>
        <p:nvSpPr>
          <p:cNvPr id="12" name="TextBox 11"/>
          <p:cNvSpPr txBox="1"/>
          <p:nvPr/>
        </p:nvSpPr>
        <p:spPr>
          <a:xfrm>
            <a:off x="402336" y="5413248"/>
            <a:ext cx="3529584" cy="868680"/>
          </a:xfrm>
          <a:prstGeom prst="rect">
            <a:avLst/>
          </a:prstGeom>
          <a:noFill/>
          <a:ln>
            <a:solidFill/>
          </a:ln>
        </p:spPr>
        <p:txBody>
          <a:bodyPr wrap="square" anchor="t">
            <a:spAutoFit/>
          </a:bodyPr>
          <a:lstStyle/>
          <a:p>
            <a:pPr algn="l">
              <a:spcBef>
                <a:spcPts val="0"/>
              </a:spcBef>
              <a:spcAft>
                <a:spcPts val="200"/>
              </a:spcAft>
              <a:defRPr>
                <a:solidFill/>
              </a:defRPr>
            </a:pPr>
            <a:r>
              <a:rPr sz="1100" b="0" i="0">
                <a:solidFill>
                  <a:srgbClr val="222222"/>
                </a:solidFill>
                <a:latin typeface="Calibri"/>
              </a:rPr>
              <a:t>Training-order haircut 10–20% from Q2, GM fade, 25× FY28 EPS $13.22. This is the PM’s world if pacing actually bites demand.</a:t>
            </a:r>
          </a:p>
        </p:txBody>
      </p:sp>
      <p:sp>
        <p:nvSpPr>
          <p:cNvPr id="13" name="Rectangle 12"/>
          <p:cNvSpPr/>
          <p:nvPr/>
        </p:nvSpPr>
        <p:spPr>
          <a:xfrm>
            <a:off x="4224528" y="4069080"/>
            <a:ext cx="3749039" cy="2331720"/>
          </a:xfrm>
          <a:prstGeom prst="rect">
            <a:avLst/>
          </a:prstGeom>
          <a:solidFill>
            <a:srgbClr val="F5ECEC"/>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Rectangle 13"/>
          <p:cNvSpPr/>
          <p:nvPr/>
        </p:nvSpPr>
        <p:spPr>
          <a:xfrm>
            <a:off x="4224528" y="4069080"/>
            <a:ext cx="3749039" cy="38404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TextBox 14"/>
          <p:cNvSpPr txBox="1"/>
          <p:nvPr/>
        </p:nvSpPr>
        <p:spPr>
          <a:xfrm>
            <a:off x="4224528" y="4069080"/>
            <a:ext cx="3749039" cy="384048"/>
          </a:xfrm>
          <a:prstGeom prst="rect">
            <a:avLst/>
          </a:prstGeom>
          <a:noFill/>
          <a:ln>
            <a:solidFill/>
          </a:ln>
        </p:spPr>
        <p:txBody>
          <a:bodyPr wrap="square" anchor="ctr">
            <a:spAutoFit/>
          </a:bodyPr>
          <a:lstStyle/>
          <a:p>
            <a:pPr algn="ctr">
              <a:spcBef>
                <a:spcPts val="0"/>
              </a:spcBef>
              <a:spcAft>
                <a:spcPts val="200"/>
              </a:spcAft>
              <a:defRPr>
                <a:solidFill/>
              </a:defRPr>
            </a:pPr>
            <a:r>
              <a:rPr sz="1400" b="1" i="0">
                <a:solidFill>
                  <a:srgbClr val="FFFFFF"/>
                </a:solidFill>
                <a:latin typeface="Calibri"/>
              </a:rPr>
              <a:t>Base case</a:t>
            </a:r>
          </a:p>
        </p:txBody>
      </p:sp>
      <p:sp>
        <p:nvSpPr>
          <p:cNvPr id="16" name="TextBox 15"/>
          <p:cNvSpPr txBox="1"/>
          <p:nvPr/>
        </p:nvSpPr>
        <p:spPr>
          <a:xfrm>
            <a:off x="4315968" y="4526280"/>
            <a:ext cx="3566160" cy="640080"/>
          </a:xfrm>
          <a:prstGeom prst="rect">
            <a:avLst/>
          </a:prstGeom>
          <a:noFill/>
          <a:ln>
            <a:solidFill/>
          </a:ln>
        </p:spPr>
        <p:txBody>
          <a:bodyPr wrap="square" anchor="t">
            <a:spAutoFit/>
          </a:bodyPr>
          <a:lstStyle/>
          <a:p>
            <a:pPr algn="ctr">
              <a:spcBef>
                <a:spcPts val="0"/>
              </a:spcBef>
              <a:spcAft>
                <a:spcPts val="200"/>
              </a:spcAft>
              <a:defRPr>
                <a:solidFill/>
              </a:defRPr>
            </a:pPr>
            <a:r>
              <a:rPr sz="2600" b="1" i="0">
                <a:solidFill>
                  <a:srgbClr val="5C0000"/>
                </a:solidFill>
                <a:latin typeface="Calibri"/>
              </a:rPr>
              <a:t>$1,003</a:t>
            </a:r>
          </a:p>
        </p:txBody>
      </p:sp>
      <p:sp>
        <p:nvSpPr>
          <p:cNvPr id="17" name="TextBox 16"/>
          <p:cNvSpPr txBox="1"/>
          <p:nvPr/>
        </p:nvSpPr>
        <p:spPr>
          <a:xfrm>
            <a:off x="4315968" y="5074920"/>
            <a:ext cx="3566160" cy="292608"/>
          </a:xfrm>
          <a:prstGeom prst="rect">
            <a:avLst/>
          </a:prstGeom>
          <a:noFill/>
          <a:ln>
            <a:solidFill/>
          </a:ln>
        </p:spPr>
        <p:txBody>
          <a:bodyPr wrap="square" anchor="t">
            <a:spAutoFit/>
          </a:bodyPr>
          <a:lstStyle/>
          <a:p>
            <a:pPr algn="ctr">
              <a:spcBef>
                <a:spcPts val="0"/>
              </a:spcBef>
              <a:spcAft>
                <a:spcPts val="200"/>
              </a:spcAft>
              <a:defRPr>
                <a:solidFill/>
              </a:defRPr>
            </a:pPr>
            <a:r>
              <a:rPr sz="1400" b="1" i="0">
                <a:solidFill>
                  <a:srgbClr val="800000"/>
                </a:solidFill>
                <a:latin typeface="Calibri"/>
              </a:rPr>
              <a:t>+12% vs $893.61</a:t>
            </a:r>
          </a:p>
        </p:txBody>
      </p:sp>
      <p:sp>
        <p:nvSpPr>
          <p:cNvPr id="18" name="TextBox 17"/>
          <p:cNvSpPr txBox="1"/>
          <p:nvPr/>
        </p:nvSpPr>
        <p:spPr>
          <a:xfrm>
            <a:off x="4334256" y="5413248"/>
            <a:ext cx="3529584" cy="868680"/>
          </a:xfrm>
          <a:prstGeom prst="rect">
            <a:avLst/>
          </a:prstGeom>
          <a:noFill/>
          <a:ln>
            <a:solidFill/>
          </a:ln>
        </p:spPr>
        <p:txBody>
          <a:bodyPr wrap="square" anchor="t">
            <a:spAutoFit/>
          </a:bodyPr>
          <a:lstStyle/>
          <a:p>
            <a:pPr algn="l">
              <a:spcBef>
                <a:spcPts val="0"/>
              </a:spcBef>
              <a:spcAft>
                <a:spcPts val="200"/>
              </a:spcAft>
              <a:defRPr>
                <a:solidFill/>
              </a:defRPr>
            </a:pPr>
            <a:r>
              <a:rPr sz="1100" b="0" i="0">
                <a:solidFill>
                  <a:srgbClr val="222222"/>
                </a:solidFill>
                <a:latin typeface="Calibri"/>
              </a:rPr>
              <a:t>No training haircut. Q1 inside guide. FY28 EPS $33.42 at 30x. Capex/revenue 15% to 6%. This is spend continues, multiple normalizes.</a:t>
            </a:r>
          </a:p>
        </p:txBody>
      </p:sp>
      <p:sp>
        <p:nvSpPr>
          <p:cNvPr id="19" name="Rectangle 18"/>
          <p:cNvSpPr/>
          <p:nvPr/>
        </p:nvSpPr>
        <p:spPr>
          <a:xfrm>
            <a:off x="8156448" y="4069080"/>
            <a:ext cx="3749039" cy="2331720"/>
          </a:xfrm>
          <a:prstGeom prst="rect">
            <a:avLst/>
          </a:prstGeom>
          <a:solidFill>
            <a:srgbClr val="F5ECEC"/>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Rectangle 19"/>
          <p:cNvSpPr/>
          <p:nvPr/>
        </p:nvSpPr>
        <p:spPr>
          <a:xfrm>
            <a:off x="8156448" y="4069080"/>
            <a:ext cx="3749039" cy="38404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TextBox 20"/>
          <p:cNvSpPr txBox="1"/>
          <p:nvPr/>
        </p:nvSpPr>
        <p:spPr>
          <a:xfrm>
            <a:off x="8156448" y="4069080"/>
            <a:ext cx="3749039" cy="384048"/>
          </a:xfrm>
          <a:prstGeom prst="rect">
            <a:avLst/>
          </a:prstGeom>
          <a:noFill/>
          <a:ln>
            <a:solidFill/>
          </a:ln>
        </p:spPr>
        <p:txBody>
          <a:bodyPr wrap="square" anchor="ctr">
            <a:spAutoFit/>
          </a:bodyPr>
          <a:lstStyle/>
          <a:p>
            <a:pPr algn="ctr">
              <a:spcBef>
                <a:spcPts val="0"/>
              </a:spcBef>
              <a:spcAft>
                <a:spcPts val="200"/>
              </a:spcAft>
              <a:defRPr>
                <a:solidFill/>
              </a:defRPr>
            </a:pPr>
            <a:r>
              <a:rPr sz="1400" b="1" i="0">
                <a:solidFill>
                  <a:srgbClr val="FFFFFF"/>
                </a:solidFill>
                <a:latin typeface="Calibri"/>
              </a:rPr>
              <a:t>Bull case</a:t>
            </a:r>
          </a:p>
        </p:txBody>
      </p:sp>
      <p:sp>
        <p:nvSpPr>
          <p:cNvPr id="22" name="TextBox 21"/>
          <p:cNvSpPr txBox="1"/>
          <p:nvPr/>
        </p:nvSpPr>
        <p:spPr>
          <a:xfrm>
            <a:off x="8247888" y="4526280"/>
            <a:ext cx="3566160" cy="640080"/>
          </a:xfrm>
          <a:prstGeom prst="rect">
            <a:avLst/>
          </a:prstGeom>
          <a:noFill/>
          <a:ln>
            <a:solidFill/>
          </a:ln>
        </p:spPr>
        <p:txBody>
          <a:bodyPr wrap="square" anchor="t">
            <a:spAutoFit/>
          </a:bodyPr>
          <a:lstStyle/>
          <a:p>
            <a:pPr algn="ctr">
              <a:spcBef>
                <a:spcPts val="0"/>
              </a:spcBef>
              <a:spcAft>
                <a:spcPts val="200"/>
              </a:spcAft>
              <a:defRPr>
                <a:solidFill/>
              </a:defRPr>
            </a:pPr>
            <a:r>
              <a:rPr sz="2600" b="1" i="0">
                <a:solidFill>
                  <a:srgbClr val="5C0000"/>
                </a:solidFill>
                <a:latin typeface="Calibri"/>
              </a:rPr>
              <a:t>$1,605</a:t>
            </a:r>
          </a:p>
        </p:txBody>
      </p:sp>
      <p:sp>
        <p:nvSpPr>
          <p:cNvPr id="23" name="TextBox 22"/>
          <p:cNvSpPr txBox="1"/>
          <p:nvPr/>
        </p:nvSpPr>
        <p:spPr>
          <a:xfrm>
            <a:off x="8247888" y="5074920"/>
            <a:ext cx="3566160" cy="292608"/>
          </a:xfrm>
          <a:prstGeom prst="rect">
            <a:avLst/>
          </a:prstGeom>
          <a:noFill/>
          <a:ln>
            <a:solidFill/>
          </a:ln>
        </p:spPr>
        <p:txBody>
          <a:bodyPr wrap="square" anchor="t">
            <a:spAutoFit/>
          </a:bodyPr>
          <a:lstStyle/>
          <a:p>
            <a:pPr algn="ctr">
              <a:spcBef>
                <a:spcPts val="0"/>
              </a:spcBef>
              <a:spcAft>
                <a:spcPts val="200"/>
              </a:spcAft>
              <a:defRPr>
                <a:solidFill/>
              </a:defRPr>
            </a:pPr>
            <a:r>
              <a:rPr sz="1400" b="1" i="0">
                <a:solidFill>
                  <a:srgbClr val="800000"/>
                </a:solidFill>
                <a:latin typeface="Calibri"/>
              </a:rPr>
              <a:t>+80% vs $893.61</a:t>
            </a:r>
          </a:p>
        </p:txBody>
      </p:sp>
      <p:sp>
        <p:nvSpPr>
          <p:cNvPr id="24" name="TextBox 23"/>
          <p:cNvSpPr txBox="1"/>
          <p:nvPr/>
        </p:nvSpPr>
        <p:spPr>
          <a:xfrm>
            <a:off x="8266176" y="5413248"/>
            <a:ext cx="3529584" cy="868680"/>
          </a:xfrm>
          <a:prstGeom prst="rect">
            <a:avLst/>
          </a:prstGeom>
          <a:noFill/>
          <a:ln>
            <a:solidFill/>
          </a:ln>
        </p:spPr>
        <p:txBody>
          <a:bodyPr wrap="square" anchor="t">
            <a:spAutoFit/>
          </a:bodyPr>
          <a:lstStyle/>
          <a:p>
            <a:pPr algn="l">
              <a:spcBef>
                <a:spcPts val="0"/>
              </a:spcBef>
              <a:spcAft>
                <a:spcPts val="200"/>
              </a:spcAft>
              <a:defRPr>
                <a:solidFill/>
              </a:defRPr>
            </a:pPr>
            <a:r>
              <a:rPr sz="1100" b="0" i="0">
                <a:solidFill>
                  <a:srgbClr val="222222"/>
                </a:solidFill>
                <a:latin typeface="Calibri"/>
              </a:rPr>
              <a:t>Volume/mix beats, GM to 59%, 35× FY28 EPS $45.86. CPO/OCS/1.6T layer in as management described in August.</a:t>
            </a:r>
          </a:p>
        </p:txBody>
      </p:sp>
      <p:sp>
        <p:nvSpPr>
          <p:cNvPr id="25" name="Rectangle 24"/>
          <p:cNvSpPr/>
          <p:nvPr/>
        </p:nvSpPr>
        <p:spPr>
          <a:xfrm>
            <a:off x="0" y="6656832"/>
            <a:ext cx="12191695" cy="2011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TextBox 25"/>
          <p:cNvSpPr txBox="1"/>
          <p:nvPr/>
        </p:nvSpPr>
        <p:spPr>
          <a:xfrm>
            <a:off x="256032" y="6656832"/>
            <a:ext cx="10515600" cy="201168"/>
          </a:xfrm>
          <a:prstGeom prst="rect">
            <a:avLst/>
          </a:prstGeom>
          <a:noFill/>
          <a:ln>
            <a:solidFill/>
          </a:ln>
        </p:spPr>
        <p:txBody>
          <a:bodyPr wrap="square" anchor="ctr">
            <a:spAutoFit/>
          </a:bodyPr>
          <a:lstStyle/>
          <a:p>
            <a:pPr algn="l">
              <a:spcBef>
                <a:spcPts val="0"/>
              </a:spcBef>
              <a:spcAft>
                <a:spcPts val="200"/>
              </a:spcAft>
              <a:defRPr>
                <a:solidFill/>
              </a:defRPr>
            </a:pPr>
            <a:r>
              <a:rPr sz="800" b="0" i="0">
                <a:solidFill>
                  <a:srgbClr val="FFFFFF"/>
                </a:solidFill>
                <a:latin typeface="Calibri"/>
              </a:rPr>
              <a:t>UChicago AI-Enabled Investing Competition  |  18 September 2026  |  LONG LITE  |  Horizon 3–12 months  |  Sources on slide 10</a:t>
            </a:r>
          </a:p>
        </p:txBody>
      </p:sp>
      <p:sp>
        <p:nvSpPr>
          <p:cNvPr id="27" name="TextBox 26"/>
          <p:cNvSpPr txBox="1"/>
          <p:nvPr/>
        </p:nvSpPr>
        <p:spPr>
          <a:xfrm>
            <a:off x="11155680" y="6656832"/>
            <a:ext cx="822960" cy="201168"/>
          </a:xfrm>
          <a:prstGeom prst="rect">
            <a:avLst/>
          </a:prstGeom>
          <a:noFill/>
          <a:ln>
            <a:solidFill/>
          </a:ln>
        </p:spPr>
        <p:txBody>
          <a:bodyPr wrap="square" anchor="ctr">
            <a:spAutoFit/>
          </a:bodyPr>
          <a:lstStyle/>
          <a:p>
            <a:pPr algn="r">
              <a:spcBef>
                <a:spcPts val="0"/>
              </a:spcBef>
              <a:spcAft>
                <a:spcPts val="200"/>
              </a:spcAft>
              <a:defRPr>
                <a:solidFill/>
              </a:defRPr>
            </a:pPr>
            <a:r>
              <a:rPr sz="900" b="1" i="0">
                <a:solidFill>
                  <a:srgbClr val="FFFFF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292608" y="109728"/>
            <a:ext cx="11612880" cy="475488"/>
          </a:xfrm>
          <a:prstGeom prst="rect">
            <a:avLst/>
          </a:prstGeom>
          <a:noFill/>
          <a:ln>
            <a:solidFill/>
          </a:ln>
        </p:spPr>
        <p:txBody>
          <a:bodyPr wrap="square" anchor="ctr">
            <a:spAutoFit/>
          </a:bodyPr>
          <a:lstStyle/>
          <a:p>
            <a:pPr algn="l">
              <a:spcBef>
                <a:spcPts val="0"/>
              </a:spcBef>
              <a:spcAft>
                <a:spcPts val="200"/>
              </a:spcAft>
              <a:defRPr>
                <a:solidFill/>
              </a:defRPr>
            </a:pPr>
            <a:r>
              <a:rPr sz="2200" b="1" i="0">
                <a:solidFill>
                  <a:srgbClr val="FFFFFF"/>
                </a:solidFill>
                <a:latin typeface="Calibri"/>
              </a:rPr>
              <a:t>Thesis evidence — Dario this week, and a long list of prior safety events</a:t>
            </a:r>
          </a:p>
        </p:txBody>
      </p:sp>
      <p:sp>
        <p:nvSpPr>
          <p:cNvPr id="4" name="TextBox 3"/>
          <p:cNvSpPr txBox="1"/>
          <p:nvPr/>
        </p:nvSpPr>
        <p:spPr>
          <a:xfrm>
            <a:off x="292608" y="731520"/>
            <a:ext cx="6675120" cy="347472"/>
          </a:xfrm>
          <a:prstGeom prst="rect">
            <a:avLst/>
          </a:prstGeom>
          <a:noFill/>
          <a:ln>
            <a:solidFill/>
          </a:ln>
        </p:spPr>
        <p:txBody>
          <a:bodyPr wrap="square" anchor="t">
            <a:spAutoFit/>
          </a:bodyPr>
          <a:lstStyle/>
          <a:p>
            <a:pPr algn="l">
              <a:spcBef>
                <a:spcPts val="0"/>
              </a:spcBef>
              <a:spcAft>
                <a:spcPts val="200"/>
              </a:spcAft>
              <a:defRPr>
                <a:solidFill/>
              </a:defRPr>
            </a:pPr>
            <a:r>
              <a:rPr sz="1300" b="1" i="0">
                <a:solidFill>
                  <a:srgbClr val="800000"/>
                </a:solidFill>
                <a:latin typeface="Calibri"/>
              </a:rPr>
              <a:t>This week: a one-day optical scare that reversed. Not a capex print.</a:t>
            </a:r>
          </a:p>
        </p:txBody>
      </p:sp>
      <p:pic>
        <p:nvPicPr>
          <p:cNvPr id="5" name="Picture 4" descr="lite_tape.png"/>
          <p:cNvPicPr>
            <a:picLocks noChangeAspect="1"/>
          </p:cNvPicPr>
          <p:nvPr/>
        </p:nvPicPr>
        <p:blipFill>
          <a:blip r:embed="rId2"/>
          <a:stretch>
            <a:fillRect/>
          </a:stretch>
        </p:blipFill>
        <p:spPr>
          <a:xfrm>
            <a:off x="256032" y="1078992"/>
            <a:ext cx="6720840" cy="2880360"/>
          </a:xfrm>
          <a:prstGeom prst="rect">
            <a:avLst/>
          </a:prstGeom>
          <a:ln>
            <a:solidFill/>
          </a:ln>
        </p:spPr>
      </p:pic>
      <p:sp>
        <p:nvSpPr>
          <p:cNvPr id="6" name="TextBox 5"/>
          <p:cNvSpPr txBox="1"/>
          <p:nvPr/>
        </p:nvSpPr>
        <p:spPr>
          <a:xfrm>
            <a:off x="292608" y="4005072"/>
            <a:ext cx="6675120" cy="2331720"/>
          </a:xfrm>
          <a:prstGeom prst="rect">
            <a:avLst/>
          </a:prstGeom>
          <a:noFill/>
          <a:ln>
            <a:solidFill/>
          </a:ln>
        </p:spPr>
        <p:txBody>
          <a:bodyPr wrap="square" anchor="t">
            <a:spAutoFit/>
          </a:bodyPr>
          <a:lstStyle/>
          <a:p>
            <a:pPr algn="l">
              <a:spcBef>
                <a:spcPts val="0"/>
              </a:spcBef>
              <a:spcAft>
                <a:spcPts val="200"/>
              </a:spcAft>
              <a:defRPr>
                <a:solidFill/>
              </a:defRPr>
            </a:pPr>
            <a:r>
              <a:rPr sz="1200" b="0" i="0">
                <a:solidFill>
                  <a:srgbClr val="222222"/>
                </a:solidFill>
                <a:latin typeface="Calibri"/>
              </a:rPr>
              <a:t>12 Sep (Sat): essay published. 14 Sep (Mon): LITE −9.9% to $835, volume 4.9m. 16 Sep: $919. 17 Sep freeze: $893.61.</a:t>
            </a:r>
          </a:p>
          <a:p>
            <a:pPr algn="l">
              <a:spcBef>
                <a:spcPts val="0"/>
              </a:spcBef>
              <a:spcAft>
                <a:spcPts val="200"/>
              </a:spcAft>
              <a:defRPr>
                <a:solidFill/>
              </a:defRPr>
            </a:pPr>
            <a:r>
              <a:rPr sz="1200" b="0" i="0">
                <a:solidFill>
                  <a:srgbClr val="222222"/>
                </a:solidFill>
                <a:latin typeface="Calibri"/>
              </a:rPr>
              <a:t>Amodei’s own words reject the mapping. Pacing is extra time for alignment and embedded third-party evaluators. Step 1 is unilateral at Anthropic. Steps 2–3 need industry and government coordination that has not occurred this week.</a:t>
            </a:r>
          </a:p>
          <a:p>
            <a:pPr algn="l">
              <a:spcBef>
                <a:spcPts val="0"/>
              </a:spcBef>
              <a:spcAft>
                <a:spcPts val="200"/>
              </a:spcAft>
              <a:defRPr>
                <a:solidFill/>
              </a:defRPr>
            </a:pPr>
            <a:r>
              <a:rPr sz="1200" b="0" i="0">
                <a:solidFill>
                  <a:srgbClr val="222222"/>
                </a:solidFill>
                <a:latin typeface="Calibri"/>
              </a:rPr>
              <a:t>Buyer vs supplier split. Secondary tape on 14 Sep had Meta/Alphabet up and Microsoft roughly flat while chips sold off. That is the market tagging the supply chain with a demand hole the buyers did not confirm. We will not pretend LITE “did not pull back” for one session. We will say the pullback did not persist and did not come with a capex cut.</a:t>
            </a:r>
          </a:p>
        </p:txBody>
      </p:sp>
      <p:graphicFrame>
        <p:nvGraphicFramePr>
          <p:cNvPr id="7" name="Table 6"/>
          <p:cNvGraphicFramePr>
            <a:graphicFrameLocks noGrp="1"/>
          </p:cNvGraphicFramePr>
          <p:nvPr/>
        </p:nvGraphicFramePr>
        <p:xfrm>
          <a:off x="7086600" y="749808"/>
          <a:ext cx="4828031" cy="5623560"/>
        </p:xfrm>
        <a:graphic>
          <a:graphicData uri="http://schemas.openxmlformats.org/drawingml/2006/table">
            <a:tbl>
              <a:tblPr firstRow="1" bandRow="1">
                <a:tableStyleId>{5C22544A-7EE6-4342-B048-85BDC9FD1C3A}</a:tableStyleId>
              </a:tblPr>
              <a:tblGrid>
                <a:gridCol w="1874519"/>
                <a:gridCol w="2953512"/>
              </a:tblGrid>
              <a:tr h="624840">
                <a:tc>
                  <a:txBody>
                    <a:bodyPr/>
                    <a:lstStyle/>
                    <a:p>
                      <a:pPr algn="l">
                        <a:spcBef>
                          <a:spcPts val="0"/>
                        </a:spcBef>
                        <a:spcAft>
                          <a:spcPts val="0"/>
                        </a:spcAft>
                        <a:defRPr>
                          <a:solidFill/>
                        </a:defRPr>
                      </a:pPr>
                      <a:r>
                        <a:rPr sz="800" b="1" i="0">
                          <a:solidFill>
                            <a:srgbClr val="FFFFFF"/>
                          </a:solidFill>
                          <a:latin typeface="Calibri"/>
                        </a:rPr>
                        <a:t>Prior safety event</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800" b="1" i="0">
                          <a:solidFill>
                            <a:srgbClr val="FFFFFF"/>
                          </a:solidFill>
                          <a:latin typeface="Calibri"/>
                        </a:rPr>
                        <a:t>What followed on spend</a:t>
                      </a:r>
                    </a:p>
                  </a:txBody>
                  <a:tcPr anchor="ctr">
                    <a:marL sz="40000"/>
                    <a:marR sz="40000"/>
                    <a:marT sz="30000"/>
                    <a:marB sz="30000"/>
                    <a:solidFill>
                      <a:srgbClr val="800000"/>
                    </a:solidFill>
                  </a:tcPr>
                </a:tc>
              </a:tr>
              <a:tr h="624840">
                <a:tc>
                  <a:txBody>
                    <a:bodyPr/>
                    <a:lstStyle/>
                    <a:p>
                      <a:pPr algn="l">
                        <a:spcBef>
                          <a:spcPts val="0"/>
                        </a:spcBef>
                        <a:spcAft>
                          <a:spcPts val="0"/>
                        </a:spcAft>
                        <a:defRPr>
                          <a:solidFill/>
                        </a:defRPr>
                      </a:pPr>
                      <a:r>
                        <a:rPr sz="800" b="1" i="0">
                          <a:solidFill>
                            <a:srgbClr val="5C0000"/>
                          </a:solidFill>
                          <a:latin typeface="Calibri"/>
                        </a:rPr>
                        <a:t>Mar 2023  FLI 6-month pause letter</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800" b="0" i="0">
                          <a:solidFill>
                            <a:srgbClr val="222222"/>
                          </a:solidFill>
                          <a:latin typeface="Calibri"/>
                        </a:rPr>
                        <a:t>No pause. Labs accelerated. WIRED six-month check: development sped up, including signatories.</a:t>
                      </a:r>
                    </a:p>
                  </a:txBody>
                  <a:tcPr anchor="ctr">
                    <a:marL sz="40000"/>
                    <a:marR sz="40000"/>
                    <a:marT sz="30000"/>
                    <a:marB sz="30000"/>
                    <a:solidFill>
                      <a:srgbClr val="F5ECEC"/>
                    </a:solidFill>
                  </a:tcPr>
                </a:tc>
              </a:tr>
              <a:tr h="624840">
                <a:tc>
                  <a:txBody>
                    <a:bodyPr/>
                    <a:lstStyle/>
                    <a:p>
                      <a:pPr algn="l">
                        <a:spcBef>
                          <a:spcPts val="0"/>
                        </a:spcBef>
                        <a:spcAft>
                          <a:spcPts val="0"/>
                        </a:spcAft>
                        <a:defRPr>
                          <a:solidFill/>
                        </a:defRPr>
                      </a:pPr>
                      <a:r>
                        <a:rPr sz="800" b="1" i="0">
                          <a:solidFill>
                            <a:srgbClr val="5C0000"/>
                          </a:solidFill>
                          <a:latin typeface="Calibri"/>
                        </a:rPr>
                        <a:t>Sep 2023  Anthropic RSP</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800" b="0" i="0">
                          <a:solidFill>
                            <a:srgbClr val="222222"/>
                          </a:solidFill>
                          <a:latin typeface="Calibri"/>
                        </a:rPr>
                        <a:t>Conditional training pause only if safeguards fail. Nov 2024 Amazon/Trainium partnership added $4bn (total $8bn). Financing, not a cut.</a:t>
                      </a:r>
                    </a:p>
                  </a:txBody>
                  <a:tcPr anchor="ctr">
                    <a:marL sz="40000"/>
                    <a:marR sz="40000"/>
                    <a:marT sz="30000"/>
                    <a:marB sz="30000"/>
                    <a:solidFill>
                      <a:srgbClr val="FFFFFF"/>
                    </a:solidFill>
                  </a:tcPr>
                </a:tc>
              </a:tr>
              <a:tr h="624840">
                <a:tc>
                  <a:txBody>
                    <a:bodyPr/>
                    <a:lstStyle/>
                    <a:p>
                      <a:pPr algn="l">
                        <a:spcBef>
                          <a:spcPts val="0"/>
                        </a:spcBef>
                        <a:spcAft>
                          <a:spcPts val="0"/>
                        </a:spcAft>
                        <a:defRPr>
                          <a:solidFill/>
                        </a:defRPr>
                      </a:pPr>
                      <a:r>
                        <a:rPr sz="800" b="1" i="0">
                          <a:solidFill>
                            <a:srgbClr val="5C0000"/>
                          </a:solidFill>
                          <a:latin typeface="Calibri"/>
                        </a:rPr>
                        <a:t>Oct 2023  White House EO 14110</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800" b="0" i="0">
                          <a:solidFill>
                            <a:srgbClr val="222222"/>
                          </a:solidFill>
                          <a:latin typeface="Calibri"/>
                        </a:rPr>
                        <a:t>Reporting and evaluations. Not a capex freeze. Later revoked Jan 2025.</a:t>
                      </a:r>
                    </a:p>
                  </a:txBody>
                  <a:tcPr anchor="ctr">
                    <a:marL sz="40000"/>
                    <a:marR sz="40000"/>
                    <a:marT sz="30000"/>
                    <a:marB sz="30000"/>
                    <a:solidFill>
                      <a:srgbClr val="F5ECEC"/>
                    </a:solidFill>
                  </a:tcPr>
                </a:tc>
              </a:tr>
              <a:tr h="624840">
                <a:tc>
                  <a:txBody>
                    <a:bodyPr/>
                    <a:lstStyle/>
                    <a:p>
                      <a:pPr algn="l">
                        <a:spcBef>
                          <a:spcPts val="0"/>
                        </a:spcBef>
                        <a:spcAft>
                          <a:spcPts val="0"/>
                        </a:spcAft>
                        <a:defRPr>
                          <a:solidFill/>
                        </a:defRPr>
                      </a:pPr>
                      <a:r>
                        <a:rPr sz="800" b="1" i="0">
                          <a:solidFill>
                            <a:srgbClr val="5C0000"/>
                          </a:solidFill>
                          <a:latin typeface="Calibri"/>
                        </a:rPr>
                        <a:t>Nov 2023  Bletchley Declaration</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800" b="0" i="0">
                          <a:solidFill>
                            <a:srgbClr val="222222"/>
                          </a:solidFill>
                          <a:latin typeface="Calibri"/>
                        </a:rPr>
                        <a:t>MSFT cash PP&amp;E $28.1bn FY23 → $44.5bn FY24 (+58%). Window overlaps the summit.</a:t>
                      </a:r>
                    </a:p>
                  </a:txBody>
                  <a:tcPr anchor="ctr">
                    <a:marL sz="40000"/>
                    <a:marR sz="40000"/>
                    <a:marT sz="30000"/>
                    <a:marB sz="30000"/>
                    <a:solidFill>
                      <a:srgbClr val="FFFFFF"/>
                    </a:solidFill>
                  </a:tcPr>
                </a:tc>
              </a:tr>
              <a:tr h="624840">
                <a:tc>
                  <a:txBody>
                    <a:bodyPr/>
                    <a:lstStyle/>
                    <a:p>
                      <a:pPr algn="l">
                        <a:spcBef>
                          <a:spcPts val="0"/>
                        </a:spcBef>
                        <a:spcAft>
                          <a:spcPts val="0"/>
                        </a:spcAft>
                        <a:defRPr>
                          <a:solidFill/>
                        </a:defRPr>
                      </a:pPr>
                      <a:r>
                        <a:rPr sz="800" b="1" i="0">
                          <a:solidFill>
                            <a:srgbClr val="5C0000"/>
                          </a:solidFill>
                          <a:latin typeface="Calibri"/>
                        </a:rPr>
                        <a:t>May 2024  Seoul frontier commitments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800" b="0" i="0">
                          <a:solidFill>
                            <a:srgbClr val="222222"/>
                          </a:solidFill>
                          <a:latin typeface="Calibri"/>
                        </a:rPr>
                        <a:t>MSFT cash PP&amp;E $44.5bn → $64.6bn FY25 (+45%). Extreme-risk language, rising spend.</a:t>
                      </a:r>
                    </a:p>
                  </a:txBody>
                  <a:tcPr anchor="ctr">
                    <a:marL sz="40000"/>
                    <a:marR sz="40000"/>
                    <a:marT sz="30000"/>
                    <a:marB sz="30000"/>
                    <a:solidFill>
                      <a:srgbClr val="F5ECEC"/>
                    </a:solidFill>
                  </a:tcPr>
                </a:tc>
              </a:tr>
              <a:tr h="624840">
                <a:tc>
                  <a:txBody>
                    <a:bodyPr/>
                    <a:lstStyle/>
                    <a:p>
                      <a:pPr algn="l">
                        <a:spcBef>
                          <a:spcPts val="0"/>
                        </a:spcBef>
                        <a:spcAft>
                          <a:spcPts val="0"/>
                        </a:spcAft>
                        <a:defRPr>
                          <a:solidFill/>
                        </a:defRPr>
                      </a:pPr>
                      <a:r>
                        <a:rPr sz="800" b="1" i="0">
                          <a:solidFill>
                            <a:srgbClr val="5C0000"/>
                          </a:solidFill>
                          <a:latin typeface="Calibri"/>
                        </a:rPr>
                        <a:t>Sep 2024  CA SB 1047</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800" b="0" i="0">
                          <a:solidFill>
                            <a:srgbClr val="222222"/>
                          </a:solidFill>
                          <a:latin typeface="Calibri"/>
                        </a:rPr>
                        <a:t>Passed legislature, vetoed. No observed hyperscaler capex stop.</a:t>
                      </a:r>
                    </a:p>
                  </a:txBody>
                  <a:tcPr anchor="ctr">
                    <a:marL sz="40000"/>
                    <a:marR sz="40000"/>
                    <a:marT sz="30000"/>
                    <a:marB sz="30000"/>
                    <a:solidFill>
                      <a:srgbClr val="FFFFFF"/>
                    </a:solidFill>
                  </a:tcPr>
                </a:tc>
              </a:tr>
              <a:tr h="624840">
                <a:tc>
                  <a:txBody>
                    <a:bodyPr/>
                    <a:lstStyle/>
                    <a:p>
                      <a:pPr algn="l">
                        <a:spcBef>
                          <a:spcPts val="0"/>
                        </a:spcBef>
                        <a:spcAft>
                          <a:spcPts val="0"/>
                        </a:spcAft>
                        <a:defRPr>
                          <a:solidFill/>
                        </a:defRPr>
                      </a:pPr>
                      <a:r>
                        <a:rPr sz="800" b="1" i="0">
                          <a:solidFill>
                            <a:srgbClr val="5C0000"/>
                          </a:solidFill>
                          <a:latin typeface="Calibri"/>
                        </a:rPr>
                        <a:t>Feb 2025  Paris AI Action Summit</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800" b="0" i="0">
                          <a:solidFill>
                            <a:srgbClr val="222222"/>
                          </a:solidFill>
                          <a:latin typeface="Calibri"/>
                        </a:rPr>
                        <a:t>Continuation of the Bletchley/Seoul process, not a build halt.</a:t>
                      </a:r>
                    </a:p>
                  </a:txBody>
                  <a:tcPr anchor="ctr">
                    <a:marL sz="40000"/>
                    <a:marR sz="40000"/>
                    <a:marT sz="30000"/>
                    <a:marB sz="30000"/>
                    <a:solidFill>
                      <a:srgbClr val="F5ECEC"/>
                    </a:solidFill>
                  </a:tcPr>
                </a:tc>
              </a:tr>
              <a:tr h="624840">
                <a:tc>
                  <a:txBody>
                    <a:bodyPr/>
                    <a:lstStyle/>
                    <a:p>
                      <a:pPr algn="l">
                        <a:spcBef>
                          <a:spcPts val="0"/>
                        </a:spcBef>
                        <a:spcAft>
                          <a:spcPts val="0"/>
                        </a:spcAft>
                        <a:defRPr>
                          <a:solidFill/>
                        </a:defRPr>
                      </a:pPr>
                      <a:r>
                        <a:rPr sz="800" b="1" i="0">
                          <a:solidFill>
                            <a:srgbClr val="5C0000"/>
                          </a:solidFill>
                          <a:latin typeface="Calibri"/>
                        </a:rPr>
                        <a:t>Sep 2026  Amodei essay</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800" b="0" i="0">
                          <a:solidFill>
                            <a:srgbClr val="222222"/>
                          </a:solidFill>
                          <a:latin typeface="Calibri"/>
                        </a:rPr>
                        <a:t>No hyperscaler capex revision as of 18 Sep. LITE scare reversed in two sessions.</a:t>
                      </a:r>
                    </a:p>
                  </a:txBody>
                  <a:tcPr anchor="ctr">
                    <a:marL sz="40000"/>
                    <a:marR sz="40000"/>
                    <a:marT sz="30000"/>
                    <a:marB sz="30000"/>
                    <a:solidFill>
                      <a:srgbClr val="FFFFFF"/>
                    </a:solidFill>
                  </a:tcPr>
                </a:tc>
              </a:tr>
            </a:tbl>
          </a:graphicData>
        </a:graphic>
      </p:graphicFrame>
      <p:sp>
        <p:nvSpPr>
          <p:cNvPr id="8" name="Rectangle 7"/>
          <p:cNvSpPr/>
          <p:nvPr/>
        </p:nvSpPr>
        <p:spPr>
          <a:xfrm>
            <a:off x="0" y="6656832"/>
            <a:ext cx="12191695" cy="2011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TextBox 8"/>
          <p:cNvSpPr txBox="1"/>
          <p:nvPr/>
        </p:nvSpPr>
        <p:spPr>
          <a:xfrm>
            <a:off x="256032" y="6656832"/>
            <a:ext cx="10515600" cy="201168"/>
          </a:xfrm>
          <a:prstGeom prst="rect">
            <a:avLst/>
          </a:prstGeom>
          <a:noFill/>
          <a:ln>
            <a:solidFill/>
          </a:ln>
        </p:spPr>
        <p:txBody>
          <a:bodyPr wrap="square" anchor="ctr">
            <a:spAutoFit/>
          </a:bodyPr>
          <a:lstStyle/>
          <a:p>
            <a:pPr algn="l">
              <a:spcBef>
                <a:spcPts val="0"/>
              </a:spcBef>
              <a:spcAft>
                <a:spcPts val="200"/>
              </a:spcAft>
              <a:defRPr>
                <a:solidFill/>
              </a:defRPr>
            </a:pPr>
            <a:r>
              <a:rPr sz="800" b="0" i="0">
                <a:solidFill>
                  <a:srgbClr val="FFFFFF"/>
                </a:solidFill>
                <a:latin typeface="Calibri"/>
              </a:rPr>
              <a:t>UChicago AI-Enabled Investing Competition  |  18 September 2026  |  LONG LITE  |  Horizon 3–12 months  |  Sources on slide 10</a:t>
            </a:r>
          </a:p>
        </p:txBody>
      </p:sp>
      <p:sp>
        <p:nvSpPr>
          <p:cNvPr id="10" name="TextBox 9"/>
          <p:cNvSpPr txBox="1"/>
          <p:nvPr/>
        </p:nvSpPr>
        <p:spPr>
          <a:xfrm>
            <a:off x="11155680" y="6656832"/>
            <a:ext cx="822960" cy="201168"/>
          </a:xfrm>
          <a:prstGeom prst="rect">
            <a:avLst/>
          </a:prstGeom>
          <a:noFill/>
          <a:ln>
            <a:solidFill/>
          </a:ln>
        </p:spPr>
        <p:txBody>
          <a:bodyPr wrap="square" anchor="ctr">
            <a:spAutoFit/>
          </a:bodyPr>
          <a:lstStyle/>
          <a:p>
            <a:pPr algn="r">
              <a:spcBef>
                <a:spcPts val="0"/>
              </a:spcBef>
              <a:spcAft>
                <a:spcPts val="200"/>
              </a:spcAft>
              <a:defRPr>
                <a:solidFill/>
              </a:defRPr>
            </a:pPr>
            <a:r>
              <a:rPr sz="900" b="1" i="0">
                <a:solidFill>
                  <a:srgbClr val="FFFFF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292608" y="109728"/>
            <a:ext cx="11612880" cy="475488"/>
          </a:xfrm>
          <a:prstGeom prst="rect">
            <a:avLst/>
          </a:prstGeom>
          <a:noFill/>
          <a:ln>
            <a:solidFill/>
          </a:ln>
        </p:spPr>
        <p:txBody>
          <a:bodyPr wrap="square" anchor="ctr">
            <a:spAutoFit/>
          </a:bodyPr>
          <a:lstStyle/>
          <a:p>
            <a:pPr algn="l">
              <a:spcBef>
                <a:spcPts val="0"/>
              </a:spcBef>
              <a:spcAft>
                <a:spcPts val="200"/>
              </a:spcAft>
              <a:defRPr>
                <a:solidFill/>
              </a:defRPr>
            </a:pPr>
            <a:r>
              <a:rPr sz="2200" b="1" i="0">
                <a:solidFill>
                  <a:srgbClr val="FFFFFF"/>
                </a:solidFill>
                <a:latin typeface="Calibri"/>
              </a:rPr>
              <a:t>Why Lumentum is the vehicle for this specific thesis</a:t>
            </a:r>
          </a:p>
        </p:txBody>
      </p:sp>
      <p:sp>
        <p:nvSpPr>
          <p:cNvPr id="4" name="TextBox 3"/>
          <p:cNvSpPr txBox="1"/>
          <p:nvPr/>
        </p:nvSpPr>
        <p:spPr>
          <a:xfrm>
            <a:off x="292608" y="731520"/>
            <a:ext cx="11612880" cy="347472"/>
          </a:xfrm>
          <a:prstGeom prst="rect">
            <a:avLst/>
          </a:prstGeom>
          <a:noFill/>
          <a:ln>
            <a:solidFill/>
          </a:ln>
        </p:spPr>
        <p:txBody>
          <a:bodyPr wrap="square" anchor="t">
            <a:spAutoFit/>
          </a:bodyPr>
          <a:lstStyle/>
          <a:p>
            <a:pPr algn="l">
              <a:spcBef>
                <a:spcPts val="0"/>
              </a:spcBef>
              <a:spcAft>
                <a:spcPts val="200"/>
              </a:spcAft>
              <a:defRPr>
                <a:solidFill/>
              </a:defRPr>
            </a:pPr>
            <a:r>
              <a:rPr sz="1300" b="1" i="0">
                <a:solidFill>
                  <a:srgbClr val="800000"/>
                </a:solidFill>
                <a:latin typeface="Calibri"/>
              </a:rPr>
              <a:t>If spend continues, own the content lever with visible earnings and a clean balance sheet: LITE, not COHR or FN.</a:t>
            </a:r>
          </a:p>
        </p:txBody>
      </p:sp>
      <p:graphicFrame>
        <p:nvGraphicFramePr>
          <p:cNvPr id="5" name="Table 4"/>
          <p:cNvGraphicFramePr>
            <a:graphicFrameLocks noGrp="1"/>
          </p:cNvGraphicFramePr>
          <p:nvPr/>
        </p:nvGraphicFramePr>
        <p:xfrm>
          <a:off x="256032" y="1078992"/>
          <a:ext cx="11658600" cy="2331720"/>
        </p:xfrm>
        <a:graphic>
          <a:graphicData uri="http://schemas.openxmlformats.org/drawingml/2006/table">
            <a:tbl>
              <a:tblPr firstRow="1" bandRow="1">
                <a:tableStyleId>{5C22544A-7EE6-4342-B048-85BDC9FD1C3A}</a:tableStyleId>
              </a:tblPr>
              <a:tblGrid>
                <a:gridCol w="2468880"/>
                <a:gridCol w="3063240"/>
                <a:gridCol w="3063240"/>
                <a:gridCol w="3063240"/>
              </a:tblGrid>
              <a:tr h="259080">
                <a:tc>
                  <a:txBody>
                    <a:bodyPr/>
                    <a:lstStyle/>
                    <a:p>
                      <a:pPr algn="l">
                        <a:spcBef>
                          <a:spcPts val="0"/>
                        </a:spcBef>
                        <a:spcAft>
                          <a:spcPts val="0"/>
                        </a:spcAft>
                        <a:defRPr>
                          <a:solidFill/>
                        </a:defRPr>
                      </a:pPr>
                      <a:r>
                        <a:rPr sz="1000" b="1" i="0">
                          <a:solidFill>
                            <a:srgbClr val="FFFFFF"/>
                          </a:solidFill>
                          <a:latin typeface="Calibri"/>
                        </a:rPr>
                        <a:t>Screen (FY26 / as of 17 Sep)</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000" b="1" i="0">
                          <a:solidFill>
                            <a:srgbClr val="FFFFFF"/>
                          </a:solidFill>
                          <a:latin typeface="Calibri"/>
                        </a:rPr>
                        <a:t>LITE</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000" b="1" i="0">
                          <a:solidFill>
                            <a:srgbClr val="FFFFFF"/>
                          </a:solidFill>
                          <a:latin typeface="Calibri"/>
                        </a:rPr>
                        <a:t>COHR</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000" b="1" i="0">
                          <a:solidFill>
                            <a:srgbClr val="FFFFFF"/>
                          </a:solidFill>
                          <a:latin typeface="Calibri"/>
                        </a:rPr>
                        <a:t>FN</a:t>
                      </a:r>
                    </a:p>
                  </a:txBody>
                  <a:tcPr anchor="ctr">
                    <a:marL sz="40000"/>
                    <a:marR sz="40000"/>
                    <a:marT sz="30000"/>
                    <a:marB sz="30000"/>
                    <a:solidFill>
                      <a:srgbClr val="800000"/>
                    </a:solidFill>
                  </a:tcPr>
                </a:tc>
              </a:tr>
              <a:tr h="259080">
                <a:tc>
                  <a:txBody>
                    <a:bodyPr/>
                    <a:lstStyle/>
                    <a:p>
                      <a:pPr algn="l">
                        <a:spcBef>
                          <a:spcPts val="0"/>
                        </a:spcBef>
                        <a:spcAft>
                          <a:spcPts val="0"/>
                        </a:spcAft>
                        <a:defRPr>
                          <a:solidFill/>
                        </a:defRPr>
                      </a:pPr>
                      <a:r>
                        <a:rPr sz="1000" b="1" i="0">
                          <a:solidFill>
                            <a:srgbClr val="5C0000"/>
                          </a:solidFill>
                          <a:latin typeface="Calibri"/>
                        </a:rPr>
                        <a:t>Price</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$893.61</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$295.98</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$380.92</a:t>
                      </a:r>
                    </a:p>
                  </a:txBody>
                  <a:tcPr anchor="ctr">
                    <a:marL sz="40000"/>
                    <a:marR sz="40000"/>
                    <a:marT sz="30000"/>
                    <a:marB sz="30000"/>
                    <a:solidFill>
                      <a:srgbClr val="F5ECEC"/>
                    </a:solidFill>
                  </a:tcPr>
                </a:tc>
              </a:tr>
              <a:tr h="259080">
                <a:tc>
                  <a:txBody>
                    <a:bodyPr/>
                    <a:lstStyle/>
                    <a:p>
                      <a:pPr algn="l">
                        <a:spcBef>
                          <a:spcPts val="0"/>
                        </a:spcBef>
                        <a:spcAft>
                          <a:spcPts val="0"/>
                        </a:spcAft>
                        <a:defRPr>
                          <a:solidFill/>
                        </a:defRPr>
                      </a:pPr>
                      <a:r>
                        <a:rPr sz="1000" b="1" i="0">
                          <a:solidFill>
                            <a:srgbClr val="5C0000"/>
                          </a:solidFill>
                          <a:latin typeface="Calibri"/>
                        </a:rPr>
                        <a:t>FY26 revenue</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$3,014m  (+83%)</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$7,118m</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$4,641m</a:t>
                      </a:r>
                    </a:p>
                  </a:txBody>
                  <a:tcPr anchor="ctr">
                    <a:marL sz="40000"/>
                    <a:marR sz="40000"/>
                    <a:marT sz="30000"/>
                    <a:marB sz="30000"/>
                    <a:solidFill>
                      <a:srgbClr val="FFFFFF"/>
                    </a:solidFill>
                  </a:tcPr>
                </a:tc>
              </a:tr>
              <a:tr h="259080">
                <a:tc>
                  <a:txBody>
                    <a:bodyPr/>
                    <a:lstStyle/>
                    <a:p>
                      <a:pPr algn="l">
                        <a:spcBef>
                          <a:spcPts val="0"/>
                        </a:spcBef>
                        <a:spcAft>
                          <a:spcPts val="0"/>
                        </a:spcAft>
                        <a:defRPr>
                          <a:solidFill/>
                        </a:defRPr>
                      </a:pPr>
                      <a:r>
                        <a:rPr sz="1000" b="1" i="0">
                          <a:solidFill>
                            <a:srgbClr val="5C0000"/>
                          </a:solidFill>
                          <a:latin typeface="Calibri"/>
                        </a:rPr>
                        <a:t>FY26 CFO − cash capex</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+$300m</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−$1,023m</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+$4m</a:t>
                      </a:r>
                    </a:p>
                  </a:txBody>
                  <a:tcPr anchor="ctr">
                    <a:marL sz="40000"/>
                    <a:marR sz="40000"/>
                    <a:marT sz="30000"/>
                    <a:marB sz="30000"/>
                    <a:solidFill>
                      <a:srgbClr val="F5ECEC"/>
                    </a:solidFill>
                  </a:tcPr>
                </a:tc>
              </a:tr>
              <a:tr h="259080">
                <a:tc>
                  <a:txBody>
                    <a:bodyPr/>
                    <a:lstStyle/>
                    <a:p>
                      <a:pPr algn="l">
                        <a:spcBef>
                          <a:spcPts val="0"/>
                        </a:spcBef>
                        <a:spcAft>
                          <a:spcPts val="0"/>
                        </a:spcAft>
                        <a:defRPr>
                          <a:solidFill/>
                        </a:defRPr>
                      </a:pPr>
                      <a:r>
                        <a:rPr sz="1000" b="1" i="0">
                          <a:solidFill>
                            <a:srgbClr val="5C0000"/>
                          </a:solidFill>
                          <a:latin typeface="Calibri"/>
                        </a:rPr>
                        <a:t>Net cash / (debt)</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+$1,101m</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−$1,235m</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+$875m</a:t>
                      </a:r>
                    </a:p>
                  </a:txBody>
                  <a:tcPr anchor="ctr">
                    <a:marL sz="40000"/>
                    <a:marR sz="40000"/>
                    <a:marT sz="30000"/>
                    <a:marB sz="30000"/>
                    <a:solidFill>
                      <a:srgbClr val="FFFFFF"/>
                    </a:solidFill>
                  </a:tcPr>
                </a:tc>
              </a:tr>
              <a:tr h="259080">
                <a:tc>
                  <a:txBody>
                    <a:bodyPr/>
                    <a:lstStyle/>
                    <a:p>
                      <a:pPr algn="l">
                        <a:spcBef>
                          <a:spcPts val="0"/>
                        </a:spcBef>
                        <a:spcAft>
                          <a:spcPts val="0"/>
                        </a:spcAft>
                        <a:defRPr>
                          <a:solidFill/>
                        </a:defRPr>
                      </a:pPr>
                      <a:r>
                        <a:rPr sz="1000" b="1" i="0">
                          <a:solidFill>
                            <a:srgbClr val="5C0000"/>
                          </a:solidFill>
                          <a:latin typeface="Calibri"/>
                        </a:rPr>
                        <a:t>FY27 adj. EPS consensus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$21.67</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$9.42</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$18.16</a:t>
                      </a:r>
                    </a:p>
                  </a:txBody>
                  <a:tcPr anchor="ctr">
                    <a:marL sz="40000"/>
                    <a:marR sz="40000"/>
                    <a:marT sz="30000"/>
                    <a:marB sz="30000"/>
                    <a:solidFill>
                      <a:srgbClr val="F5ECEC"/>
                    </a:solidFill>
                  </a:tcPr>
                </a:tc>
              </a:tr>
              <a:tr h="259080">
                <a:tc>
                  <a:txBody>
                    <a:bodyPr/>
                    <a:lstStyle/>
                    <a:p>
                      <a:pPr algn="l">
                        <a:spcBef>
                          <a:spcPts val="0"/>
                        </a:spcBef>
                        <a:spcAft>
                          <a:spcPts val="0"/>
                        </a:spcAft>
                        <a:defRPr>
                          <a:solidFill/>
                        </a:defRPr>
                      </a:pPr>
                      <a:r>
                        <a:rPr sz="1000" b="1" i="0">
                          <a:solidFill>
                            <a:srgbClr val="5C0000"/>
                          </a:solidFill>
                          <a:latin typeface="Calibri"/>
                        </a:rPr>
                        <a:t>P / FY27 EPS</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41.2x</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31.4x</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21.0x</a:t>
                      </a:r>
                    </a:p>
                  </a:txBody>
                  <a:tcPr anchor="ctr">
                    <a:marL sz="40000"/>
                    <a:marR sz="40000"/>
                    <a:marT sz="30000"/>
                    <a:marB sz="30000"/>
                    <a:solidFill>
                      <a:srgbClr val="FFFFFF"/>
                    </a:solidFill>
                  </a:tcPr>
                </a:tc>
              </a:tr>
              <a:tr h="259080">
                <a:tc>
                  <a:txBody>
                    <a:bodyPr/>
                    <a:lstStyle/>
                    <a:p>
                      <a:pPr algn="l">
                        <a:spcBef>
                          <a:spcPts val="0"/>
                        </a:spcBef>
                        <a:spcAft>
                          <a:spcPts val="0"/>
                        </a:spcAft>
                        <a:defRPr>
                          <a:solidFill/>
                        </a:defRPr>
                      </a:pPr>
                      <a:r>
                        <a:rPr sz="1000" b="1" i="0">
                          <a:solidFill>
                            <a:srgbClr val="5C0000"/>
                          </a:solidFill>
                          <a:latin typeface="Calibri"/>
                        </a:rPr>
                        <a:t>What you actually own</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Lasers, modules, OCS inside the rack</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Broad materials / lasers; capex sponge</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EMS / assembly; thin FCF</a:t>
                      </a:r>
                    </a:p>
                  </a:txBody>
                  <a:tcPr anchor="ctr">
                    <a:marL sz="40000"/>
                    <a:marR sz="40000"/>
                    <a:marT sz="30000"/>
                    <a:marB sz="30000"/>
                    <a:solidFill>
                      <a:srgbClr val="F5ECEC"/>
                    </a:solidFill>
                  </a:tcPr>
                </a:tc>
              </a:tr>
              <a:tr h="259080">
                <a:tc>
                  <a:txBody>
                    <a:bodyPr/>
                    <a:lstStyle/>
                    <a:p>
                      <a:pPr algn="l">
                        <a:spcBef>
                          <a:spcPts val="0"/>
                        </a:spcBef>
                        <a:spcAft>
                          <a:spcPts val="0"/>
                        </a:spcAft>
                        <a:defRPr>
                          <a:solidFill/>
                        </a:defRPr>
                      </a:pPr>
                      <a:r>
                        <a:rPr sz="1000" b="1" i="0">
                          <a:solidFill>
                            <a:srgbClr val="5C0000"/>
                          </a:solidFill>
                          <a:latin typeface="Calibri"/>
                        </a:rPr>
                        <a:t>NVIDIA (Mar 2026)</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Purchase commitment + $2bn</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Partnership (no public $2bn)</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Not the content owner</a:t>
                      </a:r>
                    </a:p>
                  </a:txBody>
                  <a:tcPr anchor="ctr">
                    <a:marL sz="40000"/>
                    <a:marR sz="40000"/>
                    <a:marT sz="30000"/>
                    <a:marB sz="30000"/>
                    <a:solidFill>
                      <a:srgbClr val="FFFFFF"/>
                    </a:solidFill>
                  </a:tcPr>
                </a:tc>
              </a:tr>
            </a:tbl>
          </a:graphicData>
        </a:graphic>
      </p:graphicFrame>
      <p:pic>
        <p:nvPicPr>
          <p:cNvPr id="6" name="Picture 5" descr="peer_fcf.png"/>
          <p:cNvPicPr>
            <a:picLocks noChangeAspect="1"/>
          </p:cNvPicPr>
          <p:nvPr/>
        </p:nvPicPr>
        <p:blipFill>
          <a:blip r:embed="rId2"/>
          <a:stretch>
            <a:fillRect/>
          </a:stretch>
        </p:blipFill>
        <p:spPr>
          <a:xfrm>
            <a:off x="256032" y="3566160"/>
            <a:ext cx="5760720" cy="2788920"/>
          </a:xfrm>
          <a:prstGeom prst="rect">
            <a:avLst/>
          </a:prstGeom>
          <a:ln>
            <a:solidFill/>
          </a:ln>
        </p:spPr>
      </p:pic>
      <p:sp>
        <p:nvSpPr>
          <p:cNvPr id="7" name="TextBox 6"/>
          <p:cNvSpPr txBox="1"/>
          <p:nvPr/>
        </p:nvSpPr>
        <p:spPr>
          <a:xfrm>
            <a:off x="6126480" y="3566160"/>
            <a:ext cx="5760720" cy="2788920"/>
          </a:xfrm>
          <a:prstGeom prst="rect">
            <a:avLst/>
          </a:prstGeom>
          <a:noFill/>
          <a:ln>
            <a:solidFill/>
          </a:ln>
        </p:spPr>
        <p:txBody>
          <a:bodyPr wrap="square" anchor="t">
            <a:spAutoFit/>
          </a:bodyPr>
          <a:lstStyle/>
          <a:p>
            <a:pPr algn="l">
              <a:spcBef>
                <a:spcPts val="0"/>
              </a:spcBef>
              <a:spcAft>
                <a:spcPts val="200"/>
              </a:spcAft>
              <a:defRPr>
                <a:solidFill/>
              </a:defRPr>
            </a:pPr>
            <a:r>
              <a:rPr sz="1300" b="1" i="0">
                <a:solidFill>
                  <a:srgbClr val="800000"/>
                </a:solidFill>
                <a:latin typeface="Calibri"/>
              </a:rPr>
              <a:t>Why this thesis is not “own any AI supplier.”</a:t>
            </a:r>
          </a:p>
          <a:p>
            <a:pPr algn="l">
              <a:spcBef>
                <a:spcPts val="0"/>
              </a:spcBef>
              <a:spcAft>
                <a:spcPts val="200"/>
              </a:spcAft>
              <a:defRPr>
                <a:solidFill/>
              </a:defRPr>
            </a:pPr>
            <a:r>
              <a:rPr sz="1200" b="0" i="0">
                <a:solidFill>
                  <a:srgbClr val="222222"/>
                </a:solidFill>
                <a:latin typeface="Calibri"/>
              </a:rPr>
              <a:t>FN converts almost none of the cycle to free cash after capex and is one step removed from in-rack optics (CPO/ELS/NPO). A continued-spend world still leaves FN as a capacity contractor with Pillar Two tax and rising capex in the 10-K.</a:t>
            </a:r>
          </a:p>
          <a:p>
            <a:pPr algn="l">
              <a:spcBef>
                <a:spcPts val="0"/>
              </a:spcBef>
              <a:spcAft>
                <a:spcPts val="200"/>
              </a:spcAft>
              <a:defRPr>
                <a:solidFill/>
              </a:defRPr>
            </a:pPr>
            <a:r>
              <a:rPr sz="1200" b="0" i="0">
                <a:solidFill>
                  <a:srgbClr val="222222"/>
                </a:solidFill>
                <a:latin typeface="Calibri"/>
              </a:rPr>
              <a:t>COHR is larger but funded the cycle with &gt;$1bn of negative cash conversion. If spend continues, they still need the capital markets. If spend pauses, they are the most exposed.</a:t>
            </a:r>
          </a:p>
          <a:p>
            <a:pPr algn="l">
              <a:spcBef>
                <a:spcPts val="0"/>
              </a:spcBef>
              <a:spcAft>
                <a:spcPts val="200"/>
              </a:spcAft>
              <a:defRPr>
                <a:solidFill/>
              </a:defRPr>
            </a:pPr>
            <a:r>
              <a:rPr sz="1200" b="0" i="0">
                <a:solidFill>
                  <a:srgbClr val="222222"/>
                </a:solidFill>
                <a:latin typeface="Calibri"/>
              </a:rPr>
              <a:t>LITE already ran through the target model “more than a quarter ahead of schedule” (Hurlston, 11 Aug). Q4 components $649m / systems $357m. Ultra-high-power CPO lasers, first ELS order, NPO engagements, 1.6T, OCS — that is incremental content per cluster, which is exactly what survives if training pacing is real but inference and networking are not cut.</a:t>
            </a:r>
          </a:p>
          <a:p>
            <a:pPr algn="l">
              <a:spcBef>
                <a:spcPts val="0"/>
              </a:spcBef>
              <a:spcAft>
                <a:spcPts val="200"/>
              </a:spcAft>
              <a:defRPr>
                <a:solidFill/>
              </a:defRPr>
            </a:pPr>
            <a:r>
              <a:rPr sz="1200" b="1" i="0">
                <a:solidFill>
                  <a:srgbClr val="5C0000"/>
                </a:solidFill>
                <a:latin typeface="Calibri"/>
              </a:rPr>
              <a:t>We are paying 41x FY27 EPS for that. The 12-month trade is 30x FY28 $33.42, i.e. earnings growth, not multiple expansion.</a:t>
            </a:r>
          </a:p>
        </p:txBody>
      </p:sp>
      <p:sp>
        <p:nvSpPr>
          <p:cNvPr id="8" name="Rectangle 7"/>
          <p:cNvSpPr/>
          <p:nvPr/>
        </p:nvSpPr>
        <p:spPr>
          <a:xfrm>
            <a:off x="0" y="6656832"/>
            <a:ext cx="12191695" cy="2011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TextBox 8"/>
          <p:cNvSpPr txBox="1"/>
          <p:nvPr/>
        </p:nvSpPr>
        <p:spPr>
          <a:xfrm>
            <a:off x="256032" y="6656832"/>
            <a:ext cx="10515600" cy="201168"/>
          </a:xfrm>
          <a:prstGeom prst="rect">
            <a:avLst/>
          </a:prstGeom>
          <a:noFill/>
          <a:ln>
            <a:solidFill/>
          </a:ln>
        </p:spPr>
        <p:txBody>
          <a:bodyPr wrap="square" anchor="ctr">
            <a:spAutoFit/>
          </a:bodyPr>
          <a:lstStyle/>
          <a:p>
            <a:pPr algn="l">
              <a:spcBef>
                <a:spcPts val="0"/>
              </a:spcBef>
              <a:spcAft>
                <a:spcPts val="200"/>
              </a:spcAft>
              <a:defRPr>
                <a:solidFill/>
              </a:defRPr>
            </a:pPr>
            <a:r>
              <a:rPr sz="800" b="0" i="0">
                <a:solidFill>
                  <a:srgbClr val="FFFFFF"/>
                </a:solidFill>
                <a:latin typeface="Calibri"/>
              </a:rPr>
              <a:t>UChicago AI-Enabled Investing Competition  |  18 September 2026  |  LONG LITE  |  Horizon 3–12 months  |  Sources on slide 10</a:t>
            </a:r>
          </a:p>
        </p:txBody>
      </p:sp>
      <p:sp>
        <p:nvSpPr>
          <p:cNvPr id="10" name="TextBox 9"/>
          <p:cNvSpPr txBox="1"/>
          <p:nvPr/>
        </p:nvSpPr>
        <p:spPr>
          <a:xfrm>
            <a:off x="11155680" y="6656832"/>
            <a:ext cx="822960" cy="201168"/>
          </a:xfrm>
          <a:prstGeom prst="rect">
            <a:avLst/>
          </a:prstGeom>
          <a:noFill/>
          <a:ln>
            <a:solidFill/>
          </a:ln>
        </p:spPr>
        <p:txBody>
          <a:bodyPr wrap="square" anchor="ctr">
            <a:spAutoFit/>
          </a:bodyPr>
          <a:lstStyle/>
          <a:p>
            <a:pPr algn="r">
              <a:spcBef>
                <a:spcPts val="0"/>
              </a:spcBef>
              <a:spcAft>
                <a:spcPts val="200"/>
              </a:spcAft>
              <a:defRPr>
                <a:solidFill/>
              </a:defRPr>
            </a:pPr>
            <a:r>
              <a:rPr sz="900" b="1" i="0">
                <a:solidFill>
                  <a:srgbClr val="FFFFF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292608" y="109728"/>
            <a:ext cx="11612880" cy="475488"/>
          </a:xfrm>
          <a:prstGeom prst="rect">
            <a:avLst/>
          </a:prstGeom>
          <a:noFill/>
          <a:ln>
            <a:solidFill/>
          </a:ln>
        </p:spPr>
        <p:txBody>
          <a:bodyPr wrap="square" anchor="ctr">
            <a:spAutoFit/>
          </a:bodyPr>
          <a:lstStyle/>
          <a:p>
            <a:pPr algn="l">
              <a:spcBef>
                <a:spcPts val="0"/>
              </a:spcBef>
              <a:spcAft>
                <a:spcPts val="200"/>
              </a:spcAft>
              <a:defRPr>
                <a:solidFill/>
              </a:defRPr>
            </a:pPr>
            <a:r>
              <a:rPr sz="2200" b="1" i="0">
                <a:solidFill>
                  <a:srgbClr val="FFFFFF"/>
                </a:solidFill>
                <a:latin typeface="Calibri"/>
              </a:rPr>
              <a:t>Financials — the ramp is already in the reported numbers</a:t>
            </a:r>
          </a:p>
        </p:txBody>
      </p:sp>
      <p:graphicFrame>
        <p:nvGraphicFramePr>
          <p:cNvPr id="4" name="Table 3"/>
          <p:cNvGraphicFramePr>
            <a:graphicFrameLocks noGrp="1"/>
          </p:cNvGraphicFramePr>
          <p:nvPr/>
        </p:nvGraphicFramePr>
        <p:xfrm>
          <a:off x="256032" y="777240"/>
          <a:ext cx="11658600" cy="2606040"/>
        </p:xfrm>
        <a:graphic>
          <a:graphicData uri="http://schemas.openxmlformats.org/drawingml/2006/table">
            <a:tbl>
              <a:tblPr firstRow="1" bandRow="1">
                <a:tableStyleId>{5C22544A-7EE6-4342-B048-85BDC9FD1C3A}</a:tableStyleId>
              </a:tblPr>
              <a:tblGrid>
                <a:gridCol w="2468880"/>
                <a:gridCol w="1828800"/>
                <a:gridCol w="2148840"/>
                <a:gridCol w="2468880"/>
                <a:gridCol w="2743200"/>
              </a:tblGrid>
              <a:tr h="289560">
                <a:tc>
                  <a:txBody>
                    <a:bodyPr/>
                    <a:lstStyle/>
                    <a:p>
                      <a:pPr algn="l">
                        <a:spcBef>
                          <a:spcPts val="0"/>
                        </a:spcBef>
                        <a:spcAft>
                          <a:spcPts val="0"/>
                        </a:spcAft>
                        <a:defRPr>
                          <a:solidFill/>
                        </a:defRPr>
                      </a:pPr>
                      <a:r>
                        <a:rPr sz="1100" b="1" i="0">
                          <a:solidFill>
                            <a:srgbClr val="FFFFFF"/>
                          </a:solidFill>
                          <a:latin typeface="Calibri"/>
                        </a:rPr>
                        <a:t>Reported (USD m, except EPS)</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FY25</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FY26</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Q4 FY26</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Q1 FY27 guide</a:t>
                      </a:r>
                    </a:p>
                  </a:txBody>
                  <a:tcPr anchor="ctr">
                    <a:marL sz="40000"/>
                    <a:marR sz="40000"/>
                    <a:marT sz="30000"/>
                    <a:marB sz="30000"/>
                    <a:solidFill>
                      <a:srgbClr val="800000"/>
                    </a:solidFill>
                  </a:tcPr>
                </a:tc>
              </a:tr>
              <a:tr h="289560">
                <a:tc>
                  <a:txBody>
                    <a:bodyPr/>
                    <a:lstStyle/>
                    <a:p>
                      <a:pPr algn="l">
                        <a:spcBef>
                          <a:spcPts val="0"/>
                        </a:spcBef>
                        <a:spcAft>
                          <a:spcPts val="0"/>
                        </a:spcAft>
                        <a:defRPr>
                          <a:solidFill/>
                        </a:defRPr>
                      </a:pPr>
                      <a:r>
                        <a:rPr sz="1100" b="1" i="0">
                          <a:solidFill>
                            <a:srgbClr val="5C0000"/>
                          </a:solidFill>
                          <a:latin typeface="Calibri"/>
                        </a:rPr>
                        <a:t>Revenue</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1,645</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3,014</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1,006</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1,225–1,275</a:t>
                      </a:r>
                    </a:p>
                  </a:txBody>
                  <a:tcPr anchor="ctr">
                    <a:marL sz="40000"/>
                    <a:marR sz="40000"/>
                    <a:marT sz="30000"/>
                    <a:marB sz="30000"/>
                    <a:solidFill>
                      <a:srgbClr val="F5ECEC"/>
                    </a:solidFill>
                  </a:tcPr>
                </a:tc>
              </a:tr>
              <a:tr h="289560">
                <a:tc>
                  <a:txBody>
                    <a:bodyPr/>
                    <a:lstStyle/>
                    <a:p>
                      <a:pPr algn="l">
                        <a:spcBef>
                          <a:spcPts val="0"/>
                        </a:spcBef>
                        <a:spcAft>
                          <a:spcPts val="0"/>
                        </a:spcAft>
                        <a:defRPr>
                          <a:solidFill/>
                        </a:defRPr>
                      </a:pPr>
                      <a:r>
                        <a:rPr sz="1100" b="1" i="0">
                          <a:solidFill>
                            <a:srgbClr val="5C0000"/>
                          </a:solidFill>
                          <a:latin typeface="Calibri"/>
                        </a:rPr>
                        <a:t>Components / Systems</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1,116 / 529</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2,006 / 1,008</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649 / 357</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Not guided by SKU</a:t>
                      </a:r>
                    </a:p>
                  </a:txBody>
                  <a:tcPr anchor="ctr">
                    <a:marL sz="40000"/>
                    <a:marR sz="40000"/>
                    <a:marT sz="30000"/>
                    <a:marB sz="30000"/>
                    <a:solidFill>
                      <a:srgbClr val="FFFFFF"/>
                    </a:solidFill>
                  </a:tcPr>
                </a:tc>
              </a:tr>
              <a:tr h="289560">
                <a:tc>
                  <a:txBody>
                    <a:bodyPr/>
                    <a:lstStyle/>
                    <a:p>
                      <a:pPr algn="l">
                        <a:spcBef>
                          <a:spcPts val="0"/>
                        </a:spcBef>
                        <a:spcAft>
                          <a:spcPts val="0"/>
                        </a:spcAft>
                        <a:defRPr>
                          <a:solidFill/>
                        </a:defRPr>
                      </a:pPr>
                      <a:r>
                        <a:rPr sz="1100" b="1" i="0">
                          <a:solidFill>
                            <a:srgbClr val="5C0000"/>
                          </a:solidFill>
                          <a:latin typeface="Calibri"/>
                        </a:rPr>
                        <a:t>Adj. gross margin</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34.7%</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46.0%</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50.4%</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a:t>
                      </a:r>
                    </a:p>
                  </a:txBody>
                  <a:tcPr anchor="ctr">
                    <a:marL sz="40000"/>
                    <a:marR sz="40000"/>
                    <a:marT sz="30000"/>
                    <a:marB sz="30000"/>
                    <a:solidFill>
                      <a:srgbClr val="F5ECEC"/>
                    </a:solidFill>
                  </a:tcPr>
                </a:tc>
              </a:tr>
              <a:tr h="289560">
                <a:tc>
                  <a:txBody>
                    <a:bodyPr/>
                    <a:lstStyle/>
                    <a:p>
                      <a:pPr algn="l">
                        <a:spcBef>
                          <a:spcPts val="0"/>
                        </a:spcBef>
                        <a:spcAft>
                          <a:spcPts val="0"/>
                        </a:spcAft>
                        <a:defRPr>
                          <a:solidFill/>
                        </a:defRPr>
                      </a:pPr>
                      <a:r>
                        <a:rPr sz="1100" b="1" i="0">
                          <a:solidFill>
                            <a:srgbClr val="5C0000"/>
                          </a:solidFill>
                          <a:latin typeface="Calibri"/>
                        </a:rPr>
                        <a:t>Adj. operating margin</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9.7%</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29.8%</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36.6%</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39.5–40.5%</a:t>
                      </a:r>
                    </a:p>
                  </a:txBody>
                  <a:tcPr anchor="ctr">
                    <a:marL sz="40000"/>
                    <a:marR sz="40000"/>
                    <a:marT sz="30000"/>
                    <a:marB sz="30000"/>
                    <a:solidFill>
                      <a:srgbClr val="FFFFFF"/>
                    </a:solidFill>
                  </a:tcPr>
                </a:tc>
              </a:tr>
              <a:tr h="289560">
                <a:tc>
                  <a:txBody>
                    <a:bodyPr/>
                    <a:lstStyle/>
                    <a:p>
                      <a:pPr algn="l">
                        <a:spcBef>
                          <a:spcPts val="0"/>
                        </a:spcBef>
                        <a:spcAft>
                          <a:spcPts val="0"/>
                        </a:spcAft>
                        <a:defRPr>
                          <a:solidFill/>
                        </a:defRPr>
                      </a:pPr>
                      <a:r>
                        <a:rPr sz="1100" b="1" i="0">
                          <a:solidFill>
                            <a:srgbClr val="5C0000"/>
                          </a:solidFill>
                          <a:latin typeface="Calibri"/>
                        </a:rPr>
                        <a:t>Adj. EPS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$2.06</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$8.67</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$3.23</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$4.05–$4.35</a:t>
                      </a:r>
                    </a:p>
                  </a:txBody>
                  <a:tcPr anchor="ctr">
                    <a:marL sz="40000"/>
                    <a:marR sz="40000"/>
                    <a:marT sz="30000"/>
                    <a:marB sz="30000"/>
                    <a:solidFill>
                      <a:srgbClr val="F5ECEC"/>
                    </a:solidFill>
                  </a:tcPr>
                </a:tc>
              </a:tr>
              <a:tr h="289560">
                <a:tc>
                  <a:txBody>
                    <a:bodyPr/>
                    <a:lstStyle/>
                    <a:p>
                      <a:pPr algn="l">
                        <a:spcBef>
                          <a:spcPts val="0"/>
                        </a:spcBef>
                        <a:spcAft>
                          <a:spcPts val="0"/>
                        </a:spcAft>
                        <a:defRPr>
                          <a:solidFill/>
                        </a:defRPr>
                      </a:pPr>
                      <a:r>
                        <a:rPr sz="1100" b="1" i="0">
                          <a:solidFill>
                            <a:srgbClr val="5C0000"/>
                          </a:solidFill>
                          <a:latin typeface="Calibri"/>
                        </a:rPr>
                        <a:t>CFO / cash capex</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126 / 231</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751 / 451</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a:t>
                      </a:r>
                    </a:p>
                  </a:txBody>
                  <a:tcPr anchor="ctr">
                    <a:marL sz="40000"/>
                    <a:marR sz="40000"/>
                    <a:marT sz="30000"/>
                    <a:marB sz="30000"/>
                    <a:solidFill>
                      <a:srgbClr val="FFFFFF"/>
                    </a:solidFill>
                  </a:tcPr>
                </a:tc>
              </a:tr>
              <a:tr h="289560">
                <a:tc>
                  <a:txBody>
                    <a:bodyPr/>
                    <a:lstStyle/>
                    <a:p>
                      <a:pPr algn="l">
                        <a:spcBef>
                          <a:spcPts val="0"/>
                        </a:spcBef>
                        <a:spcAft>
                          <a:spcPts val="0"/>
                        </a:spcAft>
                        <a:defRPr>
                          <a:solidFill/>
                        </a:defRPr>
                      </a:pPr>
                      <a:r>
                        <a:rPr sz="1100" b="1" i="0">
                          <a:solidFill>
                            <a:srgbClr val="5C0000"/>
                          </a:solidFill>
                          <a:latin typeface="Calibri"/>
                        </a:rPr>
                        <a:t>Cash &amp; ST investments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877</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2,738</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2,738</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a:t>
                      </a:r>
                    </a:p>
                  </a:txBody>
                  <a:tcPr anchor="ctr">
                    <a:marL sz="40000"/>
                    <a:marR sz="40000"/>
                    <a:marT sz="30000"/>
                    <a:marB sz="30000"/>
                    <a:solidFill>
                      <a:srgbClr val="F5ECEC"/>
                    </a:solidFill>
                  </a:tcPr>
                </a:tc>
              </a:tr>
              <a:tr h="289560">
                <a:tc>
                  <a:txBody>
                    <a:bodyPr/>
                    <a:lstStyle/>
                    <a:p>
                      <a:pPr algn="l">
                        <a:spcBef>
                          <a:spcPts val="0"/>
                        </a:spcBef>
                        <a:spcAft>
                          <a:spcPts val="0"/>
                        </a:spcAft>
                        <a:defRPr>
                          <a:solidFill/>
                        </a:defRPr>
                      </a:pPr>
                      <a:r>
                        <a:rPr sz="1100" b="1" i="0">
                          <a:solidFill>
                            <a:srgbClr val="5C0000"/>
                          </a:solidFill>
                          <a:latin typeface="Calibri"/>
                        </a:rPr>
                        <a:t>Debt carrying value</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2,573</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1,637</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1,637</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a:t>
                      </a:r>
                    </a:p>
                  </a:txBody>
                  <a:tcPr anchor="ctr">
                    <a:marL sz="40000"/>
                    <a:marR sz="40000"/>
                    <a:marT sz="30000"/>
                    <a:marB sz="30000"/>
                    <a:solidFill>
                      <a:srgbClr val="FFFFFF"/>
                    </a:solidFill>
                  </a:tcPr>
                </a:tc>
              </a:tr>
            </a:tbl>
          </a:graphicData>
        </a:graphic>
      </p:graphicFrame>
      <p:graphicFrame>
        <p:nvGraphicFramePr>
          <p:cNvPr id="5" name="Table 4"/>
          <p:cNvGraphicFramePr>
            <a:graphicFrameLocks noGrp="1"/>
          </p:cNvGraphicFramePr>
          <p:nvPr/>
        </p:nvGraphicFramePr>
        <p:xfrm>
          <a:off x="256032" y="3493008"/>
          <a:ext cx="11658600" cy="2880360"/>
        </p:xfrm>
        <a:graphic>
          <a:graphicData uri="http://schemas.openxmlformats.org/drawingml/2006/table">
            <a:tbl>
              <a:tblPr firstRow="1" bandRow="1">
                <a:tableStyleId>{5C22544A-7EE6-4342-B048-85BDC9FD1C3A}</a:tableStyleId>
              </a:tblPr>
              <a:tblGrid>
                <a:gridCol w="2148840"/>
                <a:gridCol w="1581912"/>
                <a:gridCol w="1581912"/>
                <a:gridCol w="1581912"/>
                <a:gridCol w="1581912"/>
                <a:gridCol w="1581912"/>
                <a:gridCol w="1600200"/>
              </a:tblGrid>
              <a:tr h="411480">
                <a:tc>
                  <a:txBody>
                    <a:bodyPr/>
                    <a:lstStyle/>
                    <a:p>
                      <a:pPr algn="l">
                        <a:spcBef>
                          <a:spcPts val="0"/>
                        </a:spcBef>
                        <a:spcAft>
                          <a:spcPts val="0"/>
                        </a:spcAft>
                        <a:defRPr>
                          <a:solidFill/>
                        </a:defRPr>
                      </a:pPr>
                      <a:r>
                        <a:rPr sz="1100" b="1" i="0">
                          <a:solidFill>
                            <a:srgbClr val="FFFFFF"/>
                          </a:solidFill>
                          <a:latin typeface="Calibri"/>
                        </a:rPr>
                        <a:t>Base model (ours, not consensus)</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Q1:27</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Q2:27</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Q3:27</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Q4:27</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FY27</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FY28</a:t>
                      </a:r>
                    </a:p>
                  </a:txBody>
                  <a:tcPr anchor="ctr">
                    <a:marL sz="40000"/>
                    <a:marR sz="40000"/>
                    <a:marT sz="30000"/>
                    <a:marB sz="30000"/>
                    <a:solidFill>
                      <a:srgbClr val="800000"/>
                    </a:solidFill>
                  </a:tcPr>
                </a:tc>
              </a:tr>
              <a:tr h="411480">
                <a:tc>
                  <a:txBody>
                    <a:bodyPr/>
                    <a:lstStyle/>
                    <a:p>
                      <a:pPr algn="l">
                        <a:spcBef>
                          <a:spcPts val="0"/>
                        </a:spcBef>
                        <a:spcAft>
                          <a:spcPts val="0"/>
                        </a:spcAft>
                        <a:defRPr>
                          <a:solidFill/>
                        </a:defRPr>
                      </a:pPr>
                      <a:r>
                        <a:rPr sz="1100" b="1" i="0">
                          <a:solidFill>
                            <a:srgbClr val="5C0000"/>
                          </a:solidFill>
                          <a:latin typeface="Calibri"/>
                        </a:rPr>
                        <a:t>Revenue ($m)</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1,250</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1,420</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1,620</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1,810</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6,101</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8,961</a:t>
                      </a:r>
                    </a:p>
                  </a:txBody>
                  <a:tcPr anchor="ctr">
                    <a:marL sz="40000"/>
                    <a:marR sz="40000"/>
                    <a:marT sz="30000"/>
                    <a:marB sz="30000"/>
                    <a:solidFill>
                      <a:srgbClr val="F5ECEC"/>
                    </a:solidFill>
                  </a:tcPr>
                </a:tc>
              </a:tr>
              <a:tr h="411480">
                <a:tc>
                  <a:txBody>
                    <a:bodyPr/>
                    <a:lstStyle/>
                    <a:p>
                      <a:pPr algn="l">
                        <a:spcBef>
                          <a:spcPts val="0"/>
                        </a:spcBef>
                        <a:spcAft>
                          <a:spcPts val="0"/>
                        </a:spcAft>
                        <a:defRPr>
                          <a:solidFill/>
                        </a:defRPr>
                      </a:pPr>
                      <a:r>
                        <a:rPr sz="1100" b="1" i="0">
                          <a:solidFill>
                            <a:srgbClr val="5C0000"/>
                          </a:solidFill>
                          <a:latin typeface="Calibri"/>
                        </a:rPr>
                        <a:t>Seq. growth</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+24% vs Q4</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+14%</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+14%</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+12%</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+102% YoY</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+47%</a:t>
                      </a:r>
                    </a:p>
                  </a:txBody>
                  <a:tcPr anchor="ctr">
                    <a:marL sz="40000"/>
                    <a:marR sz="40000"/>
                    <a:marT sz="30000"/>
                    <a:marB sz="30000"/>
                    <a:solidFill>
                      <a:srgbClr val="FFFFFF"/>
                    </a:solidFill>
                  </a:tcPr>
                </a:tc>
              </a:tr>
              <a:tr h="411480">
                <a:tc>
                  <a:txBody>
                    <a:bodyPr/>
                    <a:lstStyle/>
                    <a:p>
                      <a:pPr algn="l">
                        <a:spcBef>
                          <a:spcPts val="0"/>
                        </a:spcBef>
                        <a:spcAft>
                          <a:spcPts val="0"/>
                        </a:spcAft>
                        <a:defRPr>
                          <a:solidFill/>
                        </a:defRPr>
                      </a:pPr>
                      <a:r>
                        <a:rPr sz="1100" b="1" i="0">
                          <a:solidFill>
                            <a:srgbClr val="5C0000"/>
                          </a:solidFill>
                          <a:latin typeface="Calibri"/>
                        </a:rPr>
                        <a:t>Adj. OM</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40.0%</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42.2%</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43.8%</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44.7%</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42.9%</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45.8%</a:t>
                      </a:r>
                    </a:p>
                  </a:txBody>
                  <a:tcPr anchor="ctr">
                    <a:marL sz="40000"/>
                    <a:marR sz="40000"/>
                    <a:marT sz="30000"/>
                    <a:marB sz="30000"/>
                    <a:solidFill>
                      <a:srgbClr val="F5ECEC"/>
                    </a:solidFill>
                  </a:tcPr>
                </a:tc>
              </a:tr>
              <a:tr h="411480">
                <a:tc>
                  <a:txBody>
                    <a:bodyPr/>
                    <a:lstStyle/>
                    <a:p>
                      <a:pPr algn="l">
                        <a:spcBef>
                          <a:spcPts val="0"/>
                        </a:spcBef>
                        <a:spcAft>
                          <a:spcPts val="0"/>
                        </a:spcAft>
                        <a:defRPr>
                          <a:solidFill/>
                        </a:defRPr>
                      </a:pPr>
                      <a:r>
                        <a:rPr sz="1100" b="1" i="0">
                          <a:solidFill>
                            <a:srgbClr val="5C0000"/>
                          </a:solidFill>
                          <a:latin typeface="Calibri"/>
                        </a:rPr>
                        <a:t>Adj. EPS</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$4.17</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$5.00</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$5.92</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$6.75</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$21.83</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$33.42</a:t>
                      </a:r>
                    </a:p>
                  </a:txBody>
                  <a:tcPr anchor="ctr">
                    <a:marL sz="40000"/>
                    <a:marR sz="40000"/>
                    <a:marT sz="30000"/>
                    <a:marB sz="30000"/>
                    <a:solidFill>
                      <a:srgbClr val="FFFFFF"/>
                    </a:solidFill>
                  </a:tcPr>
                </a:tc>
              </a:tr>
              <a:tr h="411480">
                <a:tc>
                  <a:txBody>
                    <a:bodyPr/>
                    <a:lstStyle/>
                    <a:p>
                      <a:pPr algn="l">
                        <a:spcBef>
                          <a:spcPts val="0"/>
                        </a:spcBef>
                        <a:spcAft>
                          <a:spcPts val="0"/>
                        </a:spcAft>
                        <a:defRPr>
                          <a:solidFill/>
                        </a:defRPr>
                      </a:pPr>
                      <a:r>
                        <a:rPr sz="1100" b="1" i="0">
                          <a:solidFill>
                            <a:srgbClr val="5C0000"/>
                          </a:solidFill>
                          <a:latin typeface="Calibri"/>
                        </a:rPr>
                        <a:t>Economic uFCF ($m)</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940</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1,716</a:t>
                      </a:r>
                    </a:p>
                  </a:txBody>
                  <a:tcPr anchor="ctr">
                    <a:marL sz="40000"/>
                    <a:marR sz="40000"/>
                    <a:marT sz="30000"/>
                    <a:marB sz="30000"/>
                    <a:solidFill>
                      <a:srgbClr val="F5ECEC"/>
                    </a:solidFill>
                  </a:tcPr>
                </a:tc>
              </a:tr>
              <a:tr h="411480">
                <a:tc>
                  <a:txBody>
                    <a:bodyPr/>
                    <a:lstStyle/>
                    <a:p>
                      <a:pPr algn="l">
                        <a:spcBef>
                          <a:spcPts val="0"/>
                        </a:spcBef>
                        <a:spcAft>
                          <a:spcPts val="0"/>
                        </a:spcAft>
                        <a:defRPr>
                          <a:solidFill/>
                        </a:defRPr>
                      </a:pPr>
                      <a:r>
                        <a:rPr sz="1100" b="1" i="0">
                          <a:solidFill>
                            <a:srgbClr val="5C0000"/>
                          </a:solidFill>
                          <a:latin typeface="Calibri"/>
                        </a:rPr>
                        <a:t>Check vs company</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Inside guide</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EPS vs cons. +0.8%</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30x = $1,003</a:t>
                      </a:r>
                    </a:p>
                  </a:txBody>
                  <a:tcPr anchor="ctr">
                    <a:marL sz="40000"/>
                    <a:marR sz="40000"/>
                    <a:marT sz="30000"/>
                    <a:marB sz="30000"/>
                    <a:solidFill>
                      <a:srgbClr val="FFFFFF"/>
                    </a:solidFill>
                  </a:tcPr>
                </a:tc>
              </a:tr>
            </a:tbl>
          </a:graphicData>
        </a:graphic>
      </p:graphicFrame>
      <p:sp>
        <p:nvSpPr>
          <p:cNvPr id="6" name="Rectangle 5"/>
          <p:cNvSpPr/>
          <p:nvPr/>
        </p:nvSpPr>
        <p:spPr>
          <a:xfrm>
            <a:off x="0" y="6656832"/>
            <a:ext cx="12191695" cy="2011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256032" y="6656832"/>
            <a:ext cx="10515600" cy="201168"/>
          </a:xfrm>
          <a:prstGeom prst="rect">
            <a:avLst/>
          </a:prstGeom>
          <a:noFill/>
          <a:ln>
            <a:solidFill/>
          </a:ln>
        </p:spPr>
        <p:txBody>
          <a:bodyPr wrap="square" anchor="ctr">
            <a:spAutoFit/>
          </a:bodyPr>
          <a:lstStyle/>
          <a:p>
            <a:pPr algn="l">
              <a:spcBef>
                <a:spcPts val="0"/>
              </a:spcBef>
              <a:spcAft>
                <a:spcPts val="200"/>
              </a:spcAft>
              <a:defRPr>
                <a:solidFill/>
              </a:defRPr>
            </a:pPr>
            <a:r>
              <a:rPr sz="800" b="0" i="0">
                <a:solidFill>
                  <a:srgbClr val="FFFFFF"/>
                </a:solidFill>
                <a:latin typeface="Calibri"/>
              </a:rPr>
              <a:t>UChicago AI-Enabled Investing Competition  |  18 September 2026  |  LONG LITE  |  Horizon 3–12 months  |  Sources on slide 10</a:t>
            </a:r>
          </a:p>
        </p:txBody>
      </p:sp>
      <p:sp>
        <p:nvSpPr>
          <p:cNvPr id="8" name="TextBox 7"/>
          <p:cNvSpPr txBox="1"/>
          <p:nvPr/>
        </p:nvSpPr>
        <p:spPr>
          <a:xfrm>
            <a:off x="11155680" y="6656832"/>
            <a:ext cx="822960" cy="201168"/>
          </a:xfrm>
          <a:prstGeom prst="rect">
            <a:avLst/>
          </a:prstGeom>
          <a:noFill/>
          <a:ln>
            <a:solidFill/>
          </a:ln>
        </p:spPr>
        <p:txBody>
          <a:bodyPr wrap="square" anchor="ctr">
            <a:spAutoFit/>
          </a:bodyPr>
          <a:lstStyle/>
          <a:p>
            <a:pPr algn="r">
              <a:spcBef>
                <a:spcPts val="0"/>
              </a:spcBef>
              <a:spcAft>
                <a:spcPts val="200"/>
              </a:spcAft>
              <a:defRPr>
                <a:solidFill/>
              </a:defRPr>
            </a:pPr>
            <a:r>
              <a:rPr sz="900" b="1" i="0">
                <a:solidFill>
                  <a:srgbClr val="FFFFF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292608" y="109728"/>
            <a:ext cx="11612880" cy="475488"/>
          </a:xfrm>
          <a:prstGeom prst="rect">
            <a:avLst/>
          </a:prstGeom>
          <a:noFill/>
          <a:ln>
            <a:solidFill/>
          </a:ln>
        </p:spPr>
        <p:txBody>
          <a:bodyPr wrap="square" anchor="ctr">
            <a:spAutoFit/>
          </a:bodyPr>
          <a:lstStyle/>
          <a:p>
            <a:pPr algn="l">
              <a:spcBef>
                <a:spcPts val="0"/>
              </a:spcBef>
              <a:spcAft>
                <a:spcPts val="200"/>
              </a:spcAft>
              <a:defRPr>
                <a:solidFill/>
              </a:defRPr>
            </a:pPr>
            <a:r>
              <a:rPr sz="2200" b="1" i="0">
                <a:solidFill>
                  <a:srgbClr val="FFFFFF"/>
                </a:solidFill>
                <a:latin typeface="Calibri"/>
              </a:rPr>
              <a:t>Valuation &amp; model assumptions — 12-month P/E is the target; DCF is the cross-check</a:t>
            </a:r>
          </a:p>
        </p:txBody>
      </p:sp>
      <p:sp>
        <p:nvSpPr>
          <p:cNvPr id="4" name="TextBox 3"/>
          <p:cNvSpPr txBox="1"/>
          <p:nvPr/>
        </p:nvSpPr>
        <p:spPr>
          <a:xfrm>
            <a:off x="292608" y="731520"/>
            <a:ext cx="11612880" cy="438912"/>
          </a:xfrm>
          <a:prstGeom prst="rect">
            <a:avLst/>
          </a:prstGeom>
          <a:noFill/>
          <a:ln>
            <a:solidFill/>
          </a:ln>
        </p:spPr>
        <p:txBody>
          <a:bodyPr wrap="square" anchor="t">
            <a:spAutoFit/>
          </a:bodyPr>
          <a:lstStyle/>
          <a:p>
            <a:pPr algn="l">
              <a:spcBef>
                <a:spcPts val="0"/>
              </a:spcBef>
              <a:spcAft>
                <a:spcPts val="200"/>
              </a:spcAft>
              <a:defRPr>
                <a:solidFill/>
              </a:defRPr>
            </a:pPr>
            <a:r>
              <a:rPr sz="1300" b="1" i="0">
                <a:solidFill>
                  <a:srgbClr val="800000"/>
                </a:solidFill>
                <a:latin typeface="Calibri"/>
              </a:rPr>
              <a:t>We do not force the DCF and the trading target to agree. Base 12-month value is 30× FY28 EPS $33.42 = $1,003 (+12%). DCF at fiscal year-end is $545 (−39%). The long is an earnings-growth trade over 3–12 months, not a 10.5% WACC deep-value claim.</a:t>
            </a:r>
          </a:p>
        </p:txBody>
      </p:sp>
      <p:graphicFrame>
        <p:nvGraphicFramePr>
          <p:cNvPr id="5" name="Table 4"/>
          <p:cNvGraphicFramePr>
            <a:graphicFrameLocks noGrp="1"/>
          </p:cNvGraphicFramePr>
          <p:nvPr/>
        </p:nvGraphicFramePr>
        <p:xfrm>
          <a:off x="256032" y="1207008"/>
          <a:ext cx="5852160" cy="3246120"/>
        </p:xfrm>
        <a:graphic>
          <a:graphicData uri="http://schemas.openxmlformats.org/drawingml/2006/table">
            <a:tbl>
              <a:tblPr firstRow="1" bandRow="1">
                <a:tableStyleId>{5C22544A-7EE6-4342-B048-85BDC9FD1C3A}</a:tableStyleId>
              </a:tblPr>
              <a:tblGrid>
                <a:gridCol w="3246120"/>
                <a:gridCol w="2606040"/>
              </a:tblGrid>
              <a:tr h="249701">
                <a:tc>
                  <a:txBody>
                    <a:bodyPr/>
                    <a:lstStyle/>
                    <a:p>
                      <a:pPr algn="l">
                        <a:spcBef>
                          <a:spcPts val="0"/>
                        </a:spcBef>
                        <a:spcAft>
                          <a:spcPts val="0"/>
                        </a:spcAft>
                        <a:defRPr>
                          <a:solidFill/>
                        </a:defRPr>
                      </a:pPr>
                      <a:r>
                        <a:rPr sz="1000" b="1" i="0">
                          <a:solidFill>
                            <a:srgbClr val="FFFFFF"/>
                          </a:solidFill>
                          <a:latin typeface="Calibri"/>
                        </a:rPr>
                        <a:t>Assumption (Base, editable in xlsx)</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000" b="1" i="0">
                          <a:solidFill>
                            <a:srgbClr val="FFFFFF"/>
                          </a:solidFill>
                          <a:latin typeface="Calibri"/>
                        </a:rPr>
                        <a:t>Value</a:t>
                      </a:r>
                    </a:p>
                  </a:txBody>
                  <a:tcPr anchor="ctr">
                    <a:marL sz="40000"/>
                    <a:marR sz="40000"/>
                    <a:marT sz="30000"/>
                    <a:marB sz="30000"/>
                    <a:solidFill>
                      <a:srgbClr val="800000"/>
                    </a:solidFill>
                  </a:tcPr>
                </a:tc>
              </a:tr>
              <a:tr h="249701">
                <a:tc>
                  <a:txBody>
                    <a:bodyPr/>
                    <a:lstStyle/>
                    <a:p>
                      <a:pPr algn="l">
                        <a:spcBef>
                          <a:spcPts val="0"/>
                        </a:spcBef>
                        <a:spcAft>
                          <a:spcPts val="0"/>
                        </a:spcAft>
                        <a:defRPr>
                          <a:solidFill/>
                        </a:defRPr>
                      </a:pPr>
                      <a:r>
                        <a:rPr sz="1000" b="1" i="0">
                          <a:solidFill>
                            <a:srgbClr val="5C0000"/>
                          </a:solidFill>
                          <a:latin typeface="Calibri"/>
                        </a:rPr>
                        <a:t>WACC / terminal g / terminal ROIC</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10.5% / 3.5% / 20%</a:t>
                      </a:r>
                    </a:p>
                  </a:txBody>
                  <a:tcPr anchor="ctr">
                    <a:marL sz="40000"/>
                    <a:marR sz="40000"/>
                    <a:marT sz="30000"/>
                    <a:marB sz="30000"/>
                    <a:solidFill>
                      <a:srgbClr val="F5ECEC"/>
                    </a:solidFill>
                  </a:tcPr>
                </a:tc>
              </a:tr>
              <a:tr h="249701">
                <a:tc>
                  <a:txBody>
                    <a:bodyPr/>
                    <a:lstStyle/>
                    <a:p>
                      <a:pPr algn="l">
                        <a:spcBef>
                          <a:spcPts val="0"/>
                        </a:spcBef>
                        <a:spcAft>
                          <a:spcPts val="0"/>
                        </a:spcAft>
                        <a:defRPr>
                          <a:solidFill/>
                        </a:defRPr>
                      </a:pPr>
                      <a:r>
                        <a:rPr sz="1000" b="1" i="0">
                          <a:solidFill>
                            <a:srgbClr val="5C0000"/>
                          </a:solidFill>
                          <a:latin typeface="Calibri"/>
                        </a:rPr>
                        <a:t>Diluted-share proxy</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102m (near Q4 adj. 101.1m)</a:t>
                      </a:r>
                    </a:p>
                  </a:txBody>
                  <a:tcPr anchor="ctr">
                    <a:marL sz="40000"/>
                    <a:marR sz="40000"/>
                    <a:marT sz="30000"/>
                    <a:marB sz="30000"/>
                    <a:solidFill>
                      <a:srgbClr val="FFFFFF"/>
                    </a:solidFill>
                  </a:tcPr>
                </a:tc>
              </a:tr>
              <a:tr h="249701">
                <a:tc>
                  <a:txBody>
                    <a:bodyPr/>
                    <a:lstStyle/>
                    <a:p>
                      <a:pPr algn="l">
                        <a:spcBef>
                          <a:spcPts val="0"/>
                        </a:spcBef>
                        <a:spcAft>
                          <a:spcPts val="0"/>
                        </a:spcAft>
                        <a:defRPr>
                          <a:solidFill/>
                        </a:defRPr>
                      </a:pPr>
                      <a:r>
                        <a:rPr sz="1000" b="1" i="0">
                          <a:solidFill>
                            <a:srgbClr val="5C0000"/>
                          </a:solidFill>
                          <a:latin typeface="Calibri"/>
                        </a:rPr>
                        <a:t>Q1 volume (comp / systems)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+23.2% / +26.1% vs Q4</a:t>
                      </a:r>
                    </a:p>
                  </a:txBody>
                  <a:tcPr anchor="ctr">
                    <a:marL sz="40000"/>
                    <a:marR sz="40000"/>
                    <a:marT sz="30000"/>
                    <a:marB sz="30000"/>
                    <a:solidFill>
                      <a:srgbClr val="F5ECEC"/>
                    </a:solidFill>
                  </a:tcPr>
                </a:tc>
              </a:tr>
              <a:tr h="249701">
                <a:tc>
                  <a:txBody>
                    <a:bodyPr/>
                    <a:lstStyle/>
                    <a:p>
                      <a:pPr algn="l">
                        <a:spcBef>
                          <a:spcPts val="0"/>
                        </a:spcBef>
                        <a:spcAft>
                          <a:spcPts val="0"/>
                        </a:spcAft>
                        <a:defRPr>
                          <a:solidFill/>
                        </a:defRPr>
                      </a:pPr>
                      <a:r>
                        <a:rPr sz="1000" b="1" i="0">
                          <a:solidFill>
                            <a:srgbClr val="5C0000"/>
                          </a:solidFill>
                          <a:latin typeface="Calibri"/>
                        </a:rPr>
                        <a:t>FY28 volume (comp / systems)</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+45% / +50%</a:t>
                      </a:r>
                    </a:p>
                  </a:txBody>
                  <a:tcPr anchor="ctr">
                    <a:marL sz="40000"/>
                    <a:marR sz="40000"/>
                    <a:marT sz="30000"/>
                    <a:marB sz="30000"/>
                    <a:solidFill>
                      <a:srgbClr val="FFFFFF"/>
                    </a:solidFill>
                  </a:tcPr>
                </a:tc>
              </a:tr>
              <a:tr h="249701">
                <a:tc>
                  <a:txBody>
                    <a:bodyPr/>
                    <a:lstStyle/>
                    <a:p>
                      <a:pPr algn="l">
                        <a:spcBef>
                          <a:spcPts val="0"/>
                        </a:spcBef>
                        <a:spcAft>
                          <a:spcPts val="0"/>
                        </a:spcAft>
                        <a:defRPr>
                          <a:solidFill/>
                        </a:defRPr>
                      </a:pPr>
                      <a:r>
                        <a:rPr sz="1000" b="1" i="0">
                          <a:solidFill>
                            <a:srgbClr val="5C0000"/>
                          </a:solidFill>
                          <a:latin typeface="Calibri"/>
                        </a:rPr>
                        <a:t>Price/mix (Base)</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0%  (Bull +0.5%/qtr)</a:t>
                      </a:r>
                    </a:p>
                  </a:txBody>
                  <a:tcPr anchor="ctr">
                    <a:marL sz="40000"/>
                    <a:marR sz="40000"/>
                    <a:marT sz="30000"/>
                    <a:marB sz="30000"/>
                    <a:solidFill>
                      <a:srgbClr val="F5ECEC"/>
                    </a:solidFill>
                  </a:tcPr>
                </a:tc>
              </a:tr>
              <a:tr h="249701">
                <a:tc>
                  <a:txBody>
                    <a:bodyPr/>
                    <a:lstStyle/>
                    <a:p>
                      <a:pPr algn="l">
                        <a:spcBef>
                          <a:spcPts val="0"/>
                        </a:spcBef>
                        <a:spcAft>
                          <a:spcPts val="0"/>
                        </a:spcAft>
                        <a:defRPr>
                          <a:solidFill/>
                        </a:defRPr>
                      </a:pPr>
                      <a:r>
                        <a:rPr sz="1000" b="1" i="0">
                          <a:solidFill>
                            <a:srgbClr val="5C0000"/>
                          </a:solidFill>
                          <a:latin typeface="Calibri"/>
                        </a:rPr>
                        <a:t>Training-order haircut (Base / Bear)</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0% / 10–20% from Q2</a:t>
                      </a:r>
                    </a:p>
                  </a:txBody>
                  <a:tcPr anchor="ctr">
                    <a:marL sz="40000"/>
                    <a:marR sz="40000"/>
                    <a:marT sz="30000"/>
                    <a:marB sz="30000"/>
                    <a:solidFill>
                      <a:srgbClr val="FFFFFF"/>
                    </a:solidFill>
                  </a:tcPr>
                </a:tc>
              </a:tr>
              <a:tr h="249701">
                <a:tc>
                  <a:txBody>
                    <a:bodyPr/>
                    <a:lstStyle/>
                    <a:p>
                      <a:pPr algn="l">
                        <a:spcBef>
                          <a:spcPts val="0"/>
                        </a:spcBef>
                        <a:spcAft>
                          <a:spcPts val="0"/>
                        </a:spcAft>
                        <a:defRPr>
                          <a:solidFill/>
                        </a:defRPr>
                      </a:pPr>
                      <a:r>
                        <a:rPr sz="1000" b="1" i="0">
                          <a:solidFill>
                            <a:srgbClr val="5C0000"/>
                          </a:solidFill>
                          <a:latin typeface="Calibri"/>
                        </a:rPr>
                        <a:t>Adj. GM path FY27 qtrs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52.5 → 55.5%</a:t>
                      </a:r>
                    </a:p>
                  </a:txBody>
                  <a:tcPr anchor="ctr">
                    <a:marL sz="40000"/>
                    <a:marR sz="40000"/>
                    <a:marT sz="30000"/>
                    <a:marB sz="30000"/>
                    <a:solidFill>
                      <a:srgbClr val="F5ECEC"/>
                    </a:solidFill>
                  </a:tcPr>
                </a:tc>
              </a:tr>
              <a:tr h="249701">
                <a:tc>
                  <a:txBody>
                    <a:bodyPr/>
                    <a:lstStyle/>
                    <a:p>
                      <a:pPr algn="l">
                        <a:spcBef>
                          <a:spcPts val="0"/>
                        </a:spcBef>
                        <a:spcAft>
                          <a:spcPts val="0"/>
                        </a:spcAft>
                        <a:defRPr>
                          <a:solidFill/>
                        </a:defRPr>
                      </a:pPr>
                      <a:r>
                        <a:rPr sz="1000" b="1" i="0">
                          <a:solidFill>
                            <a:srgbClr val="5C0000"/>
                          </a:solidFill>
                          <a:latin typeface="Calibri"/>
                        </a:rPr>
                        <a:t>Cash capex / sales FY27–33</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15% → 6%</a:t>
                      </a:r>
                    </a:p>
                  </a:txBody>
                  <a:tcPr anchor="ctr">
                    <a:marL sz="40000"/>
                    <a:marR sz="40000"/>
                    <a:marT sz="30000"/>
                    <a:marB sz="30000"/>
                    <a:solidFill>
                      <a:srgbClr val="FFFFFF"/>
                    </a:solidFill>
                  </a:tcPr>
                </a:tc>
              </a:tr>
              <a:tr h="249701">
                <a:tc>
                  <a:txBody>
                    <a:bodyPr/>
                    <a:lstStyle/>
                    <a:p>
                      <a:pPr algn="l">
                        <a:spcBef>
                          <a:spcPts val="0"/>
                        </a:spcBef>
                        <a:spcAft>
                          <a:spcPts val="0"/>
                        </a:spcAft>
                        <a:defRPr>
                          <a:solidFill/>
                        </a:defRPr>
                      </a:pPr>
                      <a:r>
                        <a:rPr sz="1000" b="1" i="0">
                          <a:solidFill>
                            <a:srgbClr val="5C0000"/>
                          </a:solidFill>
                          <a:latin typeface="Calibri"/>
                        </a:rPr>
                        <a:t>Inventory days FY27–33</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115 → 90</a:t>
                      </a:r>
                    </a:p>
                  </a:txBody>
                  <a:tcPr anchor="ctr">
                    <a:marL sz="40000"/>
                    <a:marR sz="40000"/>
                    <a:marT sz="30000"/>
                    <a:marB sz="30000"/>
                    <a:solidFill>
                      <a:srgbClr val="F5ECEC"/>
                    </a:solidFill>
                  </a:tcPr>
                </a:tc>
              </a:tr>
              <a:tr h="249701">
                <a:tc>
                  <a:txBody>
                    <a:bodyPr/>
                    <a:lstStyle/>
                    <a:p>
                      <a:pPr algn="l">
                        <a:spcBef>
                          <a:spcPts val="0"/>
                        </a:spcBef>
                        <a:spcAft>
                          <a:spcPts val="0"/>
                        </a:spcAft>
                        <a:defRPr>
                          <a:solidFill/>
                        </a:defRPr>
                      </a:pPr>
                      <a:r>
                        <a:rPr sz="1000" b="1" i="0">
                          <a:solidFill>
                            <a:srgbClr val="5C0000"/>
                          </a:solidFill>
                          <a:latin typeface="Calibri"/>
                        </a:rPr>
                        <a:t>SBC treated as economic cash</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3% of sales, deducted in DCF</a:t>
                      </a:r>
                    </a:p>
                  </a:txBody>
                  <a:tcPr anchor="ctr">
                    <a:marL sz="40000"/>
                    <a:marR sz="40000"/>
                    <a:marT sz="30000"/>
                    <a:marB sz="30000"/>
                    <a:solidFill>
                      <a:srgbClr val="FFFFFF"/>
                    </a:solidFill>
                  </a:tcPr>
                </a:tc>
              </a:tr>
              <a:tr h="249701">
                <a:tc>
                  <a:txBody>
                    <a:bodyPr/>
                    <a:lstStyle/>
                    <a:p>
                      <a:pPr algn="l">
                        <a:spcBef>
                          <a:spcPts val="0"/>
                        </a:spcBef>
                        <a:spcAft>
                          <a:spcPts val="0"/>
                        </a:spcAft>
                        <a:defRPr>
                          <a:solidFill/>
                        </a:defRPr>
                      </a:pPr>
                      <a:r>
                        <a:rPr sz="1000" b="1" i="0">
                          <a:solidFill>
                            <a:srgbClr val="5C0000"/>
                          </a:solidFill>
                          <a:latin typeface="Calibri"/>
                        </a:rPr>
                        <a:t>12-month exit P/E B/Base/Bull</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25× / 30× / 35×</a:t>
                      </a:r>
                    </a:p>
                  </a:txBody>
                  <a:tcPr anchor="ctr">
                    <a:marL sz="40000"/>
                    <a:marR sz="40000"/>
                    <a:marT sz="30000"/>
                    <a:marB sz="30000"/>
                    <a:solidFill>
                      <a:srgbClr val="F5ECEC"/>
                    </a:solidFill>
                  </a:tcPr>
                </a:tc>
              </a:tr>
              <a:tr h="249708">
                <a:tc>
                  <a:txBody>
                    <a:bodyPr/>
                    <a:lstStyle/>
                    <a:p>
                      <a:pPr algn="l">
                        <a:spcBef>
                          <a:spcPts val="0"/>
                        </a:spcBef>
                        <a:spcAft>
                          <a:spcPts val="0"/>
                        </a:spcAft>
                        <a:defRPr>
                          <a:solidFill/>
                        </a:defRPr>
                      </a:pPr>
                      <a:r>
                        <a:rPr sz="1000" b="1" i="0">
                          <a:solidFill>
                            <a:srgbClr val="5C0000"/>
                          </a:solidFill>
                          <a:latin typeface="Calibri"/>
                        </a:rPr>
                        <a:t>DSO / DPO / other NWC</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50 / 70 / 3% of sales</a:t>
                      </a:r>
                    </a:p>
                  </a:txBody>
                  <a:tcPr anchor="ctr">
                    <a:marL sz="40000"/>
                    <a:marR sz="40000"/>
                    <a:marT sz="30000"/>
                    <a:marB sz="30000"/>
                    <a:solidFill>
                      <a:srgbClr val="FFFFFF"/>
                    </a:solidFill>
                  </a:tcPr>
                </a:tc>
              </a:tr>
            </a:tbl>
          </a:graphicData>
        </a:graphic>
      </p:graphicFrame>
      <p:graphicFrame>
        <p:nvGraphicFramePr>
          <p:cNvPr id="6" name="Table 5"/>
          <p:cNvGraphicFramePr>
            <a:graphicFrameLocks noGrp="1"/>
          </p:cNvGraphicFramePr>
          <p:nvPr/>
        </p:nvGraphicFramePr>
        <p:xfrm>
          <a:off x="6263640" y="1207008"/>
          <a:ext cx="5650992" cy="2331720"/>
        </p:xfrm>
        <a:graphic>
          <a:graphicData uri="http://schemas.openxmlformats.org/drawingml/2006/table">
            <a:tbl>
              <a:tblPr firstRow="1" bandRow="1">
                <a:tableStyleId>{5C22544A-7EE6-4342-B048-85BDC9FD1C3A}</a:tableStyleId>
              </a:tblPr>
              <a:tblGrid>
                <a:gridCol w="3246120"/>
                <a:gridCol w="2404872"/>
              </a:tblGrid>
              <a:tr h="291465">
                <a:tc>
                  <a:txBody>
                    <a:bodyPr/>
                    <a:lstStyle/>
                    <a:p>
                      <a:pPr algn="l">
                        <a:spcBef>
                          <a:spcPts val="0"/>
                        </a:spcBef>
                        <a:spcAft>
                          <a:spcPts val="0"/>
                        </a:spcAft>
                        <a:defRPr>
                          <a:solidFill/>
                        </a:defRPr>
                      </a:pPr>
                      <a:r>
                        <a:rPr sz="1100" b="1" i="0">
                          <a:solidFill>
                            <a:srgbClr val="FFFFFF"/>
                          </a:solidFill>
                          <a:latin typeface="Calibri"/>
                        </a:rPr>
                        <a:t>DCF build (Base, $m except /sh)</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
                      </a:r>
                    </a:p>
                  </a:txBody>
                  <a:tcPr anchor="ctr">
                    <a:marL sz="40000"/>
                    <a:marR sz="40000"/>
                    <a:marT sz="30000"/>
                    <a:marB sz="30000"/>
                    <a:solidFill>
                      <a:srgbClr val="800000"/>
                    </a:solidFill>
                  </a:tcPr>
                </a:tc>
              </a:tr>
              <a:tr h="291465">
                <a:tc>
                  <a:txBody>
                    <a:bodyPr/>
                    <a:lstStyle/>
                    <a:p>
                      <a:pPr algn="l">
                        <a:spcBef>
                          <a:spcPts val="0"/>
                        </a:spcBef>
                        <a:spcAft>
                          <a:spcPts val="0"/>
                        </a:spcAft>
                        <a:defRPr>
                          <a:solidFill/>
                        </a:defRPr>
                      </a:pPr>
                      <a:r>
                        <a:rPr sz="1100" b="1" i="0">
                          <a:solidFill>
                            <a:srgbClr val="5C0000"/>
                          </a:solidFill>
                          <a:latin typeface="Calibri"/>
                        </a:rPr>
                        <a:t>FY27–33 economic uFCF</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940 → 1,716 → … → 5,836</a:t>
                      </a:r>
                    </a:p>
                  </a:txBody>
                  <a:tcPr anchor="ctr">
                    <a:marL sz="40000"/>
                    <a:marR sz="40000"/>
                    <a:marT sz="30000"/>
                    <a:marB sz="30000"/>
                    <a:solidFill>
                      <a:srgbClr val="F5ECEC"/>
                    </a:solidFill>
                  </a:tcPr>
                </a:tc>
              </a:tr>
              <a:tr h="291465">
                <a:tc>
                  <a:txBody>
                    <a:bodyPr/>
                    <a:lstStyle/>
                    <a:p>
                      <a:pPr algn="l">
                        <a:spcBef>
                          <a:spcPts val="0"/>
                        </a:spcBef>
                        <a:spcAft>
                          <a:spcPts val="0"/>
                        </a:spcAft>
                        <a:defRPr>
                          <a:solidFill/>
                        </a:defRPr>
                      </a:pPr>
                      <a:r>
                        <a:rPr sz="1100" b="1" i="0">
                          <a:solidFill>
                            <a:srgbClr val="5C0000"/>
                          </a:solidFill>
                          <a:latin typeface="Calibri"/>
                        </a:rPr>
                        <a:t>PV of explicit FCF</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15,380</a:t>
                      </a:r>
                    </a:p>
                  </a:txBody>
                  <a:tcPr anchor="ctr">
                    <a:marL sz="40000"/>
                    <a:marR sz="40000"/>
                    <a:marT sz="30000"/>
                    <a:marB sz="30000"/>
                    <a:solidFill>
                      <a:srgbClr val="FFFFFF"/>
                    </a:solidFill>
                  </a:tcPr>
                </a:tc>
              </a:tr>
              <a:tr h="291465">
                <a:tc>
                  <a:txBody>
                    <a:bodyPr/>
                    <a:lstStyle/>
                    <a:p>
                      <a:pPr algn="l">
                        <a:spcBef>
                          <a:spcPts val="0"/>
                        </a:spcBef>
                        <a:spcAft>
                          <a:spcPts val="0"/>
                        </a:spcAft>
                        <a:defRPr>
                          <a:solidFill/>
                        </a:defRPr>
                      </a:pPr>
                      <a:r>
                        <a:rPr sz="1100" b="1" i="0">
                          <a:solidFill>
                            <a:srgbClr val="5C0000"/>
                          </a:solidFill>
                          <a:latin typeface="Calibri"/>
                        </a:rPr>
                        <a:t>PV of terminal (g/ROIC reinvestment)</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39,146  (72% of EV)</a:t>
                      </a:r>
                    </a:p>
                  </a:txBody>
                  <a:tcPr anchor="ctr">
                    <a:marL sz="40000"/>
                    <a:marR sz="40000"/>
                    <a:marT sz="30000"/>
                    <a:marB sz="30000"/>
                    <a:solidFill>
                      <a:srgbClr val="F5ECEC"/>
                    </a:solidFill>
                  </a:tcPr>
                </a:tc>
              </a:tr>
              <a:tr h="291465">
                <a:tc>
                  <a:txBody>
                    <a:bodyPr/>
                    <a:lstStyle/>
                    <a:p>
                      <a:pPr algn="l">
                        <a:spcBef>
                          <a:spcPts val="0"/>
                        </a:spcBef>
                        <a:spcAft>
                          <a:spcPts val="0"/>
                        </a:spcAft>
                        <a:defRPr>
                          <a:solidFill/>
                        </a:defRPr>
                      </a:pPr>
                      <a:r>
                        <a:rPr sz="1100" b="1" i="0">
                          <a:solidFill>
                            <a:srgbClr val="5C0000"/>
                          </a:solidFill>
                          <a:latin typeface="Calibri"/>
                        </a:rPr>
                        <a:t>Enterprise value</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54,526</a:t>
                      </a:r>
                    </a:p>
                  </a:txBody>
                  <a:tcPr anchor="ctr">
                    <a:marL sz="40000"/>
                    <a:marR sz="40000"/>
                    <a:marT sz="30000"/>
                    <a:marB sz="30000"/>
                    <a:solidFill>
                      <a:srgbClr val="FFFFFF"/>
                    </a:solidFill>
                  </a:tcPr>
                </a:tc>
              </a:tr>
              <a:tr h="291465">
                <a:tc>
                  <a:txBody>
                    <a:bodyPr/>
                    <a:lstStyle/>
                    <a:p>
                      <a:pPr algn="l">
                        <a:spcBef>
                          <a:spcPts val="0"/>
                        </a:spcBef>
                        <a:spcAft>
                          <a:spcPts val="0"/>
                        </a:spcAft>
                        <a:defRPr>
                          <a:solidFill/>
                        </a:defRPr>
                      </a:pPr>
                      <a:r>
                        <a:rPr sz="1100" b="1" i="0">
                          <a:solidFill>
                            <a:srgbClr val="5C0000"/>
                          </a:solidFill>
                          <a:latin typeface="Calibri"/>
                        </a:rPr>
                        <a:t>+ cash − debt</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+2,738 − 1,637</a:t>
                      </a:r>
                    </a:p>
                  </a:txBody>
                  <a:tcPr anchor="ctr">
                    <a:marL sz="40000"/>
                    <a:marR sz="40000"/>
                    <a:marT sz="30000"/>
                    <a:marB sz="30000"/>
                    <a:solidFill>
                      <a:srgbClr val="F5ECEC"/>
                    </a:solidFill>
                  </a:tcPr>
                </a:tc>
              </a:tr>
              <a:tr h="291465">
                <a:tc>
                  <a:txBody>
                    <a:bodyPr/>
                    <a:lstStyle/>
                    <a:p>
                      <a:pPr algn="l">
                        <a:spcBef>
                          <a:spcPts val="0"/>
                        </a:spcBef>
                        <a:spcAft>
                          <a:spcPts val="0"/>
                        </a:spcAft>
                        <a:defRPr>
                          <a:solidFill/>
                        </a:defRPr>
                      </a:pPr>
                      <a:r>
                        <a:rPr sz="1100" b="1" i="0">
                          <a:solidFill>
                            <a:srgbClr val="5C0000"/>
                          </a:solidFill>
                          <a:latin typeface="Calibri"/>
                        </a:rPr>
                        <a:t>Equity / DCF / share</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55,627  /  $545</a:t>
                      </a:r>
                    </a:p>
                  </a:txBody>
                  <a:tcPr anchor="ctr">
                    <a:marL sz="40000"/>
                    <a:marR sz="40000"/>
                    <a:marT sz="30000"/>
                    <a:marB sz="30000"/>
                    <a:solidFill>
                      <a:srgbClr val="FFFFFF"/>
                    </a:solidFill>
                  </a:tcPr>
                </a:tc>
              </a:tr>
              <a:tr h="291465">
                <a:tc>
                  <a:txBody>
                    <a:bodyPr/>
                    <a:lstStyle/>
                    <a:p>
                      <a:pPr algn="l">
                        <a:spcBef>
                          <a:spcPts val="0"/>
                        </a:spcBef>
                        <a:spcAft>
                          <a:spcPts val="0"/>
                        </a:spcAft>
                        <a:defRPr>
                          <a:solidFill/>
                        </a:defRPr>
                      </a:pPr>
                      <a:r>
                        <a:rPr sz="1100" b="1" i="0">
                          <a:solidFill>
                            <a:srgbClr val="5C0000"/>
                          </a:solidFill>
                          <a:latin typeface="Calibri"/>
                        </a:rPr>
                        <a:t>12m P/E value</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$1,003  (+12%)</a:t>
                      </a:r>
                    </a:p>
                  </a:txBody>
                  <a:tcPr anchor="ctr">
                    <a:marL sz="40000"/>
                    <a:marR sz="40000"/>
                    <a:marT sz="30000"/>
                    <a:marB sz="30000"/>
                    <a:solidFill>
                      <a:srgbClr val="F5ECEC"/>
                    </a:solidFill>
                  </a:tcPr>
                </a:tc>
              </a:tr>
            </a:tbl>
          </a:graphicData>
        </a:graphic>
      </p:graphicFrame>
      <p:graphicFrame>
        <p:nvGraphicFramePr>
          <p:cNvPr id="7" name="Table 6"/>
          <p:cNvGraphicFramePr>
            <a:graphicFrameLocks noGrp="1"/>
          </p:cNvGraphicFramePr>
          <p:nvPr/>
        </p:nvGraphicFramePr>
        <p:xfrm>
          <a:off x="6263640" y="3611880"/>
          <a:ext cx="5650992" cy="1691640"/>
        </p:xfrm>
        <a:graphic>
          <a:graphicData uri="http://schemas.openxmlformats.org/drawingml/2006/table">
            <a:tbl>
              <a:tblPr firstRow="1" bandRow="1">
                <a:tableStyleId>{5C22544A-7EE6-4342-B048-85BDC9FD1C3A}</a:tableStyleId>
              </a:tblPr>
              <a:tblGrid>
                <a:gridCol w="1554480"/>
                <a:gridCol w="1362456"/>
                <a:gridCol w="1362456"/>
                <a:gridCol w="1371600"/>
              </a:tblGrid>
              <a:tr h="422910">
                <a:tc>
                  <a:txBody>
                    <a:bodyPr/>
                    <a:lstStyle/>
                    <a:p>
                      <a:pPr algn="l">
                        <a:spcBef>
                          <a:spcPts val="0"/>
                        </a:spcBef>
                        <a:spcAft>
                          <a:spcPts val="0"/>
                        </a:spcAft>
                        <a:defRPr>
                          <a:solidFill/>
                        </a:defRPr>
                      </a:pPr>
                      <a:r>
                        <a:rPr sz="1100" b="1" i="0">
                          <a:solidFill>
                            <a:srgbClr val="FFFFFF"/>
                          </a:solidFill>
                          <a:latin typeface="Calibri"/>
                        </a:rPr>
                        <a:t>WACC \ g</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2.5%</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3.5%</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4.5%</a:t>
                      </a:r>
                    </a:p>
                  </a:txBody>
                  <a:tcPr anchor="ctr">
                    <a:marL sz="40000"/>
                    <a:marR sz="40000"/>
                    <a:marT sz="30000"/>
                    <a:marB sz="30000"/>
                    <a:solidFill>
                      <a:srgbClr val="800000"/>
                    </a:solidFill>
                  </a:tcPr>
                </a:tc>
              </a:tr>
              <a:tr h="422910">
                <a:tc>
                  <a:txBody>
                    <a:bodyPr/>
                    <a:lstStyle/>
                    <a:p>
                      <a:pPr algn="l">
                        <a:spcBef>
                          <a:spcPts val="0"/>
                        </a:spcBef>
                        <a:spcAft>
                          <a:spcPts val="0"/>
                        </a:spcAft>
                        <a:defRPr>
                          <a:solidFill/>
                        </a:defRPr>
                      </a:pPr>
                      <a:r>
                        <a:rPr sz="1100" b="1" i="0">
                          <a:solidFill>
                            <a:srgbClr val="5C0000"/>
                          </a:solidFill>
                          <a:latin typeface="Calibri"/>
                        </a:rPr>
                        <a:t>8.5%</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709</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786</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899</a:t>
                      </a:r>
                    </a:p>
                  </a:txBody>
                  <a:tcPr anchor="ctr">
                    <a:marL sz="40000"/>
                    <a:marR sz="40000"/>
                    <a:marT sz="30000"/>
                    <a:marB sz="30000"/>
                    <a:solidFill>
                      <a:srgbClr val="F5ECEC"/>
                    </a:solidFill>
                  </a:tcPr>
                </a:tc>
              </a:tr>
              <a:tr h="422910">
                <a:tc>
                  <a:txBody>
                    <a:bodyPr/>
                    <a:lstStyle/>
                    <a:p>
                      <a:pPr algn="l">
                        <a:spcBef>
                          <a:spcPts val="0"/>
                        </a:spcBef>
                        <a:spcAft>
                          <a:spcPts val="0"/>
                        </a:spcAft>
                        <a:defRPr>
                          <a:solidFill/>
                        </a:defRPr>
                      </a:pPr>
                      <a:r>
                        <a:rPr sz="1100" b="1" i="0">
                          <a:solidFill>
                            <a:srgbClr val="5C0000"/>
                          </a:solidFill>
                          <a:latin typeface="Calibri"/>
                        </a:rPr>
                        <a:t>10.5% (used)</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514</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545</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586</a:t>
                      </a:r>
                    </a:p>
                  </a:txBody>
                  <a:tcPr anchor="ctr">
                    <a:marL sz="40000"/>
                    <a:marR sz="40000"/>
                    <a:marT sz="30000"/>
                    <a:marB sz="30000"/>
                    <a:solidFill>
                      <a:srgbClr val="FFFFFF"/>
                    </a:solidFill>
                  </a:tcPr>
                </a:tc>
              </a:tr>
              <a:tr h="422910">
                <a:tc>
                  <a:txBody>
                    <a:bodyPr/>
                    <a:lstStyle/>
                    <a:p>
                      <a:pPr algn="l">
                        <a:spcBef>
                          <a:spcPts val="0"/>
                        </a:spcBef>
                        <a:spcAft>
                          <a:spcPts val="0"/>
                        </a:spcAft>
                        <a:defRPr>
                          <a:solidFill/>
                        </a:defRPr>
                      </a:pPr>
                      <a:r>
                        <a:rPr sz="1100" b="1" i="0">
                          <a:solidFill>
                            <a:srgbClr val="5C0000"/>
                          </a:solidFill>
                          <a:latin typeface="Calibri"/>
                        </a:rPr>
                        <a:t>12.5%</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398</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413</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430</a:t>
                      </a:r>
                    </a:p>
                  </a:txBody>
                  <a:tcPr anchor="ctr">
                    <a:marL sz="40000"/>
                    <a:marR sz="40000"/>
                    <a:marT sz="30000"/>
                    <a:marB sz="30000"/>
                    <a:solidFill>
                      <a:srgbClr val="F5ECEC"/>
                    </a:solidFill>
                  </a:tcPr>
                </a:tc>
              </a:tr>
            </a:tbl>
          </a:graphicData>
        </a:graphic>
      </p:graphicFrame>
      <p:sp>
        <p:nvSpPr>
          <p:cNvPr id="8" name="TextBox 7"/>
          <p:cNvSpPr txBox="1"/>
          <p:nvPr/>
        </p:nvSpPr>
        <p:spPr>
          <a:xfrm>
            <a:off x="292608" y="4572000"/>
            <a:ext cx="5852160" cy="1783080"/>
          </a:xfrm>
          <a:prstGeom prst="rect">
            <a:avLst/>
          </a:prstGeom>
          <a:noFill/>
          <a:ln>
            <a:solidFill/>
          </a:ln>
        </p:spPr>
        <p:txBody>
          <a:bodyPr wrap="square" anchor="t">
            <a:spAutoFit/>
          </a:bodyPr>
          <a:lstStyle/>
          <a:p>
            <a:pPr algn="l">
              <a:spcBef>
                <a:spcPts val="0"/>
              </a:spcBef>
              <a:spcAft>
                <a:spcPts val="200"/>
              </a:spcAft>
              <a:defRPr>
                <a:solidFill/>
              </a:defRPr>
            </a:pPr>
            <a:r>
              <a:rPr sz="1100" b="0" i="0">
                <a:solidFill>
                  <a:srgbClr val="222222"/>
                </a:solidFill>
                <a:latin typeface="Calibri"/>
              </a:rPr>
              <a:t>What is fact vs assumption. Q1 Base is calibrated to issued guidance. Later quarters, annual volume, GM fade, capex ratios, WACC, g, ROIC, exit multiples, 40%/35% training-exposure shares, and 102m shares are ours. Product units and ASPs are not disclosed. DCF uses FY-end cash/debt and full-year cash flows — no fake September stub. GAAP FY26 loss includes a $7.76bn noncash convert charge; excluded from operations.</a:t>
            </a:r>
          </a:p>
          <a:p>
            <a:pPr algn="l">
              <a:spcBef>
                <a:spcPts val="0"/>
              </a:spcBef>
              <a:spcAft>
                <a:spcPts val="200"/>
              </a:spcAft>
              <a:defRPr>
                <a:solidFill/>
              </a:defRPr>
            </a:pPr>
            <a:r>
              <a:rPr sz="1100" b="1" i="0">
                <a:solidFill>
                  <a:srgbClr val="5C0000"/>
                </a:solidFill>
                <a:latin typeface="Calibri"/>
              </a:rPr>
              <a:t>Invalidate. Shipments miss while inventory days rise, or adj. margins weaken despite growth. That is the bear, and it is in the file as case 1.</a:t>
            </a:r>
          </a:p>
        </p:txBody>
      </p:sp>
      <p:sp>
        <p:nvSpPr>
          <p:cNvPr id="9" name="Rectangle 8"/>
          <p:cNvSpPr/>
          <p:nvPr/>
        </p:nvSpPr>
        <p:spPr>
          <a:xfrm>
            <a:off x="0" y="6656832"/>
            <a:ext cx="12191695" cy="2011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256032" y="6656832"/>
            <a:ext cx="10515600" cy="201168"/>
          </a:xfrm>
          <a:prstGeom prst="rect">
            <a:avLst/>
          </a:prstGeom>
          <a:noFill/>
          <a:ln>
            <a:solidFill/>
          </a:ln>
        </p:spPr>
        <p:txBody>
          <a:bodyPr wrap="square" anchor="ctr">
            <a:spAutoFit/>
          </a:bodyPr>
          <a:lstStyle/>
          <a:p>
            <a:pPr algn="l">
              <a:spcBef>
                <a:spcPts val="0"/>
              </a:spcBef>
              <a:spcAft>
                <a:spcPts val="200"/>
              </a:spcAft>
              <a:defRPr>
                <a:solidFill/>
              </a:defRPr>
            </a:pPr>
            <a:r>
              <a:rPr sz="800" b="0" i="0">
                <a:solidFill>
                  <a:srgbClr val="FFFFFF"/>
                </a:solidFill>
                <a:latin typeface="Calibri"/>
              </a:rPr>
              <a:t>UChicago AI-Enabled Investing Competition  |  18 September 2026  |  LONG LITE  |  Horizon 3–12 months  |  Sources on slide 10</a:t>
            </a:r>
          </a:p>
        </p:txBody>
      </p:sp>
      <p:sp>
        <p:nvSpPr>
          <p:cNvPr id="11" name="TextBox 10"/>
          <p:cNvSpPr txBox="1"/>
          <p:nvPr/>
        </p:nvSpPr>
        <p:spPr>
          <a:xfrm>
            <a:off x="11155680" y="6656832"/>
            <a:ext cx="822960" cy="201168"/>
          </a:xfrm>
          <a:prstGeom prst="rect">
            <a:avLst/>
          </a:prstGeom>
          <a:noFill/>
          <a:ln>
            <a:solidFill/>
          </a:ln>
        </p:spPr>
        <p:txBody>
          <a:bodyPr wrap="square" anchor="ctr">
            <a:spAutoFit/>
          </a:bodyPr>
          <a:lstStyle/>
          <a:p>
            <a:pPr algn="r">
              <a:spcBef>
                <a:spcPts val="0"/>
              </a:spcBef>
              <a:spcAft>
                <a:spcPts val="200"/>
              </a:spcAft>
              <a:defRPr>
                <a:solidFill/>
              </a:defRPr>
            </a:pPr>
            <a:r>
              <a:rPr sz="900" b="1" i="0">
                <a:solidFill>
                  <a:srgbClr val="FFFFF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292608" y="109728"/>
            <a:ext cx="11612880" cy="475488"/>
          </a:xfrm>
          <a:prstGeom prst="rect">
            <a:avLst/>
          </a:prstGeom>
          <a:noFill/>
          <a:ln>
            <a:solidFill/>
          </a:ln>
        </p:spPr>
        <p:txBody>
          <a:bodyPr wrap="square" anchor="ctr">
            <a:spAutoFit/>
          </a:bodyPr>
          <a:lstStyle/>
          <a:p>
            <a:pPr algn="l">
              <a:spcBef>
                <a:spcPts val="0"/>
              </a:spcBef>
              <a:spcAft>
                <a:spcPts val="200"/>
              </a:spcAft>
              <a:defRPr>
                <a:solidFill/>
              </a:defRPr>
            </a:pPr>
            <a:r>
              <a:rPr sz="2200" b="1" i="0">
                <a:solidFill>
                  <a:srgbClr val="FFFFFF"/>
                </a:solidFill>
                <a:latin typeface="Calibri"/>
              </a:rPr>
              <a:t>The other side of the trade — what would make us wrong</a:t>
            </a:r>
          </a:p>
        </p:txBody>
      </p:sp>
      <p:graphicFrame>
        <p:nvGraphicFramePr>
          <p:cNvPr id="4" name="Table 3"/>
          <p:cNvGraphicFramePr>
            <a:graphicFrameLocks noGrp="1"/>
          </p:cNvGraphicFramePr>
          <p:nvPr/>
        </p:nvGraphicFramePr>
        <p:xfrm>
          <a:off x="256032" y="804672"/>
          <a:ext cx="11658600" cy="5440680"/>
        </p:xfrm>
        <a:graphic>
          <a:graphicData uri="http://schemas.openxmlformats.org/drawingml/2006/table">
            <a:tbl>
              <a:tblPr firstRow="1" bandRow="1">
                <a:tableStyleId>{5C22544A-7EE6-4342-B048-85BDC9FD1C3A}</a:tableStyleId>
              </a:tblPr>
              <a:tblGrid>
                <a:gridCol w="2148840"/>
                <a:gridCol w="4754880"/>
                <a:gridCol w="4754880"/>
              </a:tblGrid>
              <a:tr h="680085">
                <a:tc>
                  <a:txBody>
                    <a:bodyPr/>
                    <a:lstStyle/>
                    <a:p>
                      <a:pPr algn="l">
                        <a:spcBef>
                          <a:spcPts val="0"/>
                        </a:spcBef>
                        <a:spcAft>
                          <a:spcPts val="0"/>
                        </a:spcAft>
                        <a:defRPr>
                          <a:solidFill/>
                        </a:defRPr>
                      </a:pPr>
                      <a:r>
                        <a:rPr sz="1000" b="1" i="0">
                          <a:solidFill>
                            <a:srgbClr val="FFFFFF"/>
                          </a:solidFill>
                          <a:latin typeface="Calibri"/>
                        </a:rPr>
                        <a:t>Risk</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000" b="1" i="0">
                          <a:solidFill>
                            <a:srgbClr val="FFFFFF"/>
                          </a:solidFill>
                          <a:latin typeface="Calibri"/>
                        </a:rPr>
                        <a:t>Why it matters in 3–12 months</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000" b="1" i="0">
                          <a:solidFill>
                            <a:srgbClr val="FFFFFF"/>
                          </a:solidFill>
                          <a:latin typeface="Calibri"/>
                        </a:rPr>
                        <a:t>How we live with it</a:t>
                      </a:r>
                    </a:p>
                  </a:txBody>
                  <a:tcPr anchor="ctr">
                    <a:marL sz="40000"/>
                    <a:marR sz="40000"/>
                    <a:marT sz="30000"/>
                    <a:marB sz="30000"/>
                    <a:solidFill>
                      <a:srgbClr val="800000"/>
                    </a:solidFill>
                  </a:tcPr>
                </a:tc>
              </a:tr>
              <a:tr h="680085">
                <a:tc>
                  <a:txBody>
                    <a:bodyPr/>
                    <a:lstStyle/>
                    <a:p>
                      <a:pPr algn="l">
                        <a:spcBef>
                          <a:spcPts val="0"/>
                        </a:spcBef>
                        <a:spcAft>
                          <a:spcPts val="0"/>
                        </a:spcAft>
                        <a:defRPr>
                          <a:solidFill/>
                        </a:defRPr>
                      </a:pPr>
                      <a:r>
                        <a:rPr sz="1000" b="1" i="0">
                          <a:solidFill>
                            <a:srgbClr val="5C0000"/>
                          </a:solidFill>
                          <a:latin typeface="Calibri"/>
                        </a:rPr>
                        <a:t>Pacing becomes a real training-compute cap, not a process overlay</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Bear case haircuts 10–20% of exposed orders from Q2. FY28 EPS falls to ~$13; 25× → $331 (−63%).</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Essay text and 2023–25 history argue against this. First tell is hyperscaler capex lines, not op-eds. Position size assumes this tail exists.</a:t>
                      </a:r>
                    </a:p>
                  </a:txBody>
                  <a:tcPr anchor="ctr">
                    <a:marL sz="40000"/>
                    <a:marR sz="40000"/>
                    <a:marT sz="30000"/>
                    <a:marB sz="30000"/>
                    <a:solidFill>
                      <a:srgbClr val="F5ECEC"/>
                    </a:solidFill>
                  </a:tcPr>
                </a:tc>
              </a:tr>
              <a:tr h="680085">
                <a:tc>
                  <a:txBody>
                    <a:bodyPr/>
                    <a:lstStyle/>
                    <a:p>
                      <a:pPr algn="l">
                        <a:spcBef>
                          <a:spcPts val="0"/>
                        </a:spcBef>
                        <a:spcAft>
                          <a:spcPts val="0"/>
                        </a:spcAft>
                        <a:defRPr>
                          <a:solidFill/>
                        </a:defRPr>
                      </a:pPr>
                      <a:r>
                        <a:rPr sz="1000" b="1" i="0">
                          <a:solidFill>
                            <a:srgbClr val="5C0000"/>
                          </a:solidFill>
                          <a:latin typeface="Calibri"/>
                        </a:rPr>
                        <a:t>LITE is not cheap on DCF</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$545 vs $894. Terminal is 72% of EV. A long multiple on FY28 can compress if rates or AI multiples break.</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We are not selling a DCF long. We are selling 3–12 month earnings delivery vs a false capex-cut narrative. If you need DCF upside, this is not your idea.</a:t>
                      </a:r>
                    </a:p>
                  </a:txBody>
                  <a:tcPr anchor="ctr">
                    <a:marL sz="40000"/>
                    <a:marR sz="40000"/>
                    <a:marT sz="30000"/>
                    <a:marB sz="30000"/>
                    <a:solidFill>
                      <a:srgbClr val="FFFFFF"/>
                    </a:solidFill>
                  </a:tcPr>
                </a:tc>
              </a:tr>
              <a:tr h="680085">
                <a:tc>
                  <a:txBody>
                    <a:bodyPr/>
                    <a:lstStyle/>
                    <a:p>
                      <a:pPr algn="l">
                        <a:spcBef>
                          <a:spcPts val="0"/>
                        </a:spcBef>
                        <a:spcAft>
                          <a:spcPts val="0"/>
                        </a:spcAft>
                        <a:defRPr>
                          <a:solidFill/>
                        </a:defRPr>
                      </a:pPr>
                      <a:r>
                        <a:rPr sz="1000" b="1" i="0">
                          <a:solidFill>
                            <a:srgbClr val="5C0000"/>
                          </a:solidFill>
                          <a:latin typeface="Calibri"/>
                        </a:rPr>
                        <a:t>Execution / yield / capacity</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Management cites CPO, ELS, NPO, 1.6T, OCS as layering in. None of that is a disclosed SKU P&amp;L. Greensboro laser output is mid-2028 — outside the holding period.</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Q1 is a hard check: $1.225–1.275bn and 39.5–40.5% OM. Inventory days are modeled down 115→90; if they go the other way, sell.</a:t>
                      </a:r>
                    </a:p>
                  </a:txBody>
                  <a:tcPr anchor="ctr">
                    <a:marL sz="40000"/>
                    <a:marR sz="40000"/>
                    <a:marT sz="30000"/>
                    <a:marB sz="30000"/>
                    <a:solidFill>
                      <a:srgbClr val="F5ECEC"/>
                    </a:solidFill>
                  </a:tcPr>
                </a:tc>
              </a:tr>
              <a:tr h="680085">
                <a:tc>
                  <a:txBody>
                    <a:bodyPr/>
                    <a:lstStyle/>
                    <a:p>
                      <a:pPr algn="l">
                        <a:spcBef>
                          <a:spcPts val="0"/>
                        </a:spcBef>
                        <a:spcAft>
                          <a:spcPts val="0"/>
                        </a:spcAft>
                        <a:defRPr>
                          <a:solidFill/>
                        </a:defRPr>
                      </a:pPr>
                      <a:r>
                        <a:rPr sz="1000" b="1" i="0">
                          <a:solidFill>
                            <a:srgbClr val="5C0000"/>
                          </a:solidFill>
                          <a:latin typeface="Calibri"/>
                        </a:rPr>
                        <a:t>Customer concentration and cancellations</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NVIDIA commitment is non-exclusive, multi-year, not a public quarterly revenue floor. Cloud customers can slow modules without a press release.</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Thesis requires continued cluster spend, not a single customer. Two missed quarters vs guide ends the idea.</a:t>
                      </a:r>
                    </a:p>
                  </a:txBody>
                  <a:tcPr anchor="ctr">
                    <a:marL sz="40000"/>
                    <a:marR sz="40000"/>
                    <a:marT sz="30000"/>
                    <a:marB sz="30000"/>
                    <a:solidFill>
                      <a:srgbClr val="FFFFFF"/>
                    </a:solidFill>
                  </a:tcPr>
                </a:tc>
              </a:tr>
              <a:tr h="680085">
                <a:tc>
                  <a:txBody>
                    <a:bodyPr/>
                    <a:lstStyle/>
                    <a:p>
                      <a:pPr algn="l">
                        <a:spcBef>
                          <a:spcPts val="0"/>
                        </a:spcBef>
                        <a:spcAft>
                          <a:spcPts val="0"/>
                        </a:spcAft>
                        <a:defRPr>
                          <a:solidFill/>
                        </a:defRPr>
                      </a:pPr>
                      <a:r>
                        <a:rPr sz="1000" b="1" i="0">
                          <a:solidFill>
                            <a:srgbClr val="5C0000"/>
                          </a:solidFill>
                          <a:latin typeface="Calibri"/>
                        </a:rPr>
                        <a:t>COHR/FN relative</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FN is cheaper on FY27 EPS (21x). If the judges want “cheap AI supplier,” we lose the relative argument.</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Cheap and FCF-less is not the thesis. We want the content owner that already prints 50% GM.</a:t>
                      </a:r>
                    </a:p>
                  </a:txBody>
                  <a:tcPr anchor="ctr">
                    <a:marL sz="40000"/>
                    <a:marR sz="40000"/>
                    <a:marT sz="30000"/>
                    <a:marB sz="30000"/>
                    <a:solidFill>
                      <a:srgbClr val="F5ECEC"/>
                    </a:solidFill>
                  </a:tcPr>
                </a:tc>
              </a:tr>
              <a:tr h="680085">
                <a:tc>
                  <a:txBody>
                    <a:bodyPr/>
                    <a:lstStyle/>
                    <a:p>
                      <a:pPr algn="l">
                        <a:spcBef>
                          <a:spcPts val="0"/>
                        </a:spcBef>
                        <a:spcAft>
                          <a:spcPts val="0"/>
                        </a:spcAft>
                        <a:defRPr>
                          <a:solidFill/>
                        </a:defRPr>
                      </a:pPr>
                      <a:r>
                        <a:rPr sz="1000" b="1" i="0">
                          <a:solidFill>
                            <a:srgbClr val="5C0000"/>
                          </a:solidFill>
                          <a:latin typeface="Calibri"/>
                        </a:rPr>
                        <a:t>Share count / SBC / convert</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Adj. diluted shares rose 71m → 101m. DCF charges 3% SBC as cash and holds 102m flat. Converts already produced a $7.76bn GAAP loss.</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If dilution runs faster than SBC, EPS is overstated. Watch the 10-Q share count, not the press-release EPS.</a:t>
                      </a:r>
                    </a:p>
                  </a:txBody>
                  <a:tcPr anchor="ctr">
                    <a:marL sz="40000"/>
                    <a:marR sz="40000"/>
                    <a:marT sz="30000"/>
                    <a:marB sz="30000"/>
                    <a:solidFill>
                      <a:srgbClr val="FFFFFF"/>
                    </a:solidFill>
                  </a:tcPr>
                </a:tc>
              </a:tr>
              <a:tr h="680085">
                <a:tc>
                  <a:txBody>
                    <a:bodyPr/>
                    <a:lstStyle/>
                    <a:p>
                      <a:pPr algn="l">
                        <a:spcBef>
                          <a:spcPts val="0"/>
                        </a:spcBef>
                        <a:spcAft>
                          <a:spcPts val="0"/>
                        </a:spcAft>
                        <a:defRPr>
                          <a:solidFill/>
                        </a:defRPr>
                      </a:pPr>
                      <a:r>
                        <a:rPr sz="1000" b="1" i="0">
                          <a:solidFill>
                            <a:srgbClr val="5C0000"/>
                          </a:solidFill>
                          <a:latin typeface="Calibri"/>
                        </a:rPr>
                        <a:t>We may be early, or the scare already faded</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By 17 Sep LITE had retraced most of Monday. 12% base upside is modest if the narrative is already dead.</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Then the remaining pay is FY28 compounding, not mean-reversion. Bull still exists if CPO/OCS is real. Modest base + convex bull is acceptable given ~0% historical hit rate on the bear.</a:t>
                      </a:r>
                    </a:p>
                  </a:txBody>
                  <a:tcPr anchor="ctr">
                    <a:marL sz="40000"/>
                    <a:marR sz="40000"/>
                    <a:marT sz="30000"/>
                    <a:marB sz="30000"/>
                    <a:solidFill>
                      <a:srgbClr val="F5ECEC"/>
                    </a:solidFill>
                  </a:tcPr>
                </a:tc>
              </a:tr>
            </a:tbl>
          </a:graphicData>
        </a:graphic>
      </p:graphicFrame>
      <p:sp>
        <p:nvSpPr>
          <p:cNvPr id="5" name="Rectangle 4"/>
          <p:cNvSpPr/>
          <p:nvPr/>
        </p:nvSpPr>
        <p:spPr>
          <a:xfrm>
            <a:off x="0" y="6656832"/>
            <a:ext cx="12191695" cy="2011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 name="TextBox 5"/>
          <p:cNvSpPr txBox="1"/>
          <p:nvPr/>
        </p:nvSpPr>
        <p:spPr>
          <a:xfrm>
            <a:off x="256032" y="6656832"/>
            <a:ext cx="10515600" cy="201168"/>
          </a:xfrm>
          <a:prstGeom prst="rect">
            <a:avLst/>
          </a:prstGeom>
          <a:noFill/>
          <a:ln>
            <a:solidFill/>
          </a:ln>
        </p:spPr>
        <p:txBody>
          <a:bodyPr wrap="square" anchor="ctr">
            <a:spAutoFit/>
          </a:bodyPr>
          <a:lstStyle/>
          <a:p>
            <a:pPr algn="l">
              <a:spcBef>
                <a:spcPts val="0"/>
              </a:spcBef>
              <a:spcAft>
                <a:spcPts val="200"/>
              </a:spcAft>
              <a:defRPr>
                <a:solidFill/>
              </a:defRPr>
            </a:pPr>
            <a:r>
              <a:rPr sz="800" b="0" i="0">
                <a:solidFill>
                  <a:srgbClr val="FFFFFF"/>
                </a:solidFill>
                <a:latin typeface="Calibri"/>
              </a:rPr>
              <a:t>UChicago AI-Enabled Investing Competition  |  18 September 2026  |  LONG LITE  |  Horizon 3–12 months  |  Sources on slide 10</a:t>
            </a:r>
          </a:p>
        </p:txBody>
      </p:sp>
      <p:sp>
        <p:nvSpPr>
          <p:cNvPr id="7" name="TextBox 6"/>
          <p:cNvSpPr txBox="1"/>
          <p:nvPr/>
        </p:nvSpPr>
        <p:spPr>
          <a:xfrm>
            <a:off x="11155680" y="6656832"/>
            <a:ext cx="822960" cy="201168"/>
          </a:xfrm>
          <a:prstGeom prst="rect">
            <a:avLst/>
          </a:prstGeom>
          <a:noFill/>
          <a:ln>
            <a:solidFill/>
          </a:ln>
        </p:spPr>
        <p:txBody>
          <a:bodyPr wrap="square" anchor="ctr">
            <a:spAutoFit/>
          </a:bodyPr>
          <a:lstStyle/>
          <a:p>
            <a:pPr algn="r">
              <a:spcBef>
                <a:spcPts val="0"/>
              </a:spcBef>
              <a:spcAft>
                <a:spcPts val="200"/>
              </a:spcAft>
              <a:defRPr>
                <a:solidFill/>
              </a:defRPr>
            </a:pPr>
            <a:r>
              <a:rPr sz="900" b="1" i="0">
                <a:solidFill>
                  <a:srgbClr val="FFFFF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292608" y="109728"/>
            <a:ext cx="11612880" cy="475488"/>
          </a:xfrm>
          <a:prstGeom prst="rect">
            <a:avLst/>
          </a:prstGeom>
          <a:noFill/>
          <a:ln>
            <a:solidFill/>
          </a:ln>
        </p:spPr>
        <p:txBody>
          <a:bodyPr wrap="square" anchor="ctr">
            <a:spAutoFit/>
          </a:bodyPr>
          <a:lstStyle/>
          <a:p>
            <a:pPr algn="l">
              <a:spcBef>
                <a:spcPts val="0"/>
              </a:spcBef>
              <a:spcAft>
                <a:spcPts val="200"/>
              </a:spcAft>
              <a:defRPr>
                <a:solidFill/>
              </a:defRPr>
            </a:pPr>
            <a:r>
              <a:rPr sz="2200" b="1" i="0">
                <a:solidFill>
                  <a:srgbClr val="FFFFFF"/>
                </a:solidFill>
                <a:latin typeface="Calibri"/>
              </a:rPr>
              <a:t>How the trade gets paid — catalysts over the next 3–12 months</a:t>
            </a:r>
          </a:p>
        </p:txBody>
      </p:sp>
      <p:sp>
        <p:nvSpPr>
          <p:cNvPr id="4" name="TextBox 3"/>
          <p:cNvSpPr txBox="1"/>
          <p:nvPr/>
        </p:nvSpPr>
        <p:spPr>
          <a:xfrm>
            <a:off x="292608" y="749808"/>
            <a:ext cx="11612880" cy="365760"/>
          </a:xfrm>
          <a:prstGeom prst="rect">
            <a:avLst/>
          </a:prstGeom>
          <a:noFill/>
          <a:ln>
            <a:solidFill/>
          </a:ln>
        </p:spPr>
        <p:txBody>
          <a:bodyPr wrap="square" anchor="t">
            <a:spAutoFit/>
          </a:bodyPr>
          <a:lstStyle/>
          <a:p>
            <a:pPr algn="l">
              <a:spcBef>
                <a:spcPts val="0"/>
              </a:spcBef>
              <a:spcAft>
                <a:spcPts val="200"/>
              </a:spcAft>
              <a:defRPr>
                <a:solidFill/>
              </a:defRPr>
            </a:pPr>
            <a:r>
              <a:rPr sz="1300" b="1" i="0">
                <a:solidFill>
                  <a:srgbClr val="800000"/>
                </a:solidFill>
                <a:latin typeface="Calibri"/>
              </a:rPr>
              <a:t>The highest-weight catalyst is the next earnings print versus issued Q1 ranges. Everything else is confirmation that spend was not cut.</a:t>
            </a:r>
          </a:p>
        </p:txBody>
      </p:sp>
      <p:graphicFrame>
        <p:nvGraphicFramePr>
          <p:cNvPr id="5" name="Table 4"/>
          <p:cNvGraphicFramePr>
            <a:graphicFrameLocks noGrp="1"/>
          </p:cNvGraphicFramePr>
          <p:nvPr/>
        </p:nvGraphicFramePr>
        <p:xfrm>
          <a:off x="256032" y="1170432"/>
          <a:ext cx="11658600" cy="3977639"/>
        </p:xfrm>
        <a:graphic>
          <a:graphicData uri="http://schemas.openxmlformats.org/drawingml/2006/table">
            <a:tbl>
              <a:tblPr firstRow="1" bandRow="1">
                <a:tableStyleId>{5C22544A-7EE6-4342-B048-85BDC9FD1C3A}</a:tableStyleId>
              </a:tblPr>
              <a:tblGrid>
                <a:gridCol w="1417320"/>
                <a:gridCol w="2880360"/>
                <a:gridCol w="3794760"/>
                <a:gridCol w="3566160"/>
              </a:tblGrid>
              <a:tr h="662939">
                <a:tc>
                  <a:txBody>
                    <a:bodyPr/>
                    <a:lstStyle/>
                    <a:p>
                      <a:pPr algn="l">
                        <a:spcBef>
                          <a:spcPts val="0"/>
                        </a:spcBef>
                        <a:spcAft>
                          <a:spcPts val="0"/>
                        </a:spcAft>
                        <a:defRPr>
                          <a:solidFill/>
                        </a:defRPr>
                      </a:pPr>
                      <a:r>
                        <a:rPr sz="1100" b="1" i="0">
                          <a:solidFill>
                            <a:srgbClr val="FFFFFF"/>
                          </a:solidFill>
                          <a:latin typeface="Calibri"/>
                        </a:rPr>
                        <a:t>Window</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Event</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What must be true for us</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100" b="1" i="0">
                          <a:solidFill>
                            <a:srgbClr val="FFFFFF"/>
                          </a:solidFill>
                          <a:latin typeface="Calibri"/>
                        </a:rPr>
                        <a:t>What kills the idea</a:t>
                      </a:r>
                    </a:p>
                  </a:txBody>
                  <a:tcPr anchor="ctr">
                    <a:marL sz="40000"/>
                    <a:marR sz="40000"/>
                    <a:marT sz="30000"/>
                    <a:marB sz="30000"/>
                    <a:solidFill>
                      <a:srgbClr val="800000"/>
                    </a:solidFill>
                  </a:tcPr>
                </a:tc>
              </a:tr>
              <a:tr h="662939">
                <a:tc>
                  <a:txBody>
                    <a:bodyPr/>
                    <a:lstStyle/>
                    <a:p>
                      <a:pPr algn="l">
                        <a:spcBef>
                          <a:spcPts val="0"/>
                        </a:spcBef>
                        <a:spcAft>
                          <a:spcPts val="0"/>
                        </a:spcAft>
                        <a:defRPr>
                          <a:solidFill/>
                        </a:defRPr>
                      </a:pPr>
                      <a:r>
                        <a:rPr sz="1100" b="1" i="0">
                          <a:solidFill>
                            <a:srgbClr val="5C0000"/>
                          </a:solidFill>
                          <a:latin typeface="Calibri"/>
                        </a:rPr>
                        <a:t>0–3 months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Q1 FY27 results vs $1.225–1.275bn, 39.5–40.5% adj. OM, $4.05–$4.35 EPS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Print inside/above; commentary that CPO/OCS/1.6T are still ramping; no capex warning from MSFT/GOOGL/AMZN/META/ORCL</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Miss on revenue or OM; “push-outs”; a hyperscaler capex cut</a:t>
                      </a:r>
                    </a:p>
                  </a:txBody>
                  <a:tcPr anchor="ctr">
                    <a:marL sz="40000"/>
                    <a:marR sz="40000"/>
                    <a:marT sz="30000"/>
                    <a:marB sz="30000"/>
                    <a:solidFill>
                      <a:srgbClr val="F5ECEC"/>
                    </a:solidFill>
                  </a:tcPr>
                </a:tc>
              </a:tr>
              <a:tr h="662939">
                <a:tc>
                  <a:txBody>
                    <a:bodyPr/>
                    <a:lstStyle/>
                    <a:p>
                      <a:pPr algn="l">
                        <a:spcBef>
                          <a:spcPts val="0"/>
                        </a:spcBef>
                        <a:spcAft>
                          <a:spcPts val="0"/>
                        </a:spcAft>
                        <a:defRPr>
                          <a:solidFill/>
                        </a:defRPr>
                      </a:pPr>
                      <a:r>
                        <a:rPr sz="1100" b="1" i="0">
                          <a:solidFill>
                            <a:srgbClr val="5C0000"/>
                          </a:solidFill>
                          <a:latin typeface="Calibri"/>
                        </a:rPr>
                        <a:t>3–6 months</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Q2 print + first full post-essay capex season</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Seq. growth still positive without a training-order hole; GM holds ≥54% in our Base</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Haircut language; inventory days up with shipments down</a:t>
                      </a:r>
                    </a:p>
                  </a:txBody>
                  <a:tcPr anchor="ctr">
                    <a:marL sz="40000"/>
                    <a:marR sz="40000"/>
                    <a:marT sz="30000"/>
                    <a:marB sz="30000"/>
                    <a:solidFill>
                      <a:srgbClr val="FFFFFF"/>
                    </a:solidFill>
                  </a:tcPr>
                </a:tc>
              </a:tr>
              <a:tr h="662939">
                <a:tc>
                  <a:txBody>
                    <a:bodyPr/>
                    <a:lstStyle/>
                    <a:p>
                      <a:pPr algn="l">
                        <a:spcBef>
                          <a:spcPts val="0"/>
                        </a:spcBef>
                        <a:spcAft>
                          <a:spcPts val="0"/>
                        </a:spcAft>
                        <a:defRPr>
                          <a:solidFill/>
                        </a:defRPr>
                      </a:pPr>
                      <a:r>
                        <a:rPr sz="1100" b="1" i="0">
                          <a:solidFill>
                            <a:srgbClr val="5C0000"/>
                          </a:solidFill>
                          <a:latin typeface="Calibri"/>
                        </a:rPr>
                        <a:t>6–12 months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Q3/Q4 + FY28 visibility</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Street FY28 EPS moves toward ~$33; 30× is then $1,000 without multiple expansion</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FY28 EPS stuck near FY27; multiple compresses with no earnings catch-up</a:t>
                      </a:r>
                    </a:p>
                  </a:txBody>
                  <a:tcPr anchor="ctr">
                    <a:marL sz="40000"/>
                    <a:marR sz="40000"/>
                    <a:marT sz="30000"/>
                    <a:marB sz="30000"/>
                    <a:solidFill>
                      <a:srgbClr val="F5ECEC"/>
                    </a:solidFill>
                  </a:tcPr>
                </a:tc>
              </a:tr>
              <a:tr h="662939">
                <a:tc>
                  <a:txBody>
                    <a:bodyPr/>
                    <a:lstStyle/>
                    <a:p>
                      <a:pPr algn="l">
                        <a:spcBef>
                          <a:spcPts val="0"/>
                        </a:spcBef>
                        <a:spcAft>
                          <a:spcPts val="0"/>
                        </a:spcAft>
                        <a:defRPr>
                          <a:solidFill/>
                        </a:defRPr>
                      </a:pPr>
                      <a:r>
                        <a:rPr sz="1100" b="1" i="0">
                          <a:solidFill>
                            <a:srgbClr val="5C0000"/>
                          </a:solidFill>
                          <a:latin typeface="Calibri"/>
                        </a:rPr>
                        <a:t>Any time</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Another safety essay / regulation</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Same test as Sep 12: text vs capex line. We have the checklist.</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100" b="0" i="0">
                          <a:solidFill>
                            <a:srgbClr val="222222"/>
                          </a:solidFill>
                          <a:latin typeface="Calibri"/>
                        </a:rPr>
                        <a:t>A coordinated, verifiable training-compute cap that shows up in orders</a:t>
                      </a:r>
                    </a:p>
                  </a:txBody>
                  <a:tcPr anchor="ctr">
                    <a:marL sz="40000"/>
                    <a:marR sz="40000"/>
                    <a:marT sz="30000"/>
                    <a:marB sz="30000"/>
                    <a:solidFill>
                      <a:srgbClr val="FFFFFF"/>
                    </a:solidFill>
                  </a:tcPr>
                </a:tc>
              </a:tr>
              <a:tr h="662944">
                <a:tc>
                  <a:txBody>
                    <a:bodyPr/>
                    <a:lstStyle/>
                    <a:p>
                      <a:pPr algn="l">
                        <a:spcBef>
                          <a:spcPts val="0"/>
                        </a:spcBef>
                        <a:spcAft>
                          <a:spcPts val="0"/>
                        </a:spcAft>
                        <a:defRPr>
                          <a:solidFill/>
                        </a:defRPr>
                      </a:pPr>
                      <a:r>
                        <a:rPr sz="1100" b="1" i="0">
                          <a:solidFill>
                            <a:srgbClr val="5C0000"/>
                          </a:solidFill>
                          <a:latin typeface="Calibri"/>
                        </a:rPr>
                        <a:t>Not in the 3–12m pay</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Greensboro laser factory (mid-2028 target)</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Ignore as earnings. Capex is in the ratios; do not add a plant NPV.</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100" b="0" i="0">
                          <a:solidFill>
                            <a:srgbClr val="222222"/>
                          </a:solidFill>
                          <a:latin typeface="Calibri"/>
                        </a:rPr>
                        <a:t>If someone capitalizes it as 2026–27 EPS, they are wrong</a:t>
                      </a:r>
                    </a:p>
                  </a:txBody>
                  <a:tcPr anchor="ctr">
                    <a:marL sz="40000"/>
                    <a:marR sz="40000"/>
                    <a:marT sz="30000"/>
                    <a:marB sz="30000"/>
                    <a:solidFill>
                      <a:srgbClr val="F5ECEC"/>
                    </a:solidFill>
                  </a:tcPr>
                </a:tc>
              </a:tr>
            </a:tbl>
          </a:graphicData>
        </a:graphic>
      </p:graphicFrame>
      <p:sp>
        <p:nvSpPr>
          <p:cNvPr id="6" name="TextBox 5"/>
          <p:cNvSpPr txBox="1"/>
          <p:nvPr/>
        </p:nvSpPr>
        <p:spPr>
          <a:xfrm>
            <a:off x="292608" y="5257800"/>
            <a:ext cx="11612880" cy="1143000"/>
          </a:xfrm>
          <a:prstGeom prst="rect">
            <a:avLst/>
          </a:prstGeom>
          <a:noFill/>
          <a:ln>
            <a:solidFill/>
          </a:ln>
        </p:spPr>
        <p:txBody>
          <a:bodyPr wrap="square" anchor="t">
            <a:spAutoFit/>
          </a:bodyPr>
          <a:lstStyle/>
          <a:p>
            <a:pPr algn="l">
              <a:spcBef>
                <a:spcPts val="0"/>
              </a:spcBef>
              <a:spcAft>
                <a:spcPts val="200"/>
              </a:spcAft>
              <a:defRPr>
                <a:solidFill/>
              </a:defRPr>
            </a:pPr>
            <a:r>
              <a:rPr sz="1300" b="0" i="0">
                <a:solidFill>
                  <a:srgbClr val="5C0000"/>
                </a:solidFill>
                <a:latin typeface="Calibri"/>
              </a:rPr>
              <a:t>Positioning statement. This is a 3–12 month long, not a multi-year compounder pitch and not a DCF-gap close. We get paid if the market stops mapping safety headlines onto optical demand, and if Lumentum simply delivers the guide it already issued on 11 August. The information edge is the event study plus the three-name screen — not a private dataset.</a:t>
            </a:r>
          </a:p>
          <a:p>
            <a:pPr algn="l">
              <a:spcBef>
                <a:spcPts val="0"/>
              </a:spcBef>
              <a:spcAft>
                <a:spcPts val="200"/>
              </a:spcAft>
              <a:defRPr>
                <a:solidFill/>
              </a:defRPr>
            </a:pPr>
            <a:r>
              <a:rPr sz="1400" b="1" i="0">
                <a:solidFill>
                  <a:srgbClr val="800000"/>
                </a:solidFill>
                <a:latin typeface="Calibri"/>
              </a:rPr>
              <a:t>Entry $893.61  ·  Base $1,003  ·  Bull $1,605  ·  Bear $331  ·  Horizon 3–12 months  ·  Invalidation: two misses vs guide or a real capex cut</a:t>
            </a:r>
          </a:p>
        </p:txBody>
      </p:sp>
      <p:sp>
        <p:nvSpPr>
          <p:cNvPr id="7" name="Rectangle 6"/>
          <p:cNvSpPr/>
          <p:nvPr/>
        </p:nvSpPr>
        <p:spPr>
          <a:xfrm>
            <a:off x="0" y="6656832"/>
            <a:ext cx="12191695" cy="2011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 name="TextBox 7"/>
          <p:cNvSpPr txBox="1"/>
          <p:nvPr/>
        </p:nvSpPr>
        <p:spPr>
          <a:xfrm>
            <a:off x="256032" y="6656832"/>
            <a:ext cx="10515600" cy="201168"/>
          </a:xfrm>
          <a:prstGeom prst="rect">
            <a:avLst/>
          </a:prstGeom>
          <a:noFill/>
          <a:ln>
            <a:solidFill/>
          </a:ln>
        </p:spPr>
        <p:txBody>
          <a:bodyPr wrap="square" anchor="ctr">
            <a:spAutoFit/>
          </a:bodyPr>
          <a:lstStyle/>
          <a:p>
            <a:pPr algn="l">
              <a:spcBef>
                <a:spcPts val="0"/>
              </a:spcBef>
              <a:spcAft>
                <a:spcPts val="200"/>
              </a:spcAft>
              <a:defRPr>
                <a:solidFill/>
              </a:defRPr>
            </a:pPr>
            <a:r>
              <a:rPr sz="800" b="0" i="0">
                <a:solidFill>
                  <a:srgbClr val="FFFFFF"/>
                </a:solidFill>
                <a:latin typeface="Calibri"/>
              </a:rPr>
              <a:t>UChicago AI-Enabled Investing Competition  |  18 September 2026  |  LONG LITE  |  Horizon 3–12 months  |  Sources on slide 10</a:t>
            </a:r>
          </a:p>
        </p:txBody>
      </p:sp>
      <p:sp>
        <p:nvSpPr>
          <p:cNvPr id="9" name="TextBox 8"/>
          <p:cNvSpPr txBox="1"/>
          <p:nvPr/>
        </p:nvSpPr>
        <p:spPr>
          <a:xfrm>
            <a:off x="11155680" y="6656832"/>
            <a:ext cx="822960" cy="201168"/>
          </a:xfrm>
          <a:prstGeom prst="rect">
            <a:avLst/>
          </a:prstGeom>
          <a:noFill/>
          <a:ln>
            <a:solidFill/>
          </a:ln>
        </p:spPr>
        <p:txBody>
          <a:bodyPr wrap="square" anchor="ctr">
            <a:spAutoFit/>
          </a:bodyPr>
          <a:lstStyle/>
          <a:p>
            <a:pPr algn="r">
              <a:spcBef>
                <a:spcPts val="0"/>
              </a:spcBef>
              <a:spcAft>
                <a:spcPts val="200"/>
              </a:spcAft>
              <a:defRPr>
                <a:solidFill/>
              </a:defRPr>
            </a:pPr>
            <a:r>
              <a:rPr sz="900" b="1" i="0">
                <a:solidFill>
                  <a:srgbClr val="FFFFF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292608" y="109728"/>
            <a:ext cx="11612880" cy="475488"/>
          </a:xfrm>
          <a:prstGeom prst="rect">
            <a:avLst/>
          </a:prstGeom>
          <a:noFill/>
          <a:ln>
            <a:solidFill/>
          </a:ln>
        </p:spPr>
        <p:txBody>
          <a:bodyPr wrap="square" anchor="ctr">
            <a:spAutoFit/>
          </a:bodyPr>
          <a:lstStyle/>
          <a:p>
            <a:pPr algn="l">
              <a:spcBef>
                <a:spcPts val="0"/>
              </a:spcBef>
              <a:spcAft>
                <a:spcPts val="200"/>
              </a:spcAft>
              <a:defRPr>
                <a:solidFill/>
              </a:defRPr>
            </a:pPr>
            <a:r>
              <a:rPr sz="2200" b="1" i="0">
                <a:solidFill>
                  <a:srgbClr val="FFFFFF"/>
                </a:solidFill>
                <a:latin typeface="Calibri"/>
              </a:rPr>
              <a:t>AI-use log, verification, and hallucinations — required disclosure</a:t>
            </a:r>
          </a:p>
        </p:txBody>
      </p:sp>
      <p:sp>
        <p:nvSpPr>
          <p:cNvPr id="4" name="TextBox 3"/>
          <p:cNvSpPr txBox="1"/>
          <p:nvPr/>
        </p:nvSpPr>
        <p:spPr>
          <a:xfrm>
            <a:off x="292608" y="731520"/>
            <a:ext cx="11612880" cy="365760"/>
          </a:xfrm>
          <a:prstGeom prst="rect">
            <a:avLst/>
          </a:prstGeom>
          <a:noFill/>
          <a:ln>
            <a:solidFill/>
          </a:ln>
        </p:spPr>
        <p:txBody>
          <a:bodyPr wrap="square" anchor="t">
            <a:spAutoFit/>
          </a:bodyPr>
          <a:lstStyle/>
          <a:p>
            <a:pPr algn="l">
              <a:spcBef>
                <a:spcPts val="0"/>
              </a:spcBef>
              <a:spcAft>
                <a:spcPts val="200"/>
              </a:spcAft>
              <a:defRPr>
                <a:solidFill/>
              </a:defRPr>
            </a:pPr>
            <a:r>
              <a:rPr sz="1200" b="1" i="0">
                <a:solidFill>
                  <a:srgbClr val="800000"/>
                </a:solidFill>
                <a:latin typeface="Calibri"/>
              </a:rPr>
              <a:t>Tools: Cursor agent + web retrieval + local Excel model. AI retrieved sources, filled formulas, and drafted slides. Forecasts are authored assumptions. No management interviews. No claim of human verification that has not occurred.</a:t>
            </a:r>
          </a:p>
        </p:txBody>
      </p:sp>
      <p:graphicFrame>
        <p:nvGraphicFramePr>
          <p:cNvPr id="5" name="Table 4"/>
          <p:cNvGraphicFramePr>
            <a:graphicFrameLocks noGrp="1"/>
          </p:cNvGraphicFramePr>
          <p:nvPr/>
        </p:nvGraphicFramePr>
        <p:xfrm>
          <a:off x="256032" y="1115568"/>
          <a:ext cx="11658600" cy="5257800"/>
        </p:xfrm>
        <a:graphic>
          <a:graphicData uri="http://schemas.openxmlformats.org/drawingml/2006/table">
            <a:tbl>
              <a:tblPr firstRow="1" bandRow="1">
                <a:tableStyleId>{5C22544A-7EE6-4342-B048-85BDC9FD1C3A}</a:tableStyleId>
              </a:tblPr>
              <a:tblGrid>
                <a:gridCol w="3017520"/>
                <a:gridCol w="8641080"/>
              </a:tblGrid>
              <a:tr h="375557">
                <a:tc>
                  <a:txBody>
                    <a:bodyPr/>
                    <a:lstStyle/>
                    <a:p>
                      <a:pPr algn="l">
                        <a:spcBef>
                          <a:spcPts val="0"/>
                        </a:spcBef>
                        <a:spcAft>
                          <a:spcPts val="0"/>
                        </a:spcAft>
                        <a:defRPr>
                          <a:solidFill/>
                        </a:defRPr>
                      </a:pPr>
                      <a:r>
                        <a:rPr sz="1000" b="1" i="0">
                          <a:solidFill>
                            <a:srgbClr val="FFFFFF"/>
                          </a:solidFill>
                          <a:latin typeface="Calibri"/>
                        </a:rPr>
                        <a:t>Item</a:t>
                      </a:r>
                    </a:p>
                  </a:txBody>
                  <a:tcPr anchor="ctr">
                    <a:marL sz="40000"/>
                    <a:marR sz="40000"/>
                    <a:marT sz="30000"/>
                    <a:marB sz="30000"/>
                    <a:solidFill>
                      <a:srgbClr val="800000"/>
                    </a:solidFill>
                  </a:tcPr>
                </a:tc>
                <a:tc>
                  <a:txBody>
                    <a:bodyPr/>
                    <a:lstStyle/>
                    <a:p>
                      <a:pPr algn="ctr">
                        <a:spcBef>
                          <a:spcPts val="0"/>
                        </a:spcBef>
                        <a:spcAft>
                          <a:spcPts val="0"/>
                        </a:spcAft>
                        <a:defRPr>
                          <a:solidFill/>
                        </a:defRPr>
                      </a:pPr>
                      <a:r>
                        <a:rPr sz="1000" b="1" i="0">
                          <a:solidFill>
                            <a:srgbClr val="FFFFFF"/>
                          </a:solidFill>
                          <a:latin typeface="Calibri"/>
                        </a:rPr>
                        <a:t>Status</a:t>
                      </a:r>
                    </a:p>
                  </a:txBody>
                  <a:tcPr anchor="ctr">
                    <a:marL sz="40000"/>
                    <a:marR sz="40000"/>
                    <a:marT sz="30000"/>
                    <a:marB sz="30000"/>
                    <a:solidFill>
                      <a:srgbClr val="800000"/>
                    </a:solidFill>
                  </a:tcPr>
                </a:tc>
              </a:tr>
              <a:tr h="375557">
                <a:tc>
                  <a:txBody>
                    <a:bodyPr/>
                    <a:lstStyle/>
                    <a:p>
                      <a:pPr algn="l">
                        <a:spcBef>
                          <a:spcPts val="0"/>
                        </a:spcBef>
                        <a:spcAft>
                          <a:spcPts val="0"/>
                        </a:spcAft>
                        <a:defRPr>
                          <a:solidFill/>
                        </a:defRPr>
                      </a:pPr>
                      <a:r>
                        <a:rPr sz="1000" b="1" i="0">
                          <a:solidFill>
                            <a:srgbClr val="5C0000"/>
                          </a:solidFill>
                          <a:latin typeface="Calibri"/>
                        </a:rPr>
                        <a:t>LITE 8–17 Sep prices</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Pulled from stockanalysis.com/stocks/lite/history/ on 18 Sep 2026. 17 Sep close $893.61 used as freeze. Intraday 18 Sep not used.</a:t>
                      </a:r>
                    </a:p>
                  </a:txBody>
                  <a:tcPr anchor="ctr">
                    <a:marL sz="40000"/>
                    <a:marR sz="40000"/>
                    <a:marT sz="30000"/>
                    <a:marB sz="30000"/>
                    <a:solidFill>
                      <a:srgbClr val="F5ECEC"/>
                    </a:solidFill>
                  </a:tcPr>
                </a:tc>
              </a:tr>
              <a:tr h="375557">
                <a:tc>
                  <a:txBody>
                    <a:bodyPr/>
                    <a:lstStyle/>
                    <a:p>
                      <a:pPr algn="l">
                        <a:spcBef>
                          <a:spcPts val="0"/>
                        </a:spcBef>
                        <a:spcAft>
                          <a:spcPts val="0"/>
                        </a:spcAft>
                        <a:defRPr>
                          <a:solidFill/>
                        </a:defRPr>
                      </a:pPr>
                      <a:r>
                        <a:rPr sz="1000" b="1" i="0">
                          <a:solidFill>
                            <a:srgbClr val="5C0000"/>
                          </a:solidFill>
                          <a:latin typeface="Calibri"/>
                        </a:rPr>
                        <a:t>Amodei essay</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Read locally from archived HTML. Quote on “does not mean halting model training” is from the original, not a summary model.</a:t>
                      </a:r>
                    </a:p>
                  </a:txBody>
                  <a:tcPr anchor="ctr">
                    <a:marL sz="40000"/>
                    <a:marR sz="40000"/>
                    <a:marT sz="30000"/>
                    <a:marB sz="30000"/>
                    <a:solidFill>
                      <a:srgbClr val="FFFFFF"/>
                    </a:solidFill>
                  </a:tcPr>
                </a:tc>
              </a:tr>
              <a:tr h="375557">
                <a:tc>
                  <a:txBody>
                    <a:bodyPr/>
                    <a:lstStyle/>
                    <a:p>
                      <a:pPr algn="l">
                        <a:spcBef>
                          <a:spcPts val="0"/>
                        </a:spcBef>
                        <a:spcAft>
                          <a:spcPts val="0"/>
                        </a:spcAft>
                        <a:defRPr>
                          <a:solidFill/>
                        </a:defRPr>
                      </a:pPr>
                      <a:r>
                        <a:rPr sz="1000" b="1" i="0">
                          <a:solidFill>
                            <a:srgbClr val="5C0000"/>
                          </a:solidFill>
                          <a:latin typeface="Calibri"/>
                        </a:rPr>
                        <a:t>LITE FY26 / Q1 guide</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Company 11 Aug 2026 release, archived. GAAP $7.76bn convert loss excluded from operating forecasts, as in the 10-K/release.</a:t>
                      </a:r>
                    </a:p>
                  </a:txBody>
                  <a:tcPr anchor="ctr">
                    <a:marL sz="40000"/>
                    <a:marR sz="40000"/>
                    <a:marT sz="30000"/>
                    <a:marB sz="30000"/>
                    <a:solidFill>
                      <a:srgbClr val="F5ECEC"/>
                    </a:solidFill>
                  </a:tcPr>
                </a:tc>
              </a:tr>
              <a:tr h="375557">
                <a:tc>
                  <a:txBody>
                    <a:bodyPr/>
                    <a:lstStyle/>
                    <a:p>
                      <a:pPr algn="l">
                        <a:spcBef>
                          <a:spcPts val="0"/>
                        </a:spcBef>
                        <a:spcAft>
                          <a:spcPts val="0"/>
                        </a:spcAft>
                        <a:defRPr>
                          <a:solidFill/>
                        </a:defRPr>
                      </a:pPr>
                      <a:r>
                        <a:rPr sz="1000" b="1" i="0">
                          <a:solidFill>
                            <a:srgbClr val="5C0000"/>
                          </a:solidFill>
                          <a:latin typeface="Calibri"/>
                        </a:rPr>
                        <a:t>COHR / FN comps</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From the model Actuals/Comps tabs (company releases + stockanalysis). Not a full three-statement model of those names.</a:t>
                      </a:r>
                    </a:p>
                  </a:txBody>
                  <a:tcPr anchor="ctr">
                    <a:marL sz="40000"/>
                    <a:marR sz="40000"/>
                    <a:marT sz="30000"/>
                    <a:marB sz="30000"/>
                    <a:solidFill>
                      <a:srgbClr val="FFFFFF"/>
                    </a:solidFill>
                  </a:tcPr>
                </a:tc>
              </a:tr>
              <a:tr h="375557">
                <a:tc>
                  <a:txBody>
                    <a:bodyPr/>
                    <a:lstStyle/>
                    <a:p>
                      <a:pPr algn="l">
                        <a:spcBef>
                          <a:spcPts val="0"/>
                        </a:spcBef>
                        <a:spcAft>
                          <a:spcPts val="0"/>
                        </a:spcAft>
                        <a:defRPr>
                          <a:solidFill/>
                        </a:defRPr>
                      </a:pPr>
                      <a:r>
                        <a:rPr sz="1000" b="1" i="0">
                          <a:solidFill>
                            <a:srgbClr val="5C0000"/>
                          </a:solidFill>
                          <a:latin typeface="Calibri"/>
                        </a:rPr>
                        <a:t>Microsoft PP&amp;E +58% / +45%</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Cited in the workbook Evidence tab to Microsoft IR cash-flow pages. Team should click through; we did not re-parse the 10-K HTML in this deck build.</a:t>
                      </a:r>
                    </a:p>
                  </a:txBody>
                  <a:tcPr anchor="ctr">
                    <a:marL sz="40000"/>
                    <a:marR sz="40000"/>
                    <a:marT sz="30000"/>
                    <a:marB sz="30000"/>
                    <a:solidFill>
                      <a:srgbClr val="F5ECEC"/>
                    </a:solidFill>
                  </a:tcPr>
                </a:tc>
              </a:tr>
              <a:tr h="375557">
                <a:tc>
                  <a:txBody>
                    <a:bodyPr/>
                    <a:lstStyle/>
                    <a:p>
                      <a:pPr algn="l">
                        <a:spcBef>
                          <a:spcPts val="0"/>
                        </a:spcBef>
                        <a:spcAft>
                          <a:spcPts val="0"/>
                        </a:spcAft>
                        <a:defRPr>
                          <a:solidFill/>
                        </a:defRPr>
                      </a:pPr>
                      <a:r>
                        <a:rPr sz="1000" b="1" i="0">
                          <a:solidFill>
                            <a:srgbClr val="5C0000"/>
                          </a:solidFill>
                          <a:latin typeface="Calibri"/>
                        </a:rPr>
                        <a:t>FLI pause / Bletchley / Seoul / EO / SB 1047 / Paris</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Primary pages and contemporaneous reporting. These are overlapping political windows, not independent causal estimates. We do not claim a zero-impact regression coefficient.</a:t>
                      </a:r>
                    </a:p>
                  </a:txBody>
                  <a:tcPr anchor="ctr">
                    <a:marL sz="40000"/>
                    <a:marR sz="40000"/>
                    <a:marT sz="30000"/>
                    <a:marB sz="30000"/>
                    <a:solidFill>
                      <a:srgbClr val="FFFFFF"/>
                    </a:solidFill>
                  </a:tcPr>
                </a:tc>
              </a:tr>
              <a:tr h="375557">
                <a:tc>
                  <a:txBody>
                    <a:bodyPr/>
                    <a:lstStyle/>
                    <a:p>
                      <a:pPr algn="l">
                        <a:spcBef>
                          <a:spcPts val="0"/>
                        </a:spcBef>
                        <a:spcAft>
                          <a:spcPts val="0"/>
                        </a:spcAft>
                        <a:defRPr>
                          <a:solidFill/>
                        </a:defRPr>
                      </a:pPr>
                      <a:r>
                        <a:rPr sz="1000" b="1" i="0">
                          <a:solidFill>
                            <a:srgbClr val="5C0000"/>
                          </a:solidFill>
                          <a:latin typeface="Calibri"/>
                        </a:rPr>
                        <a:t>NVIDIA $2bn + purchase commitment</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NVIDIA 2 Mar 2026 announcement. Non-exclusive; no quarterly revenue floor inferred.</a:t>
                      </a:r>
                    </a:p>
                  </a:txBody>
                  <a:tcPr anchor="ctr">
                    <a:marL sz="40000"/>
                    <a:marR sz="40000"/>
                    <a:marT sz="30000"/>
                    <a:marB sz="30000"/>
                    <a:solidFill>
                      <a:srgbClr val="F5ECEC"/>
                    </a:solidFill>
                  </a:tcPr>
                </a:tc>
              </a:tr>
              <a:tr h="375557">
                <a:tc>
                  <a:txBody>
                    <a:bodyPr/>
                    <a:lstStyle/>
                    <a:p>
                      <a:pPr algn="l">
                        <a:spcBef>
                          <a:spcPts val="0"/>
                        </a:spcBef>
                        <a:spcAft>
                          <a:spcPts val="0"/>
                        </a:spcAft>
                        <a:defRPr>
                          <a:solidFill/>
                        </a:defRPr>
                      </a:pPr>
                      <a:r>
                        <a:rPr sz="1000" b="1" i="0">
                          <a:solidFill>
                            <a:srgbClr val="5C0000"/>
                          </a:solidFill>
                          <a:latin typeface="Calibri"/>
                        </a:rPr>
                        <a:t>Base DCF $545 and 12m $1,003</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From Lumentum_Investment_Model.xlsx (case = Base). Bear/Bull 12m P/E cases replicated from the Assumptions tab (case 1/3); only Base values were cached in the xlsx snapshot.</a:t>
                      </a:r>
                    </a:p>
                  </a:txBody>
                  <a:tcPr anchor="ctr">
                    <a:marL sz="40000"/>
                    <a:marR sz="40000"/>
                    <a:marT sz="30000"/>
                    <a:marB sz="30000"/>
                    <a:solidFill>
                      <a:srgbClr val="FFFFFF"/>
                    </a:solidFill>
                  </a:tcPr>
                </a:tc>
              </a:tr>
              <a:tr h="375557">
                <a:tc>
                  <a:txBody>
                    <a:bodyPr/>
                    <a:lstStyle/>
                    <a:p>
                      <a:pPr algn="l">
                        <a:spcBef>
                          <a:spcPts val="0"/>
                        </a:spcBef>
                        <a:spcAft>
                          <a:spcPts val="0"/>
                        </a:spcAft>
                        <a:defRPr>
                          <a:solidFill/>
                        </a:defRPr>
                      </a:pPr>
                      <a:r>
                        <a:rPr sz="1000" b="1" i="0">
                          <a:solidFill>
                            <a:srgbClr val="5C0000"/>
                          </a:solidFill>
                          <a:latin typeface="Calibri"/>
                        </a:rPr>
                        <a:t>Training share 40% / 35%</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ASSUMPTION. Not disclosed. Bear haircut applies only to this exposed slice.</a:t>
                      </a:r>
                    </a:p>
                  </a:txBody>
                  <a:tcPr anchor="ctr">
                    <a:marL sz="40000"/>
                    <a:marR sz="40000"/>
                    <a:marT sz="30000"/>
                    <a:marB sz="30000"/>
                    <a:solidFill>
                      <a:srgbClr val="F5ECEC"/>
                    </a:solidFill>
                  </a:tcPr>
                </a:tc>
              </a:tr>
              <a:tr h="375557">
                <a:tc>
                  <a:txBody>
                    <a:bodyPr/>
                    <a:lstStyle/>
                    <a:p>
                      <a:pPr algn="l">
                        <a:spcBef>
                          <a:spcPts val="0"/>
                        </a:spcBef>
                        <a:spcAft>
                          <a:spcPts val="0"/>
                        </a:spcAft>
                        <a:defRPr>
                          <a:solidFill/>
                        </a:defRPr>
                      </a:pPr>
                      <a:r>
                        <a:rPr sz="1000" b="1" i="0">
                          <a:solidFill>
                            <a:srgbClr val="5C0000"/>
                          </a:solidFill>
                          <a:latin typeface="Calibri"/>
                        </a:rPr>
                        <a:t>102m diluted shares</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Proxy near Q4 adj. 101.1m. Not a convert-by-convert model.</a:t>
                      </a:r>
                    </a:p>
                  </a:txBody>
                  <a:tcPr anchor="ctr">
                    <a:marL sz="40000"/>
                    <a:marR sz="40000"/>
                    <a:marT sz="30000"/>
                    <a:marB sz="30000"/>
                    <a:solidFill>
                      <a:srgbClr val="FFFFFF"/>
                    </a:solidFill>
                  </a:tcPr>
                </a:tc>
              </a:tr>
              <a:tr h="375557">
                <a:tc>
                  <a:txBody>
                    <a:bodyPr/>
                    <a:lstStyle/>
                    <a:p>
                      <a:pPr algn="l">
                        <a:spcBef>
                          <a:spcPts val="0"/>
                        </a:spcBef>
                        <a:spcAft>
                          <a:spcPts val="0"/>
                        </a:spcAft>
                        <a:defRPr>
                          <a:solidFill/>
                        </a:defRPr>
                      </a:pPr>
                      <a:r>
                        <a:rPr sz="1000" b="1" i="0">
                          <a:solidFill>
                            <a:srgbClr val="5C0000"/>
                          </a:solidFill>
                          <a:latin typeface="Calibri"/>
                        </a:rPr>
                        <a:t>Secondary 14 Sep Meta/Alphabet/Microsoft tape</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From market wrap articles. Treat as color; LITE path above is the verified series.</a:t>
                      </a:r>
                    </a:p>
                  </a:txBody>
                  <a:tcPr anchor="ctr">
                    <a:marL sz="40000"/>
                    <a:marR sz="40000"/>
                    <a:marT sz="30000"/>
                    <a:marB sz="30000"/>
                    <a:solidFill>
                      <a:srgbClr val="F5ECEC"/>
                    </a:solidFill>
                  </a:tcPr>
                </a:tc>
              </a:tr>
              <a:tr h="375557">
                <a:tc>
                  <a:txBody>
                    <a:bodyPr/>
                    <a:lstStyle/>
                    <a:p>
                      <a:pPr algn="l">
                        <a:spcBef>
                          <a:spcPts val="0"/>
                        </a:spcBef>
                        <a:spcAft>
                          <a:spcPts val="0"/>
                        </a:spcAft>
                        <a:defRPr>
                          <a:solidFill/>
                        </a:defRPr>
                      </a:pPr>
                      <a:r>
                        <a:rPr sz="1000" b="1" i="0">
                          <a:solidFill>
                            <a:srgbClr val="5C0000"/>
                          </a:solidFill>
                          <a:latin typeface="Calibri"/>
                        </a:rPr>
                        <a:t>Hallucinations caught / avoided</a:t>
                      </a:r>
                    </a:p>
                  </a:txBody>
                  <a:tcPr anchor="ctr">
                    <a:marL sz="40000"/>
                    <a:marR sz="40000"/>
                    <a:marT sz="30000"/>
                    <a:marB sz="30000"/>
                    <a:solidFill>
                      <a:srgbClr val="FFFFFF"/>
                    </a:solidFill>
                  </a:tcPr>
                </a:tc>
                <a:tc>
                  <a:txBody>
                    <a:bodyPr/>
                    <a:lstStyle/>
                    <a:p>
                      <a:pPr algn="ctr">
                        <a:spcBef>
                          <a:spcPts val="0"/>
                        </a:spcBef>
                        <a:spcAft>
                          <a:spcPts val="0"/>
                        </a:spcAft>
                        <a:defRPr>
                          <a:solidFill/>
                        </a:defRPr>
                      </a:pPr>
                      <a:r>
                        <a:rPr sz="1000" b="0" i="0">
                          <a:solidFill>
                            <a:srgbClr val="222222"/>
                          </a:solidFill>
                          <a:latin typeface="Calibri"/>
                        </a:rPr>
                        <a:t>Did not use live quotes mixed with the 17 Sep freeze. Did not treat consensus forecast pages as audited. Did not add Greensboro as FY27 revenue. Did not claim LITE had zero Monday drawdown. Did not invent team-member names. Did not pretend DCF and 12m target agree.</a:t>
                      </a:r>
                    </a:p>
                  </a:txBody>
                  <a:tcPr anchor="ctr">
                    <a:marL sz="40000"/>
                    <a:marR sz="40000"/>
                    <a:marT sz="30000"/>
                    <a:marB sz="30000"/>
                    <a:solidFill>
                      <a:srgbClr val="FFFFFF"/>
                    </a:solidFill>
                  </a:tcPr>
                </a:tc>
              </a:tr>
              <a:tr h="375559">
                <a:tc>
                  <a:txBody>
                    <a:bodyPr/>
                    <a:lstStyle/>
                    <a:p>
                      <a:pPr algn="l">
                        <a:spcBef>
                          <a:spcPts val="0"/>
                        </a:spcBef>
                        <a:spcAft>
                          <a:spcPts val="0"/>
                        </a:spcAft>
                        <a:defRPr>
                          <a:solidFill/>
                        </a:defRPr>
                      </a:pPr>
                      <a:r>
                        <a:rPr sz="1000" b="1" i="0">
                          <a:solidFill>
                            <a:srgbClr val="5C0000"/>
                          </a:solidFill>
                          <a:latin typeface="Calibri"/>
                        </a:rPr>
                        <a:t>Still unresolved</a:t>
                      </a:r>
                    </a:p>
                  </a:txBody>
                  <a:tcPr anchor="ctr">
                    <a:marL sz="40000"/>
                    <a:marR sz="40000"/>
                    <a:marT sz="30000"/>
                    <a:marB sz="30000"/>
                    <a:solidFill>
                      <a:srgbClr val="F5ECEC"/>
                    </a:solidFill>
                  </a:tcPr>
                </a:tc>
                <a:tc>
                  <a:txBody>
                    <a:bodyPr/>
                    <a:lstStyle/>
                    <a:p>
                      <a:pPr algn="ctr">
                        <a:spcBef>
                          <a:spcPts val="0"/>
                        </a:spcBef>
                        <a:spcAft>
                          <a:spcPts val="0"/>
                        </a:spcAft>
                        <a:defRPr>
                          <a:solidFill/>
                        </a:defRPr>
                      </a:pPr>
                      <a:r>
                        <a:rPr sz="1000" b="0" i="0">
                          <a:solidFill>
                            <a:srgbClr val="222222"/>
                          </a:solidFill>
                          <a:latin typeface="Calibri"/>
                        </a:rPr>
                        <a:t>Training vs inference split; SKU units/ASPs; contract cancellation terms; exact current diluted shares; human review of this deck.</a:t>
                      </a:r>
                    </a:p>
                  </a:txBody>
                  <a:tcPr anchor="ctr">
                    <a:marL sz="40000"/>
                    <a:marR sz="40000"/>
                    <a:marT sz="30000"/>
                    <a:marB sz="30000"/>
                    <a:solidFill>
                      <a:srgbClr val="F5ECEC"/>
                    </a:solidFill>
                  </a:tcPr>
                </a:tc>
              </a:tr>
            </a:tbl>
          </a:graphicData>
        </a:graphic>
      </p:graphicFrame>
      <p:sp>
        <p:nvSpPr>
          <p:cNvPr id="6" name="Rectangle 5"/>
          <p:cNvSpPr/>
          <p:nvPr/>
        </p:nvSpPr>
        <p:spPr>
          <a:xfrm>
            <a:off x="0" y="6656832"/>
            <a:ext cx="12191695" cy="201168"/>
          </a:xfrm>
          <a:prstGeom prst="rect">
            <a:avLst/>
          </a:prstGeom>
          <a:solidFill>
            <a:srgbClr val="800000"/>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256032" y="6656832"/>
            <a:ext cx="10515600" cy="201168"/>
          </a:xfrm>
          <a:prstGeom prst="rect">
            <a:avLst/>
          </a:prstGeom>
          <a:noFill/>
          <a:ln>
            <a:solidFill/>
          </a:ln>
        </p:spPr>
        <p:txBody>
          <a:bodyPr wrap="square" anchor="ctr">
            <a:spAutoFit/>
          </a:bodyPr>
          <a:lstStyle/>
          <a:p>
            <a:pPr algn="l">
              <a:spcBef>
                <a:spcPts val="0"/>
              </a:spcBef>
              <a:spcAft>
                <a:spcPts val="200"/>
              </a:spcAft>
              <a:defRPr>
                <a:solidFill/>
              </a:defRPr>
            </a:pPr>
            <a:r>
              <a:rPr sz="800" b="0" i="0">
                <a:solidFill>
                  <a:srgbClr val="FFFFFF"/>
                </a:solidFill>
                <a:latin typeface="Calibri"/>
              </a:rPr>
              <a:t>UChicago AI-Enabled Investing Competition  |  18 September 2026  |  LONG LITE  |  Horizon 3–12 months  |  Sources on slide 10</a:t>
            </a:r>
          </a:p>
        </p:txBody>
      </p:sp>
      <p:sp>
        <p:nvSpPr>
          <p:cNvPr id="8" name="TextBox 7"/>
          <p:cNvSpPr txBox="1"/>
          <p:nvPr/>
        </p:nvSpPr>
        <p:spPr>
          <a:xfrm>
            <a:off x="11155680" y="6656832"/>
            <a:ext cx="822960" cy="201168"/>
          </a:xfrm>
          <a:prstGeom prst="rect">
            <a:avLst/>
          </a:prstGeom>
          <a:noFill/>
          <a:ln>
            <a:solidFill/>
          </a:ln>
        </p:spPr>
        <p:txBody>
          <a:bodyPr wrap="square" anchor="ctr">
            <a:spAutoFit/>
          </a:bodyPr>
          <a:lstStyle/>
          <a:p>
            <a:pPr algn="r">
              <a:spcBef>
                <a:spcPts val="0"/>
              </a:spcBef>
              <a:spcAft>
                <a:spcPts val="200"/>
              </a:spcAft>
              <a:defRPr>
                <a:solidFill/>
              </a:defRPr>
            </a:pPr>
            <a:r>
              <a:rPr sz="900" b="1" i="0">
                <a:solidFill>
                  <a:srgbClr val="FFFFFF"/>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