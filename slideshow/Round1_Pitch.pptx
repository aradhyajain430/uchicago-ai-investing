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9.xml" ContentType="application/vnd.openxmlformats-officedocument.presentationml.slide+xml"/>
  <Override PartName="/ppt/slides/slide26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5.xml" ContentType="application/vnd.openxmlformats-officedocument.presentationml.slide+xml"/>
  <Override PartName="/ppt/slides/slide89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7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slides/slide103.xml" ContentType="application/vnd.openxmlformats-officedocument.presentationml.slide+xml"/>
  <Override PartName="/ppt/slides/slide10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2"/>
  </p:notesMasterIdLst>
  <p:sldIdLst>
    <p:sldId id="256" r:id="rId2"/>
    <p:sldId id="257" r:id="rId9"/>
    <p:sldId id="258" r:id="rId27"/>
    <p:sldId id="259" r:id="rId98"/>
    <p:sldId id="260" r:id="rId90"/>
    <p:sldId id="261" r:id="rId14"/>
    <p:sldId id="262" r:id="rId43"/>
    <p:sldId id="263" r:id="rId44"/>
    <p:sldId id="264" r:id="rId20"/>
    <p:sldId id="265" r:id="rId7"/>
    <p:sldId id="266" r:id="rId115"/>
    <p:sldId id="267" r:id="rId114"/>
    <p:sldId id="268" r:id="rId4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4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7" roundtripDataSignature="AMtx7mj6jha3pyaTB0AT8qu12lDj3vZC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48DD78C-D2EE-4C9C-84D8-27A4B8C6E5E4}">
  <a:tblStyle styleId="{748DD78C-D2EE-4C9C-84D8-27A4B8C6E5E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8FC2556-BF69-4323-8612-11F3668809CA}" styleName="Table_1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7EA"/>
          </a:solidFill>
        </a:fill>
      </a:tcStyle>
    </a:wholeTbl>
    <a:band1H>
      <a:tcTxStyle b="off" i="off"/>
      <a:tcStyle>
        <a:tcBdr/>
        <a:fill>
          <a:solidFill>
            <a:srgbClr val="CACCD1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CCD1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03"/>
    <p:restoredTop sz="94675"/>
  </p:normalViewPr>
  <p:slideViewPr>
    <p:cSldViewPr snapToGrid="0">
      <p:cViewPr varScale="1">
        <p:scale>
          <a:sx n="114" d="100"/>
          <a:sy n="114" d="100"/>
        </p:scale>
        <p:origin x="184" y="280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07" Type="http://customschemas.google.com/relationships/presentationmetadata" Target="metadata"/><Relationship Id="rId102" Type="http://schemas.openxmlformats.org/officeDocument/2006/relationships/notesMaster" Target="notesMasters/notesMaster1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108" Type="http://schemas.openxmlformats.org/officeDocument/2006/relationships/presProps" Target="presProps.xml"/><Relationship Id="rId20" Type="http://schemas.openxmlformats.org/officeDocument/2006/relationships/slide" Target="slides/slide19.xml"/><Relationship Id="rId1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44" Type="http://schemas.openxmlformats.org/officeDocument/2006/relationships/slide" Target="slides/slide43.xml"/><Relationship Id="rId9" Type="http://schemas.openxmlformats.org/officeDocument/2006/relationships/slide" Target="slides/slide8.xml"/><Relationship Id="rId109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10" Type="http://schemas.openxmlformats.org/officeDocument/2006/relationships/theme" Target="theme/theme1.xml"/><Relationship Id="rId14" Type="http://schemas.openxmlformats.org/officeDocument/2006/relationships/slide" Target="slides/slide13.xml"/><Relationship Id="rId98" Type="http://schemas.openxmlformats.org/officeDocument/2006/relationships/slide" Target="slides/slide97.xml"/><Relationship Id="rId46" Type="http://schemas.openxmlformats.org/officeDocument/2006/relationships/slide" Target="slides/slide45.xml"/>  
  
  <Relationship Id="rId114" Type="http://schemas.openxmlformats.org/officeDocument/2006/relationships/slide" Target="slides/slide103.xml"/>
  <Relationship Id="rId115" Type="http://schemas.openxmlformats.org/officeDocument/2006/relationships/slide" Target="slides/slide104.xml"/>
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\gautam\Library\Group%20Containers\3L68KQB4HG.group.com.readdle.smartemail\databases\messagesData\4\30840\FTD%20Companies%20Inc%20NasdaqGS%20FTD%20Financials%20Income%20Statement.xlsx" TargetMode="External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6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>
                <a:solidFill>
                  <a:schemeClr val="accent6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[Chart title — replace data and title]</a:t>
            </a:r>
            <a:r>
              <a:rPr lang="en-US" baseline="0">
                <a:solidFill>
                  <a:schemeClr val="accent6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endParaRPr lang="en-US">
              <a:solidFill>
                <a:schemeClr val="accent6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layout>
        <c:manualLayout>
          <c:xMode val="edge"/>
          <c:yMode val="edge"/>
          <c:x val="0.39189688082025098"/>
          <c:y val="2.4729918138129199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areaChart>
        <c:grouping val="stacked"/>
        <c:varyColors val="0"/>
        <c:ser>
          <c:idx val="1"/>
          <c:order val="0"/>
          <c:tx>
            <c:v>2015 Revenue</c:v>
          </c:tx>
          <c:spPr>
            <a:solidFill>
              <a:srgbClr val="043460"/>
            </a:solidFill>
            <a:ln>
              <a:noFill/>
            </a:ln>
            <a:effectLst/>
          </c:spPr>
          <c:cat>
            <c:strRef>
              <c:f>'Income Statement'!$Z$15:$AC$15</c:f>
              <c:strCache>
                <c:ptCount val="4"/>
                <c:pt idx="0">
                  <c:v>
Q1
Mar-31-2018</c:v>
                </c:pt>
                <c:pt idx="1">
                  <c:v>
Q2
Jun-30-2018</c:v>
                </c:pt>
                <c:pt idx="2">
                  <c:v>
Q3
Sep-30-2018</c:v>
                </c:pt>
                <c:pt idx="3">
                  <c:v>
Q4
Dec-31-2018</c:v>
                </c:pt>
              </c:strCache>
            </c:strRef>
          </c:cat>
          <c:val>
            <c:numRef>
              <c:f>'Income Statement'!$Z$17:$AC$17</c:f>
              <c:numCache>
                <c:formatCode>_(* #,##0.0_);_(* \(#,##0.0\)_)\ ;_(* 0_)</c:formatCode>
                <c:ptCount val="4"/>
                <c:pt idx="0">
                  <c:v>318.17</c:v>
                </c:pt>
                <c:pt idx="1">
                  <c:v>299.92099999999971</c:v>
                </c:pt>
                <c:pt idx="2">
                  <c:v>148.62100000000001</c:v>
                </c:pt>
                <c:pt idx="3">
                  <c:v>247.53200000000001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60-4D48-B1BE-26F659925C7E}"/>
            </c:ext>
          </c:extLst>
        </c:ser>
        <c:ser>
          <c:idx val="2"/>
          <c:order val="1"/>
          <c:tx>
            <c:v>2016 Revenue</c:v>
          </c:tx>
          <c:spPr>
            <a:solidFill>
              <a:srgbClr val="606060"/>
            </a:solidFill>
            <a:ln w="25400">
              <a:noFill/>
            </a:ln>
            <a:effectLst/>
          </c:spPr>
          <c:cat>
            <c:strRef>
              <c:f>'Income Statement'!$Z$15:$AC$15</c:f>
              <c:strCache>
                <c:ptCount val="4"/>
                <c:pt idx="0">
                  <c:v>
Q1
Mar-31-2018</c:v>
                </c:pt>
                <c:pt idx="1">
                  <c:v>
Q2
Jun-30-2018</c:v>
                </c:pt>
                <c:pt idx="2">
                  <c:v>
Q3
Sep-30-2018</c:v>
                </c:pt>
                <c:pt idx="3">
                  <c:v>
Q4
Dec-31-2018</c:v>
                </c:pt>
              </c:strCache>
            </c:strRef>
          </c:cat>
          <c:val>
            <c:numRef>
              <c:f>'Income Statement'!$Z$18:$AC$18</c:f>
              <c:numCache>
                <c:formatCode>_(* #,##0.0_);_(* \(#,##0.0\)_)\ ;_(* 0_)</c:formatCode>
                <c:ptCount val="4"/>
                <c:pt idx="0">
                  <c:v>316.49299999999971</c:v>
                </c:pt>
                <c:pt idx="1">
                  <c:v>328.14600000000002</c:v>
                </c:pt>
                <c:pt idx="2">
                  <c:v>161.304</c:v>
                </c:pt>
                <c:pt idx="3">
                  <c:v>278.08499999999992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60-4D48-B1BE-26F659925C7E}"/>
            </c:ext>
          </c:extLst>
        </c:ser>
        <c:ser>
          <c:idx val="3"/>
          <c:order val="2"/>
          <c:tx>
            <c:v>2017 Revenue</c:v>
          </c:tx>
          <c:spPr>
            <a:solidFill>
              <a:srgbClr val="0A6261"/>
            </a:solidFill>
            <a:ln w="25400">
              <a:noFill/>
            </a:ln>
            <a:effectLst/>
          </c:spPr>
          <c:cat>
            <c:strRef>
              <c:f>'Income Statement'!$Z$15:$AC$15</c:f>
              <c:strCache>
                <c:ptCount val="4"/>
                <c:pt idx="0">
                  <c:v>
Q1
Mar-31-2018</c:v>
                </c:pt>
                <c:pt idx="1">
                  <c:v>
Q2
Jun-30-2018</c:v>
                </c:pt>
                <c:pt idx="2">
                  <c:v>
Q3
Sep-30-2018</c:v>
                </c:pt>
                <c:pt idx="3">
                  <c:v>
Q4
Dec-31-2018</c:v>
                </c:pt>
              </c:strCache>
            </c:strRef>
          </c:cat>
          <c:val>
            <c:numRef>
              <c:f>'Income Statement'!$Z$19:$AC$19</c:f>
              <c:numCache>
                <c:formatCode>_(* #,##0.0_);_(* \(#,##0.0\)_)\ ;_(* 0_)</c:formatCode>
                <c:ptCount val="4"/>
                <c:pt idx="0">
                  <c:v>330.214</c:v>
                </c:pt>
                <c:pt idx="1">
                  <c:v>338.23899999999969</c:v>
                </c:pt>
                <c:pt idx="2">
                  <c:v>172.87899999999999</c:v>
                </c:pt>
                <c:pt idx="3">
                  <c:v>280.66699999999992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60-4D48-B1BE-26F659925C7E}"/>
            </c:ext>
          </c:extLst>
        </c:ser>
        <c:ser>
          <c:idx val="4"/>
          <c:order val="3"/>
          <c:tx>
            <c:v>2018 Revenue</c:v>
          </c:tx>
          <c:spPr>
            <a:solidFill>
              <a:srgbClr val="7A7CD1"/>
            </a:solidFill>
            <a:ln w="25400">
              <a:noFill/>
            </a:ln>
            <a:effectLst/>
          </c:spPr>
          <c:cat>
            <c:strRef>
              <c:f>'Income Statement'!$Z$15:$AC$15</c:f>
              <c:strCache>
                <c:ptCount val="4"/>
                <c:pt idx="0">
                  <c:v>
Q1
Mar-31-2018</c:v>
                </c:pt>
                <c:pt idx="1">
                  <c:v>
Q2
Jun-30-2018</c:v>
                </c:pt>
                <c:pt idx="2">
                  <c:v>
Q3
Sep-30-2018</c:v>
                </c:pt>
                <c:pt idx="3">
                  <c:v>
Q4
Dec-31-2018</c:v>
                </c:pt>
              </c:strCache>
            </c:strRef>
          </c:cat>
          <c:val>
            <c:numRef>
              <c:f>'Income Statement'!$Z$20:$AC$20</c:f>
              <c:numCache>
                <c:formatCode>_(* #,##0.0_);_(* \(#,##0.0\)_)\ ;_(* 0_)</c:formatCode>
                <c:ptCount val="4"/>
                <c:pt idx="0">
                  <c:v>367.78099999999972</c:v>
                </c:pt>
                <c:pt idx="1">
                  <c:v>365.80099999999999</c:v>
                </c:pt>
                <c:pt idx="2">
                  <c:v>188.51900000000001</c:v>
                </c:pt>
                <c:pt idx="3">
                  <c:v>296.23200000000003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A60-4D48-B1BE-26F659925C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"/>
        <c:axId val="2"/>
      </c:areaChart>
      <c:catAx>
        <c:axId val="1"/>
        <c:scaling>
          <c:orientation val="minMax"/>
        </c:scaling>
        <c:delete val="0"/>
        <c:axPos val="b"/>
        <c:numFmt formatCode="&quot;$&quot;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0"/>
      </c:catAx>
      <c:valAx>
        <c:axId val="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>
          <a:uFillTx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40" name="Google Shape;140;p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0" name="Google Shape;1510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2" name="Google Shape;3812;p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3" name="Google Shape;3813;p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" name="Google Shape;4075;p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6" name="Google Shape;4076;p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65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67"/>
          <p:cNvSpPr/>
          <p:nvPr/>
        </p:nvSpPr>
        <p:spPr>
          <a:xfrm>
            <a:off x="4368800" y="5334000"/>
            <a:ext cx="7823200" cy="1371600"/>
          </a:xfrm>
          <a:prstGeom prst="rect">
            <a:avLst/>
          </a:prstGeom>
          <a:gradFill>
            <a:gsLst>
              <a:gs pos="0">
                <a:srgbClr val="003361">
                  <a:alpha val="33725"/>
                </a:srgbClr>
              </a:gs>
              <a:gs pos="78000">
                <a:srgbClr val="003361">
                  <a:alpha val="6274"/>
                </a:srgbClr>
              </a:gs>
              <a:gs pos="100000">
                <a:srgbClr val="E1E3E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67"/>
          <p:cNvSpPr txBox="1"/>
          <p:nvPr/>
        </p:nvSpPr>
        <p:spPr>
          <a:xfrm>
            <a:off x="9296400" y="0"/>
            <a:ext cx="28956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67"/>
          <p:cNvSpPr/>
          <p:nvPr/>
        </p:nvSpPr>
        <p:spPr>
          <a:xfrm>
            <a:off x="-1" y="0"/>
            <a:ext cx="6096001" cy="6857827"/>
          </a:xfrm>
          <a:custGeom>
            <a:avLst/>
            <a:gdLst/>
            <a:ahLst/>
            <a:cxnLst/>
            <a:rect l="l" t="t" r="r" b="b"/>
            <a:pathLst>
              <a:path w="3826588" h="6857827" extrusionOk="0">
                <a:moveTo>
                  <a:pt x="0" y="0"/>
                </a:moveTo>
                <a:lnTo>
                  <a:pt x="1828800" y="0"/>
                </a:lnTo>
                <a:lnTo>
                  <a:pt x="1828800" y="2"/>
                </a:lnTo>
                <a:lnTo>
                  <a:pt x="3826588" y="1"/>
                </a:lnTo>
                <a:lnTo>
                  <a:pt x="2289086" y="6857827"/>
                </a:lnTo>
                <a:lnTo>
                  <a:pt x="1828800" y="6857827"/>
                </a:lnTo>
                <a:lnTo>
                  <a:pt x="838200" y="6857827"/>
                </a:lnTo>
                <a:lnTo>
                  <a:pt x="0" y="685782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67"/>
          <p:cNvSpPr txBox="1">
            <a:spLocks noGrp="1"/>
          </p:cNvSpPr>
          <p:nvPr>
            <p:ph type="body" idx="1"/>
          </p:nvPr>
        </p:nvSpPr>
        <p:spPr>
          <a:xfrm>
            <a:off x="71437" y="1828887"/>
            <a:ext cx="391417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67"/>
          <p:cNvSpPr txBox="1">
            <a:spLocks noGrp="1"/>
          </p:cNvSpPr>
          <p:nvPr>
            <p:ph type="subTitle" idx="2"/>
          </p:nvPr>
        </p:nvSpPr>
        <p:spPr>
          <a:xfrm>
            <a:off x="211138" y="2438400"/>
            <a:ext cx="3914172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67"/>
          <p:cNvSpPr txBox="1">
            <a:spLocks noGrp="1"/>
          </p:cNvSpPr>
          <p:nvPr>
            <p:ph type="ctrTitle"/>
          </p:nvPr>
        </p:nvSpPr>
        <p:spPr>
          <a:xfrm>
            <a:off x="4368800" y="5486400"/>
            <a:ext cx="7518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8"/>
          <p:cNvSpPr txBox="1">
            <a:spLocks noGrp="1"/>
          </p:cNvSpPr>
          <p:nvPr>
            <p:ph type="title"/>
          </p:nvPr>
        </p:nvSpPr>
        <p:spPr>
          <a:xfrm>
            <a:off x="152400" y="20082"/>
            <a:ext cx="10413999" cy="66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8"/>
          <p:cNvSpPr txBox="1">
            <a:spLocks noGrp="1"/>
          </p:cNvSpPr>
          <p:nvPr>
            <p:ph type="body" idx="1"/>
          </p:nvPr>
        </p:nvSpPr>
        <p:spPr>
          <a:xfrm>
            <a:off x="11638722" y="6464632"/>
            <a:ext cx="546429" cy="39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200"/>
            </a:lvl1pPr>
            <a:lvl2pPr marL="91440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-"/>
              <a:defRPr/>
            </a:lvl2pPr>
            <a:lvl3pPr marL="1371600" lvl="2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9"/>
          <p:cNvSpPr/>
          <p:nvPr/>
        </p:nvSpPr>
        <p:spPr>
          <a:xfrm>
            <a:off x="0" y="733378"/>
            <a:ext cx="12192000" cy="665116"/>
          </a:xfrm>
          <a:prstGeom prst="rect">
            <a:avLst/>
          </a:prstGeom>
          <a:solidFill>
            <a:srgbClr val="D5E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" name="Google Shape;29;p69"/>
          <p:cNvCxnSpPr/>
          <p:nvPr/>
        </p:nvCxnSpPr>
        <p:spPr>
          <a:xfrm>
            <a:off x="0" y="1398221"/>
            <a:ext cx="12192000" cy="0"/>
          </a:xfrm>
          <a:prstGeom prst="straightConnector1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69"/>
          <p:cNvSpPr txBox="1">
            <a:spLocks noGrp="1"/>
          </p:cNvSpPr>
          <p:nvPr>
            <p:ph type="title"/>
          </p:nvPr>
        </p:nvSpPr>
        <p:spPr>
          <a:xfrm>
            <a:off x="115628" y="-1"/>
            <a:ext cx="10413999" cy="73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9"/>
          <p:cNvSpPr txBox="1">
            <a:spLocks noGrp="1"/>
          </p:cNvSpPr>
          <p:nvPr>
            <p:ph type="body" idx="1"/>
          </p:nvPr>
        </p:nvSpPr>
        <p:spPr>
          <a:xfrm>
            <a:off x="25661" y="856084"/>
            <a:ext cx="11914886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400"/>
            </a:lvl1pPr>
            <a:lvl2pPr marL="91440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-"/>
              <a:defRPr/>
            </a:lvl2pPr>
            <a:lvl3pPr marL="1371600" lvl="2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9"/>
          <p:cNvSpPr txBox="1">
            <a:spLocks noGrp="1"/>
          </p:cNvSpPr>
          <p:nvPr>
            <p:ph type="body" idx="2"/>
          </p:nvPr>
        </p:nvSpPr>
        <p:spPr>
          <a:xfrm>
            <a:off x="27273" y="6467650"/>
            <a:ext cx="40513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200"/>
            </a:lvl1pPr>
            <a:lvl2pPr marL="91440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-"/>
              <a:defRPr/>
            </a:lvl2pPr>
            <a:lvl3pPr marL="1371600" lvl="2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9"/>
          <p:cNvSpPr txBox="1">
            <a:spLocks noGrp="1"/>
          </p:cNvSpPr>
          <p:nvPr>
            <p:ph type="body" idx="3"/>
          </p:nvPr>
        </p:nvSpPr>
        <p:spPr>
          <a:xfrm>
            <a:off x="11638722" y="6464632"/>
            <a:ext cx="546429" cy="39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200"/>
            </a:lvl1pPr>
            <a:lvl2pPr marL="91440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-"/>
              <a:defRPr/>
            </a:lvl2pPr>
            <a:lvl3pPr marL="1371600" lvl="2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">
  <p:cSld name="1_Title Slid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050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71"/>
          <p:cNvSpPr/>
          <p:nvPr/>
        </p:nvSpPr>
        <p:spPr>
          <a:xfrm>
            <a:off x="2057400" y="5029200"/>
            <a:ext cx="10134600" cy="1828627"/>
          </a:xfrm>
          <a:prstGeom prst="rect">
            <a:avLst/>
          </a:prstGeom>
          <a:gradFill>
            <a:gsLst>
              <a:gs pos="0">
                <a:srgbClr val="003361">
                  <a:alpha val="48627"/>
                </a:srgbClr>
              </a:gs>
              <a:gs pos="77000">
                <a:srgbClr val="001B34">
                  <a:alpha val="6666"/>
                </a:srgbClr>
              </a:gs>
              <a:gs pos="100000">
                <a:srgbClr val="E1E3E7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71"/>
          <p:cNvSpPr txBox="1">
            <a:spLocks noGrp="1"/>
          </p:cNvSpPr>
          <p:nvPr>
            <p:ph type="ctrTitle"/>
          </p:nvPr>
        </p:nvSpPr>
        <p:spPr>
          <a:xfrm>
            <a:off x="4368800" y="5486400"/>
            <a:ext cx="7518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1"/>
          <p:cNvSpPr txBox="1"/>
          <p:nvPr/>
        </p:nvSpPr>
        <p:spPr>
          <a:xfrm>
            <a:off x="9296400" y="0"/>
            <a:ext cx="28956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71"/>
          <p:cNvSpPr/>
          <p:nvPr/>
        </p:nvSpPr>
        <p:spPr>
          <a:xfrm>
            <a:off x="0" y="0"/>
            <a:ext cx="3826588" cy="6857827"/>
          </a:xfrm>
          <a:custGeom>
            <a:avLst/>
            <a:gdLst/>
            <a:ahLst/>
            <a:cxnLst/>
            <a:rect l="l" t="t" r="r" b="b"/>
            <a:pathLst>
              <a:path w="3826588" h="6857827" extrusionOk="0">
                <a:moveTo>
                  <a:pt x="0" y="0"/>
                </a:moveTo>
                <a:lnTo>
                  <a:pt x="1828800" y="0"/>
                </a:lnTo>
                <a:lnTo>
                  <a:pt x="1828800" y="2"/>
                </a:lnTo>
                <a:lnTo>
                  <a:pt x="3826588" y="1"/>
                </a:lnTo>
                <a:lnTo>
                  <a:pt x="2289086" y="6857827"/>
                </a:lnTo>
                <a:lnTo>
                  <a:pt x="1828800" y="6857827"/>
                </a:lnTo>
                <a:lnTo>
                  <a:pt x="838200" y="6857827"/>
                </a:lnTo>
                <a:lnTo>
                  <a:pt x="0" y="685782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71"/>
          <p:cNvSpPr txBox="1">
            <a:spLocks noGrp="1"/>
          </p:cNvSpPr>
          <p:nvPr>
            <p:ph type="body" idx="1"/>
          </p:nvPr>
        </p:nvSpPr>
        <p:spPr>
          <a:xfrm>
            <a:off x="363538" y="1828887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71"/>
          <p:cNvSpPr txBox="1">
            <a:spLocks noGrp="1"/>
          </p:cNvSpPr>
          <p:nvPr>
            <p:ph type="subTitle" idx="2"/>
          </p:nvPr>
        </p:nvSpPr>
        <p:spPr>
          <a:xfrm>
            <a:off x="363538" y="2438400"/>
            <a:ext cx="2286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6"/>
          <p:cNvSpPr txBox="1">
            <a:spLocks noGrp="1"/>
          </p:cNvSpPr>
          <p:nvPr>
            <p:ph type="body" idx="1"/>
          </p:nvPr>
        </p:nvSpPr>
        <p:spPr>
          <a:xfrm>
            <a:off x="252663" y="838200"/>
            <a:ext cx="11736137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1" name="Google Shape;11;p66"/>
          <p:cNvSpPr/>
          <p:nvPr/>
        </p:nvSpPr>
        <p:spPr>
          <a:xfrm>
            <a:off x="0" y="-10499"/>
            <a:ext cx="12192000" cy="743877"/>
          </a:xfrm>
          <a:prstGeom prst="rect">
            <a:avLst/>
          </a:prstGeom>
          <a:solidFill>
            <a:srgbClr val="0033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66"/>
          <p:cNvSpPr txBox="1">
            <a:spLocks noGrp="1"/>
          </p:cNvSpPr>
          <p:nvPr>
            <p:ph type="title"/>
          </p:nvPr>
        </p:nvSpPr>
        <p:spPr>
          <a:xfrm>
            <a:off x="152400" y="-1"/>
            <a:ext cx="10413999" cy="73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3" name="Google Shape;13;p66"/>
          <p:cNvSpPr txBox="1">
            <a:spLocks noGrp="1"/>
          </p:cNvSpPr>
          <p:nvPr>
            <p:ph type="sldNum" idx="12"/>
          </p:nvPr>
        </p:nvSpPr>
        <p:spPr>
          <a:xfrm>
            <a:off x="9245600" y="63532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7" Type="http://schemas.openxmlformats.org/officeDocument/2006/relationships/image" Target="../media/image164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
<Relationships xmlns="http://schemas.openxmlformats.org/package/2006/relationships"><Relationship Id="rId3" Type="http://schemas.openxmlformats.org/officeDocument/2006/relationships/image" Target="../media/image160.png"/><Relationship Id="rId7" Type="http://schemas.openxmlformats.org/officeDocument/2006/relationships/image" Target="../media/image16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>
            <a:spLocks noGrp="1"/>
          </p:cNvSpPr>
          <p:nvPr>
            <p:ph type="body" idx="1"/>
          </p:nvPr>
        </p:nvSpPr>
        <p:spPr>
          <a:xfrm>
            <a:off x="457200" y="1965960"/>
            <a:ext cx="452628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[TICKER]: [LONG / SHORT] — Round 1 Investment Thesis</a:t>
            </a:r>
            <a:endParaRPr/>
          </a:p>
        </p:txBody>
      </p:sp>
      <p:sp>
        <p:nvSpPr>
          <p:cNvPr id="48" name="Google Shape;48;p1"/>
          <p:cNvSpPr txBox="1">
            <a:spLocks noGrp="1"/>
          </p:cNvSpPr>
          <p:nvPr>
            <p:ph type="subTitle" idx="2"/>
          </p:nvPr>
        </p:nvSpPr>
        <p:spPr>
          <a:xfrm>
            <a:off x="457200" y="3383280"/>
            <a:ext cx="45262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/>
              <a:t>[Team name] · [Member], [Member], [Member]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/>
              <a:t>UChicago AI-Enabled Investing Competition · September 18, 2026</a:t>
            </a:r>
            <a:endParaRPr/>
          </a:p>
        </p:txBody>
      </p:sp>
      <p:sp>
        <p:nvSpPr>
          <p:cNvPr id="49" name="Google Shape;49;p1"/>
          <p:cNvSpPr txBox="1">
            <a:spLocks noGrp="1"/>
          </p:cNvSpPr>
          <p:nvPr>
            <p:ph type="ctrTitle"/>
          </p:nvPr>
        </p:nvSpPr>
        <p:spPr>
          <a:xfrm>
            <a:off x="4368800" y="5486400"/>
            <a:ext cx="7518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6"/>
          <p:cNvSpPr txBox="1">
            <a:spLocks noGrp="1"/>
          </p:cNvSpPr>
          <p:nvPr>
            <p:ph type="title"/>
          </p:nvPr>
        </p:nvSpPr>
        <p:spPr>
          <a:xfrm>
            <a:off x="268028" y="-1"/>
            <a:ext cx="104139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AI-use log — where the model added leverage, and where we kept the judgment</a:t>
            </a:r>
            <a:endParaRPr/>
          </a:p>
        </p:txBody>
      </p:sp>
      <p:sp>
        <p:nvSpPr>
          <p:cNvPr id="143" name="Google Shape;143;p76"/>
          <p:cNvSpPr txBox="1">
            <a:spLocks noGrp="1"/>
          </p:cNvSpPr>
          <p:nvPr>
            <p:ph type="body" idx="1"/>
          </p:nvPr>
        </p:nvSpPr>
        <p:spPr>
          <a:xfrm>
            <a:off x="13135" y="748945"/>
            <a:ext cx="11914886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/>
              <a:t>Tools used: [Claude, ...]. Every figure below was cross-checked against a primary source; hallucinations are logged on slide 11.</a:t>
            </a:r>
            <a:endParaRPr/>
          </a:p>
        </p:txBody>
      </p:sp>
      <p:sp>
        <p:nvSpPr>
          <p:cNvPr id="144" name="Google Shape;144;p76"/>
          <p:cNvSpPr txBox="1">
            <a:spLocks noGrp="1"/>
          </p:cNvSpPr>
          <p:nvPr>
            <p:ph type="body" idx="2"/>
          </p:nvPr>
        </p:nvSpPr>
        <p:spPr>
          <a:xfrm>
            <a:off x="27273" y="6467650"/>
            <a:ext cx="40513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grpSp>
        <p:nvGrpSpPr>
          <p:cNvPr id="145" name="Google Shape;145;p76"/>
          <p:cNvGrpSpPr/>
          <p:nvPr/>
        </p:nvGrpSpPr>
        <p:grpSpPr>
          <a:xfrm>
            <a:off x="481868" y="1998241"/>
            <a:ext cx="11228265" cy="3919048"/>
            <a:chOff x="652230" y="1887401"/>
            <a:chExt cx="11228265" cy="3919048"/>
          </a:xfrm>
        </p:grpSpPr>
        <p:grpSp>
          <p:nvGrpSpPr>
            <p:cNvPr id="146" name="Google Shape;146;p76"/>
            <p:cNvGrpSpPr/>
            <p:nvPr/>
          </p:nvGrpSpPr>
          <p:grpSpPr>
            <a:xfrm>
              <a:off x="652230" y="1894496"/>
              <a:ext cx="4833888" cy="3911952"/>
              <a:chOff x="652230" y="1837346"/>
              <a:chExt cx="4833888" cy="3911952"/>
            </a:xfrm>
          </p:grpSpPr>
          <p:grpSp>
            <p:nvGrpSpPr>
              <p:cNvPr id="147" name="Google Shape;147;p76"/>
              <p:cNvGrpSpPr/>
              <p:nvPr/>
            </p:nvGrpSpPr>
            <p:grpSpPr>
              <a:xfrm>
                <a:off x="996831" y="1837346"/>
                <a:ext cx="4477608" cy="1023212"/>
                <a:chOff x="4507974" y="1600200"/>
                <a:chExt cx="3789503" cy="1023212"/>
              </a:xfrm>
            </p:grpSpPr>
            <p:sp>
              <p:nvSpPr>
                <p:cNvPr id="148" name="Google Shape;148;p76"/>
                <p:cNvSpPr/>
                <p:nvPr/>
              </p:nvSpPr>
              <p:spPr>
                <a:xfrm>
                  <a:off x="4507974" y="1600200"/>
                  <a:ext cx="3789503" cy="1023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9503" h="1023212" extrusionOk="0">
                      <a:moveTo>
                        <a:pt x="0" y="0"/>
                      </a:moveTo>
                      <a:lnTo>
                        <a:pt x="3788591" y="0"/>
                      </a:lnTo>
                      <a:lnTo>
                        <a:pt x="3788591" y="336330"/>
                      </a:lnTo>
                      <a:lnTo>
                        <a:pt x="3789503" y="336330"/>
                      </a:lnTo>
                      <a:lnTo>
                        <a:pt x="3789503" y="886865"/>
                      </a:lnTo>
                      <a:lnTo>
                        <a:pt x="3555966" y="886865"/>
                      </a:lnTo>
                      <a:lnTo>
                        <a:pt x="3378677" y="1023212"/>
                      </a:lnTo>
                      <a:lnTo>
                        <a:pt x="3201389" y="886865"/>
                      </a:lnTo>
                      <a:lnTo>
                        <a:pt x="0" y="886865"/>
                      </a:lnTo>
                      <a:lnTo>
                        <a:pt x="0" y="402377"/>
                      </a:lnTo>
                      <a:lnTo>
                        <a:pt x="0" y="33633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182875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None/>
                  </a:pPr>
                  <a:r>
                    <a:rPr lang="en-US"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[How the question was split into researchable parts,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None/>
                  </a:pPr>
                  <a:r>
                    <a:rPr lang="en-US"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and which parts we answered without the model]</a:t>
                  </a:r>
                  <a:endParaRPr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" name="Google Shape;149;p76"/>
                <p:cNvSpPr/>
                <p:nvPr/>
              </p:nvSpPr>
              <p:spPr>
                <a:xfrm>
                  <a:off x="4508886" y="1600200"/>
                  <a:ext cx="3788591" cy="303221"/>
                </a:xfrm>
                <a:prstGeom prst="rect">
                  <a:avLst/>
                </a:prstGeom>
                <a:solidFill>
                  <a:schemeClr val="accent2"/>
                </a:solidFill>
                <a:ln w="12700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lang="en-US" sz="1200" b="1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 — Decompose the prompt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0" name="Google Shape;150;p76"/>
              <p:cNvGrpSpPr/>
              <p:nvPr/>
            </p:nvGrpSpPr>
            <p:grpSpPr>
              <a:xfrm>
                <a:off x="995319" y="4871148"/>
                <a:ext cx="4487441" cy="878150"/>
                <a:chOff x="4507974" y="3617650"/>
                <a:chExt cx="3797825" cy="878150"/>
              </a:xfrm>
            </p:grpSpPr>
            <p:sp>
              <p:nvSpPr>
                <p:cNvPr id="151" name="Google Shape;151;p76"/>
                <p:cNvSpPr/>
                <p:nvPr/>
              </p:nvSpPr>
              <p:spPr>
                <a:xfrm>
                  <a:off x="4508412" y="3617650"/>
                  <a:ext cx="3797387" cy="87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7387" h="878150" extrusionOk="0">
                      <a:moveTo>
                        <a:pt x="0" y="0"/>
                      </a:moveTo>
                      <a:lnTo>
                        <a:pt x="3209167" y="0"/>
                      </a:lnTo>
                      <a:lnTo>
                        <a:pt x="3385136" y="134772"/>
                      </a:lnTo>
                      <a:lnTo>
                        <a:pt x="3561105" y="0"/>
                      </a:lnTo>
                      <a:lnTo>
                        <a:pt x="3796914" y="0"/>
                      </a:lnTo>
                      <a:lnTo>
                        <a:pt x="3796914" y="174786"/>
                      </a:lnTo>
                      <a:lnTo>
                        <a:pt x="3797387" y="174786"/>
                      </a:lnTo>
                      <a:lnTo>
                        <a:pt x="3797387" y="878150"/>
                      </a:lnTo>
                      <a:lnTo>
                        <a:pt x="2862" y="878150"/>
                      </a:lnTo>
                      <a:lnTo>
                        <a:pt x="2862" y="303221"/>
                      </a:lnTo>
                      <a:lnTo>
                        <a:pt x="0" y="3032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320025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None/>
                  </a:pPr>
                  <a:r>
                    <a:rPr lang="en-US"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[How each figure was traced to a primary source,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None/>
                  </a:pPr>
                  <a:r>
                    <a:rPr lang="en-US"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and what we cut when it could not be]</a:t>
                  </a:r>
                  <a:endParaRPr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6"/>
                <p:cNvSpPr/>
                <p:nvPr/>
              </p:nvSpPr>
              <p:spPr>
                <a:xfrm>
                  <a:off x="4507974" y="3620947"/>
                  <a:ext cx="3796914" cy="303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7880" h="303221" extrusionOk="0">
                      <a:moveTo>
                        <a:pt x="0" y="0"/>
                      </a:moveTo>
                      <a:lnTo>
                        <a:pt x="3193079" y="0"/>
                      </a:lnTo>
                      <a:lnTo>
                        <a:pt x="3368166" y="134772"/>
                      </a:lnTo>
                      <a:lnTo>
                        <a:pt x="3543253" y="0"/>
                      </a:lnTo>
                      <a:lnTo>
                        <a:pt x="3777880" y="0"/>
                      </a:lnTo>
                      <a:lnTo>
                        <a:pt x="3777880" y="303221"/>
                      </a:lnTo>
                      <a:lnTo>
                        <a:pt x="0" y="30322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2700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lang="en-US" sz="1200" b="1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 — Verify and write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6"/>
              <p:cNvGrpSpPr/>
              <p:nvPr/>
            </p:nvGrpSpPr>
            <p:grpSpPr>
              <a:xfrm>
                <a:off x="995389" y="2852453"/>
                <a:ext cx="4486983" cy="1023673"/>
                <a:chOff x="6790932" y="2761401"/>
                <a:chExt cx="3797437" cy="1023673"/>
              </a:xfrm>
            </p:grpSpPr>
            <p:sp>
              <p:nvSpPr>
                <p:cNvPr id="154" name="Google Shape;154;p76"/>
                <p:cNvSpPr/>
                <p:nvPr/>
              </p:nvSpPr>
              <p:spPr>
                <a:xfrm>
                  <a:off x="6790932" y="2761401"/>
                  <a:ext cx="3793691" cy="303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7880" h="303221" extrusionOk="0">
                      <a:moveTo>
                        <a:pt x="0" y="0"/>
                      </a:moveTo>
                      <a:lnTo>
                        <a:pt x="3193079" y="0"/>
                      </a:lnTo>
                      <a:lnTo>
                        <a:pt x="3368166" y="134772"/>
                      </a:lnTo>
                      <a:lnTo>
                        <a:pt x="3543253" y="0"/>
                      </a:lnTo>
                      <a:lnTo>
                        <a:pt x="3777880" y="0"/>
                      </a:lnTo>
                      <a:lnTo>
                        <a:pt x="3777880" y="303221"/>
                      </a:lnTo>
                      <a:lnTo>
                        <a:pt x="0" y="30322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2700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lang="en-US" sz="1200" b="1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 — Retrieve and reconcile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" name="Google Shape;155;p76"/>
                <p:cNvSpPr/>
                <p:nvPr/>
              </p:nvSpPr>
              <p:spPr>
                <a:xfrm>
                  <a:off x="6790932" y="2762455"/>
                  <a:ext cx="3797437" cy="10226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9757" h="1022619" extrusionOk="0">
                      <a:moveTo>
                        <a:pt x="0" y="0"/>
                      </a:moveTo>
                      <a:lnTo>
                        <a:pt x="3200336" y="0"/>
                      </a:lnTo>
                      <a:lnTo>
                        <a:pt x="3200417" y="62"/>
                      </a:lnTo>
                      <a:lnTo>
                        <a:pt x="3202508" y="62"/>
                      </a:lnTo>
                      <a:lnTo>
                        <a:pt x="3377245" y="134004"/>
                      </a:lnTo>
                      <a:lnTo>
                        <a:pt x="3552148" y="0"/>
                      </a:lnTo>
                      <a:lnTo>
                        <a:pt x="3787873" y="0"/>
                      </a:lnTo>
                      <a:lnTo>
                        <a:pt x="3787873" y="62"/>
                      </a:lnTo>
                      <a:lnTo>
                        <a:pt x="3789757" y="62"/>
                      </a:lnTo>
                      <a:lnTo>
                        <a:pt x="3789757" y="303283"/>
                      </a:lnTo>
                      <a:lnTo>
                        <a:pt x="3788566" y="303283"/>
                      </a:lnTo>
                      <a:lnTo>
                        <a:pt x="3788566" y="888836"/>
                      </a:lnTo>
                      <a:lnTo>
                        <a:pt x="3551579" y="888836"/>
                      </a:lnTo>
                      <a:lnTo>
                        <a:pt x="3377540" y="1022619"/>
                      </a:lnTo>
                      <a:lnTo>
                        <a:pt x="3203500" y="888836"/>
                      </a:lnTo>
                      <a:lnTo>
                        <a:pt x="0" y="888836"/>
                      </a:lnTo>
                      <a:close/>
                    </a:path>
                  </a:pathLst>
                </a:custGeom>
                <a:noFill/>
                <a:ln w="12700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11475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lang="en-US"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[What was gathered: filings, transcripts, forecasts —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lang="en-US"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and how conflicting sources were reconciled]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6" name="Google Shape;156;p76"/>
              <p:cNvGrpSpPr/>
              <p:nvPr/>
            </p:nvGrpSpPr>
            <p:grpSpPr>
              <a:xfrm>
                <a:off x="999135" y="3867979"/>
                <a:ext cx="4486983" cy="1023673"/>
                <a:chOff x="1222946" y="3995145"/>
                <a:chExt cx="3797437" cy="1023673"/>
              </a:xfrm>
            </p:grpSpPr>
            <p:sp>
              <p:nvSpPr>
                <p:cNvPr id="157" name="Google Shape;157;p76"/>
                <p:cNvSpPr/>
                <p:nvPr/>
              </p:nvSpPr>
              <p:spPr>
                <a:xfrm>
                  <a:off x="1222946" y="3995145"/>
                  <a:ext cx="3793691" cy="303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7880" h="303221" extrusionOk="0">
                      <a:moveTo>
                        <a:pt x="0" y="0"/>
                      </a:moveTo>
                      <a:lnTo>
                        <a:pt x="3193079" y="0"/>
                      </a:lnTo>
                      <a:lnTo>
                        <a:pt x="3368166" y="134772"/>
                      </a:lnTo>
                      <a:lnTo>
                        <a:pt x="3543253" y="0"/>
                      </a:lnTo>
                      <a:lnTo>
                        <a:pt x="3777880" y="0"/>
                      </a:lnTo>
                      <a:lnTo>
                        <a:pt x="3777880" y="303221"/>
                      </a:lnTo>
                      <a:lnTo>
                        <a:pt x="0" y="30322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2700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lang="en-US" sz="1200" b="1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 — Build and stress-test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" name="Google Shape;158;p76"/>
                <p:cNvSpPr/>
                <p:nvPr/>
              </p:nvSpPr>
              <p:spPr>
                <a:xfrm>
                  <a:off x="1222946" y="3996199"/>
                  <a:ext cx="3797437" cy="10226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9757" h="1022619" extrusionOk="0">
                      <a:moveTo>
                        <a:pt x="0" y="0"/>
                      </a:moveTo>
                      <a:lnTo>
                        <a:pt x="3200336" y="0"/>
                      </a:lnTo>
                      <a:lnTo>
                        <a:pt x="3200417" y="62"/>
                      </a:lnTo>
                      <a:lnTo>
                        <a:pt x="3202508" y="62"/>
                      </a:lnTo>
                      <a:lnTo>
                        <a:pt x="3377245" y="134004"/>
                      </a:lnTo>
                      <a:lnTo>
                        <a:pt x="3552148" y="0"/>
                      </a:lnTo>
                      <a:lnTo>
                        <a:pt x="3787873" y="0"/>
                      </a:lnTo>
                      <a:lnTo>
                        <a:pt x="3787873" y="62"/>
                      </a:lnTo>
                      <a:lnTo>
                        <a:pt x="3789757" y="62"/>
                      </a:lnTo>
                      <a:lnTo>
                        <a:pt x="3789757" y="303283"/>
                      </a:lnTo>
                      <a:lnTo>
                        <a:pt x="3788566" y="303283"/>
                      </a:lnTo>
                      <a:lnTo>
                        <a:pt x="3788566" y="888836"/>
                      </a:lnTo>
                      <a:lnTo>
                        <a:pt x="3551579" y="888836"/>
                      </a:lnTo>
                      <a:lnTo>
                        <a:pt x="3377540" y="1022619"/>
                      </a:lnTo>
                      <a:lnTo>
                        <a:pt x="3203500" y="888836"/>
                      </a:lnTo>
                      <a:lnTo>
                        <a:pt x="0" y="888836"/>
                      </a:lnTo>
                      <a:close/>
                    </a:path>
                  </a:pathLst>
                </a:custGeom>
                <a:noFill/>
                <a:ln w="12700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11475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lang="en-US"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[Where it accelerated the work: revenue build, comps,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lang="en-US" sz="12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case switch, and arguing against our own thesis]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9" name="Google Shape;159;p76"/>
              <p:cNvGrpSpPr/>
              <p:nvPr/>
            </p:nvGrpSpPr>
            <p:grpSpPr>
              <a:xfrm>
                <a:off x="652552" y="3959699"/>
                <a:ext cx="704535" cy="705625"/>
                <a:chOff x="4764894" y="5248716"/>
                <a:chExt cx="1460781" cy="1463040"/>
              </a:xfrm>
            </p:grpSpPr>
            <p:sp>
              <p:nvSpPr>
                <p:cNvPr id="160" name="Google Shape;160;p76"/>
                <p:cNvSpPr/>
                <p:nvPr/>
              </p:nvSpPr>
              <p:spPr>
                <a:xfrm>
                  <a:off x="4764894" y="5248716"/>
                  <a:ext cx="1460781" cy="146304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Trebuchet M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161" name="Google Shape;161;p7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5144514" y="5597962"/>
                  <a:ext cx="731520" cy="73456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62" name="Google Shape;162;p76"/>
              <p:cNvGrpSpPr/>
              <p:nvPr/>
            </p:nvGrpSpPr>
            <p:grpSpPr>
              <a:xfrm>
                <a:off x="652703" y="1933982"/>
                <a:ext cx="704535" cy="705625"/>
                <a:chOff x="10082957" y="3890677"/>
                <a:chExt cx="889824" cy="891200"/>
              </a:xfrm>
            </p:grpSpPr>
            <p:sp>
              <p:nvSpPr>
                <p:cNvPr id="163" name="Google Shape;163;p76"/>
                <p:cNvSpPr/>
                <p:nvPr/>
              </p:nvSpPr>
              <p:spPr>
                <a:xfrm>
                  <a:off x="10082957" y="3890677"/>
                  <a:ext cx="889824" cy="8912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Trebuchet M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164" name="Google Shape;164;p7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0342361" y="4082268"/>
                  <a:ext cx="358733" cy="53810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65" name="Google Shape;165;p76"/>
              <p:cNvGrpSpPr/>
              <p:nvPr/>
            </p:nvGrpSpPr>
            <p:grpSpPr>
              <a:xfrm>
                <a:off x="652971" y="2950335"/>
                <a:ext cx="704535" cy="705625"/>
                <a:chOff x="2647131" y="5512970"/>
                <a:chExt cx="1460781" cy="1463040"/>
              </a:xfrm>
            </p:grpSpPr>
            <p:sp>
              <p:nvSpPr>
                <p:cNvPr id="166" name="Google Shape;166;p76"/>
                <p:cNvSpPr/>
                <p:nvPr/>
              </p:nvSpPr>
              <p:spPr>
                <a:xfrm>
                  <a:off x="2647131" y="5512970"/>
                  <a:ext cx="1460781" cy="146304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Trebuchet M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167" name="Google Shape;167;p76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2937085" y="5868062"/>
                  <a:ext cx="880872" cy="7528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68" name="Google Shape;168;p76"/>
              <p:cNvGrpSpPr/>
              <p:nvPr/>
            </p:nvGrpSpPr>
            <p:grpSpPr>
              <a:xfrm>
                <a:off x="652230" y="4965497"/>
                <a:ext cx="704535" cy="705625"/>
                <a:chOff x="10082957" y="1649907"/>
                <a:chExt cx="889824" cy="891200"/>
              </a:xfrm>
            </p:grpSpPr>
            <p:sp>
              <p:nvSpPr>
                <p:cNvPr id="169" name="Google Shape;169;p76"/>
                <p:cNvSpPr/>
                <p:nvPr/>
              </p:nvSpPr>
              <p:spPr>
                <a:xfrm>
                  <a:off x="10082957" y="1649907"/>
                  <a:ext cx="889824" cy="8912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Trebuchet M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170" name="Google Shape;170;p76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10236197" y="1796058"/>
                  <a:ext cx="593342" cy="59523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71" name="Google Shape;171;p76"/>
            <p:cNvGrpSpPr/>
            <p:nvPr/>
          </p:nvGrpSpPr>
          <p:grpSpPr>
            <a:xfrm>
              <a:off x="6429268" y="1887401"/>
              <a:ext cx="5451227" cy="3919048"/>
              <a:chOff x="6177808" y="1830251"/>
              <a:chExt cx="5451227" cy="3919048"/>
            </a:xfrm>
          </p:grpSpPr>
          <p:grpSp>
            <p:nvGrpSpPr>
              <p:cNvPr id="172" name="Google Shape;172;p76"/>
              <p:cNvGrpSpPr/>
              <p:nvPr/>
            </p:nvGrpSpPr>
            <p:grpSpPr>
              <a:xfrm>
                <a:off x="6177808" y="1830251"/>
                <a:ext cx="5451227" cy="3919048"/>
                <a:chOff x="4911972" y="3658576"/>
                <a:chExt cx="5451227" cy="3919048"/>
              </a:xfrm>
            </p:grpSpPr>
            <p:sp>
              <p:nvSpPr>
                <p:cNvPr id="173" name="Google Shape;173;p76"/>
                <p:cNvSpPr txBox="1"/>
                <p:nvPr/>
              </p:nvSpPr>
              <p:spPr>
                <a:xfrm>
                  <a:off x="4911972" y="3659768"/>
                  <a:ext cx="5451227" cy="39178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11475" rIns="91425" bIns="45700" anchor="t" anchorCtr="0">
                  <a:noAutofit/>
                </a:bodyPr>
                <a:lstStyle/>
                <a:p>
                  <a:pPr marL="171450" marR="0" lvl="0" indent="-17145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60"/>
                    <a:buFont typeface="Noto Sans Symbols"/>
                    <a:buChar char="▪"/>
                  </a:pPr>
                  <a:r>
                    <a:rPr lang="en-US" sz="12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[Creative method 1 — e.g. adversarial prompting to </a:t>
                  </a:r>
                  <a:r>
                    <a:rPr lang="en-US" sz="1200" b="1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generate the bear case before we wrote the bull case</a:t>
                  </a:r>
                  <a:r>
                    <a:rPr lang="en-US" sz="12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]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171450" marR="0" lvl="0" indent="-11049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60"/>
                    <a:buFont typeface="Noto Sans Symbols"/>
                    <a:buNone/>
                  </a:pPr>
                  <a:endParaRPr sz="1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171450" marR="0" lvl="0" indent="-17145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60"/>
                    <a:buFont typeface="Noto Sans Symbols"/>
                    <a:buChar char="▪"/>
                  </a:pPr>
                  <a:r>
                    <a:rPr lang="en-US" sz="12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[Creative method 2 — e.g. use in the Excel model: formula construction, sensitivity grid, or scenario switch logic]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171450" marR="0" lvl="0" indent="-11049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60"/>
                    <a:buFont typeface="Noto Sans Symbols"/>
                    <a:buNone/>
                  </a:pPr>
                  <a:endParaRPr sz="1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171450" marR="0" lvl="0" indent="-17145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60"/>
                    <a:buFont typeface="Noto Sans Symbols"/>
                    <a:buChar char="▪"/>
                  </a:pPr>
                  <a:r>
                    <a:rPr lang="en-US" sz="12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[What we deliberately did NOT use AI for: the recommendation, the sizing, and the final numbers in the model]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341313" marR="0" lvl="1" indent="-9525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171450" marR="0" lvl="0" indent="-9525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Noto Sans Symbols"/>
                    <a:buNone/>
                  </a:pPr>
                  <a:endParaRPr sz="1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6"/>
                <p:cNvSpPr/>
                <p:nvPr/>
              </p:nvSpPr>
              <p:spPr>
                <a:xfrm>
                  <a:off x="4911972" y="3658576"/>
                  <a:ext cx="2149948" cy="303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48" h="303221" extrusionOk="0">
                      <a:moveTo>
                        <a:pt x="0" y="0"/>
                      </a:moveTo>
                      <a:lnTo>
                        <a:pt x="193427" y="0"/>
                      </a:lnTo>
                      <a:lnTo>
                        <a:pt x="1755353" y="0"/>
                      </a:lnTo>
                      <a:lnTo>
                        <a:pt x="1948780" y="0"/>
                      </a:lnTo>
                      <a:lnTo>
                        <a:pt x="1948780" y="433"/>
                      </a:lnTo>
                      <a:lnTo>
                        <a:pt x="1956521" y="433"/>
                      </a:lnTo>
                      <a:lnTo>
                        <a:pt x="2149948" y="433"/>
                      </a:lnTo>
                      <a:lnTo>
                        <a:pt x="1948780" y="302185"/>
                      </a:lnTo>
                      <a:lnTo>
                        <a:pt x="1948780" y="303221"/>
                      </a:lnTo>
                      <a:lnTo>
                        <a:pt x="1755353" y="303221"/>
                      </a:lnTo>
                      <a:lnTo>
                        <a:pt x="193427" y="303221"/>
                      </a:lnTo>
                      <a:lnTo>
                        <a:pt x="0" y="30322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7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lang="en-US" sz="1200" b="1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Creative uses</a:t>
                  </a:r>
                  <a:endParaRPr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6"/>
              <p:cNvGrpSpPr/>
              <p:nvPr/>
            </p:nvGrpSpPr>
            <p:grpSpPr>
              <a:xfrm>
                <a:off x="6386905" y="3825237"/>
                <a:ext cx="4802138" cy="1629660"/>
                <a:chOff x="6399262" y="3952403"/>
                <a:chExt cx="4802138" cy="1629660"/>
              </a:xfrm>
            </p:grpSpPr>
          </p:grpSp>
        </p:grpSp>
        <p:sp>
          <p:nvSpPr>
            <p:cNvPr id="180" name="Google Shape;180;p76"/>
            <p:cNvSpPr/>
            <p:nvPr/>
          </p:nvSpPr>
          <p:spPr>
            <a:xfrm rot="5400000">
              <a:off x="4001715" y="3648355"/>
              <a:ext cx="3911953" cy="404235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" name="Google Shape;181;p76"/>
          <p:cNvSpPr txBox="1">
            <a:spLocks noGrp="1"/>
          </p:cNvSpPr>
          <p:nvPr>
            <p:ph type="body" idx="4294967295"/>
          </p:nvPr>
        </p:nvSpPr>
        <p:spPr>
          <a:xfrm>
            <a:off x="11695942" y="6464632"/>
            <a:ext cx="489209" cy="39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200"/>
              <a:t>10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8"/>
          <p:cNvSpPr txBox="1">
            <a:spLocks noGrp="1"/>
          </p:cNvSpPr>
          <p:nvPr>
            <p:ph type="title"/>
          </p:nvPr>
        </p:nvSpPr>
        <p:spPr>
          <a:xfrm>
            <a:off x="152400" y="20082"/>
            <a:ext cx="10413999" cy="66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[Recommendation in one sentence: we are LONG/SHORT [TICKER] to [$target], [X]% upside]</a:t>
            </a:r>
            <a:endParaRPr/>
          </a:p>
        </p:txBody>
      </p:sp>
      <p:sp>
        <p:nvSpPr>
          <p:cNvPr id="194" name="Google Shape;194;p78"/>
          <p:cNvSpPr txBox="1"/>
          <p:nvPr/>
        </p:nvSpPr>
        <p:spPr>
          <a:xfrm>
            <a:off x="551793" y="1198179"/>
            <a:ext cx="11398470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the market priced — [the de-rating and what it assumed]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[Drawdown: from $X on [date] to $Y on 14 Sept, a Z% move]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[The two events the market conflated]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[The multiple it now trades on, versus its own range]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variant view — [the one thing consensus has wrong]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[The misread, stated plainly]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[The evidence that contradicts it, with a source and date]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[Why the gap has not closed yet]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the trade gets paid — [the catalyst path and the return]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[Catalyst 1 and date]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[Catalyst 2 and date]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Entry [$X] · Target [$Y] · Downside [$Z] · Return [N]% · Horizon [N] months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8"/>
          <p:cNvSpPr/>
          <p:nvPr/>
        </p:nvSpPr>
        <p:spPr>
          <a:xfrm>
            <a:off x="241737" y="1264778"/>
            <a:ext cx="289034" cy="843244"/>
          </a:xfrm>
          <a:prstGeom prst="rect">
            <a:avLst/>
          </a:prstGeom>
          <a:solidFill>
            <a:srgbClr val="D5ECFF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6" name="Google Shape;196;p78"/>
          <p:cNvSpPr/>
          <p:nvPr/>
        </p:nvSpPr>
        <p:spPr>
          <a:xfrm>
            <a:off x="241737" y="2340124"/>
            <a:ext cx="289034" cy="843244"/>
          </a:xfrm>
          <a:prstGeom prst="rect">
            <a:avLst/>
          </a:prstGeom>
          <a:solidFill>
            <a:srgbClr val="D5ECFF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7" name="Google Shape;197;p78"/>
          <p:cNvSpPr/>
          <p:nvPr/>
        </p:nvSpPr>
        <p:spPr>
          <a:xfrm>
            <a:off x="241737" y="3415470"/>
            <a:ext cx="289034" cy="843244"/>
          </a:xfrm>
          <a:prstGeom prst="rect">
            <a:avLst/>
          </a:prstGeom>
          <a:solidFill>
            <a:srgbClr val="D5ECFF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98" name="Google Shape;198;p78"/>
          <p:cNvSpPr txBox="1"/>
          <p:nvPr/>
        </p:nvSpPr>
        <p:spPr>
          <a:xfrm>
            <a:off x="11695942" y="6464632"/>
            <a:ext cx="489209" cy="39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3"/>
          <p:cNvSpPr txBox="1">
            <a:spLocks noGrp="1"/>
          </p:cNvSpPr>
          <p:nvPr>
            <p:ph type="title"/>
          </p:nvPr>
        </p:nvSpPr>
        <p:spPr>
          <a:xfrm>
            <a:off x="115628" y="-1"/>
            <a:ext cx="10413999" cy="73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Thesis 3 — [the claim, stated as a sentence a judge can repeat]</a:t>
            </a:r>
            <a:endParaRPr/>
          </a:p>
        </p:txBody>
      </p:sp>
      <p:sp>
        <p:nvSpPr>
          <p:cNvPr id="306" name="Google Shape;306;p83"/>
          <p:cNvSpPr txBox="1">
            <a:spLocks noGrp="1"/>
          </p:cNvSpPr>
          <p:nvPr>
            <p:ph type="body" idx="1"/>
          </p:nvPr>
        </p:nvSpPr>
        <p:spPr>
          <a:xfrm>
            <a:off x="13135" y="747797"/>
            <a:ext cx="11914886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/>
              <a:t>[One line on what this pillar adds that the first two do not.]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07" name="Google Shape;307;p83"/>
          <p:cNvSpPr txBox="1">
            <a:spLocks noGrp="1"/>
          </p:cNvSpPr>
          <p:nvPr>
            <p:ph type="body" idx="2"/>
          </p:nvPr>
        </p:nvSpPr>
        <p:spPr>
          <a:xfrm>
            <a:off x="27273" y="6467650"/>
            <a:ext cx="40513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grpSp>
        <p:nvGrpSpPr>
          <p:cNvPr id="308" name="Google Shape;308;p83"/>
          <p:cNvGrpSpPr/>
          <p:nvPr/>
        </p:nvGrpSpPr>
        <p:grpSpPr>
          <a:xfrm>
            <a:off x="421399" y="1890184"/>
            <a:ext cx="2658277" cy="915778"/>
            <a:chOff x="389723" y="3089609"/>
            <a:chExt cx="2658277" cy="915778"/>
          </a:xfrm>
        </p:grpSpPr>
        <p:sp>
          <p:nvSpPr>
            <p:cNvPr id="309" name="Google Shape;309;p83"/>
            <p:cNvSpPr txBox="1"/>
            <p:nvPr/>
          </p:nvSpPr>
          <p:spPr>
            <a:xfrm>
              <a:off x="389723" y="3090801"/>
              <a:ext cx="2658277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[Stated in one line]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[Why it is not consensus]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claim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83"/>
          <p:cNvGrpSpPr/>
          <p:nvPr/>
        </p:nvGrpSpPr>
        <p:grpSpPr>
          <a:xfrm>
            <a:off x="8489455" y="1888806"/>
            <a:ext cx="3281568" cy="4114800"/>
            <a:chOff x="389723" y="3089609"/>
            <a:chExt cx="3281568" cy="4039382"/>
          </a:xfrm>
        </p:grpSpPr>
        <p:sp>
          <p:nvSpPr>
            <p:cNvPr id="312" name="Google Shape;312;p83"/>
            <p:cNvSpPr txBox="1"/>
            <p:nvPr/>
          </p:nvSpPr>
          <p:spPr>
            <a:xfrm>
              <a:off x="389723" y="3090800"/>
              <a:ext cx="3281568" cy="4038191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Contribution to target: [$X] of [$Y]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Confidence: [High / Medium / Low]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Proof point to watch: [metric]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If this pillar is wrong: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476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[Effect on the target price and whether the thesis still stands on the other two]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Verified against: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476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[Filing, transcript, or forecaster report, with date]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[ 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4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Pillar summary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" name="Google Shape;314;p83"/>
          <p:cNvGrpSpPr/>
          <p:nvPr/>
        </p:nvGrpSpPr>
        <p:grpSpPr>
          <a:xfrm>
            <a:off x="3231655" y="1890184"/>
            <a:ext cx="5105400" cy="915778"/>
            <a:chOff x="389723" y="3089609"/>
            <a:chExt cx="5105400" cy="915778"/>
          </a:xfrm>
        </p:grpSpPr>
        <p:sp>
          <p:nvSpPr>
            <p:cNvPr id="315" name="Google Shape;315;p83"/>
            <p:cNvSpPr txBox="1"/>
            <p:nvPr/>
          </p:nvSpPr>
          <p:spPr>
            <a:xfrm>
              <a:off x="389723" y="3090801"/>
              <a:ext cx="5105400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[What the street is anchored on, and why that anchor is stale or incomplete]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Why it is missed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" name="Google Shape;317;p83"/>
          <p:cNvGrpSpPr/>
          <p:nvPr/>
        </p:nvGrpSpPr>
        <p:grpSpPr>
          <a:xfrm>
            <a:off x="421399" y="2954228"/>
            <a:ext cx="2658277" cy="915778"/>
            <a:chOff x="389723" y="3089609"/>
            <a:chExt cx="2658277" cy="915778"/>
          </a:xfrm>
        </p:grpSpPr>
        <p:sp>
          <p:nvSpPr>
            <p:cNvPr id="318" name="Google Shape;318;p83"/>
            <p:cNvSpPr txBox="1"/>
            <p:nvPr/>
          </p:nvSpPr>
          <p:spPr>
            <a:xfrm>
              <a:off x="389723" y="3090801"/>
              <a:ext cx="2658277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[Figure and date]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[Primary source]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Evidence 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0" name="Google Shape;320;p83"/>
          <p:cNvGrpSpPr/>
          <p:nvPr/>
        </p:nvGrpSpPr>
        <p:grpSpPr>
          <a:xfrm>
            <a:off x="3232076" y="2955606"/>
            <a:ext cx="5104979" cy="915778"/>
            <a:chOff x="389723" y="3089609"/>
            <a:chExt cx="5104979" cy="915778"/>
          </a:xfrm>
        </p:grpSpPr>
        <p:sp>
          <p:nvSpPr>
            <p:cNvPr id="321" name="Google Shape;321;p83"/>
            <p:cNvSpPr txBox="1"/>
            <p:nvPr/>
          </p:nvSpPr>
          <p:spPr>
            <a:xfrm>
              <a:off x="389723" y="3090801"/>
              <a:ext cx="5104979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[Figure and date]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[Primary source]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Evidence 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83"/>
          <p:cNvGrpSpPr/>
          <p:nvPr/>
        </p:nvGrpSpPr>
        <p:grpSpPr>
          <a:xfrm>
            <a:off x="421820" y="4019650"/>
            <a:ext cx="2658277" cy="915778"/>
            <a:chOff x="389723" y="3089609"/>
            <a:chExt cx="2658277" cy="915778"/>
          </a:xfrm>
        </p:grpSpPr>
        <p:sp>
          <p:nvSpPr>
            <p:cNvPr id="324" name="Google Shape;324;p83"/>
            <p:cNvSpPr txBox="1"/>
            <p:nvPr/>
          </p:nvSpPr>
          <p:spPr>
            <a:xfrm>
              <a:off x="389723" y="3090801"/>
              <a:ext cx="2658277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[Figure and date]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[Primary source]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Evidence 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" name="Google Shape;326;p83"/>
          <p:cNvGrpSpPr/>
          <p:nvPr/>
        </p:nvGrpSpPr>
        <p:grpSpPr>
          <a:xfrm>
            <a:off x="3232497" y="4021028"/>
            <a:ext cx="2742358" cy="915778"/>
            <a:chOff x="389723" y="3089609"/>
            <a:chExt cx="2742358" cy="915778"/>
          </a:xfrm>
        </p:grpSpPr>
        <p:sp>
          <p:nvSpPr>
            <p:cNvPr id="327" name="Google Shape;327;p83"/>
            <p:cNvSpPr txBox="1"/>
            <p:nvPr/>
          </p:nvSpPr>
          <p:spPr>
            <a:xfrm>
              <a:off x="389723" y="3090801"/>
              <a:ext cx="2742358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[Assumption driven]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[Value used and why]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Model link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" name="Google Shape;329;p83"/>
          <p:cNvGrpSpPr/>
          <p:nvPr/>
        </p:nvGrpSpPr>
        <p:grpSpPr>
          <a:xfrm>
            <a:off x="421399" y="5087828"/>
            <a:ext cx="2658277" cy="915778"/>
            <a:chOff x="389723" y="3089609"/>
            <a:chExt cx="2658277" cy="915778"/>
          </a:xfrm>
        </p:grpSpPr>
        <p:sp>
          <p:nvSpPr>
            <p:cNvPr id="330" name="Google Shape;330;p83"/>
            <p:cNvSpPr txBox="1"/>
            <p:nvPr/>
          </p:nvSpPr>
          <p:spPr>
            <a:xfrm>
              <a:off x="389723" y="3090801"/>
              <a:ext cx="2658277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[Effect on revenue or margin]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[Effect on the target price]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Quantified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2" name="Google Shape;332;p83"/>
          <p:cNvGrpSpPr/>
          <p:nvPr/>
        </p:nvGrpSpPr>
        <p:grpSpPr>
          <a:xfrm>
            <a:off x="3232076" y="5089206"/>
            <a:ext cx="2742779" cy="915778"/>
            <a:chOff x="389723" y="3089609"/>
            <a:chExt cx="2742779" cy="915778"/>
          </a:xfrm>
        </p:grpSpPr>
        <p:sp>
          <p:nvSpPr>
            <p:cNvPr id="333" name="Google Shape;333;p83"/>
            <p:cNvSpPr txBox="1"/>
            <p:nvPr/>
          </p:nvSpPr>
          <p:spPr>
            <a:xfrm>
              <a:off x="389723" y="3090801"/>
              <a:ext cx="2742779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[When it becomes visible]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[In which disclosure]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Timing</a:t>
              </a:r>
              <a:endPara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83"/>
          <p:cNvGrpSpPr/>
          <p:nvPr/>
        </p:nvGrpSpPr>
        <p:grpSpPr>
          <a:xfrm>
            <a:off x="6128097" y="4025454"/>
            <a:ext cx="2208537" cy="915778"/>
            <a:chOff x="389723" y="3089609"/>
            <a:chExt cx="2208537" cy="915778"/>
          </a:xfrm>
        </p:grpSpPr>
        <p:sp>
          <p:nvSpPr>
            <p:cNvPr id="336" name="Google Shape;336;p83"/>
            <p:cNvSpPr txBox="1"/>
            <p:nvPr/>
          </p:nvSpPr>
          <p:spPr>
            <a:xfrm>
              <a:off x="389723" y="3090801"/>
              <a:ext cx="2208537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[The strongest objection]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Counterpoint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8" name="Google Shape;338;p83"/>
          <p:cNvGrpSpPr/>
          <p:nvPr/>
        </p:nvGrpSpPr>
        <p:grpSpPr>
          <a:xfrm>
            <a:off x="6127676" y="5093632"/>
            <a:ext cx="2208959" cy="915778"/>
            <a:chOff x="389723" y="3089609"/>
            <a:chExt cx="2208959" cy="915778"/>
          </a:xfrm>
        </p:grpSpPr>
        <p:sp>
          <p:nvSpPr>
            <p:cNvPr id="339" name="Google Shape;339;p83"/>
            <p:cNvSpPr txBox="1"/>
            <p:nvPr/>
          </p:nvSpPr>
          <p:spPr>
            <a:xfrm>
              <a:off x="389724" y="3090801"/>
              <a:ext cx="2208958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[Why we still hold it]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Our answer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1" name="Google Shape;341;p83"/>
          <p:cNvSpPr txBox="1"/>
          <p:nvPr/>
        </p:nvSpPr>
        <p:spPr>
          <a:xfrm>
            <a:off x="11638722" y="6464632"/>
            <a:ext cx="546429" cy="39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9"/>
          <p:cNvSpPr txBox="1">
            <a:spLocks noGrp="1"/>
          </p:cNvSpPr>
          <p:nvPr>
            <p:ph type="title"/>
          </p:nvPr>
        </p:nvSpPr>
        <p:spPr>
          <a:xfrm>
            <a:off x="115628" y="-1"/>
            <a:ext cx="10413999" cy="73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How and when the trade gets paid — [N] catalysts over the next [N] months</a:t>
            </a:r>
            <a:endParaRPr/>
          </a:p>
        </p:txBody>
      </p:sp>
      <p:sp>
        <p:nvSpPr>
          <p:cNvPr id="536" name="Google Shape;536;p89"/>
          <p:cNvSpPr txBox="1">
            <a:spLocks noGrp="1"/>
          </p:cNvSpPr>
          <p:nvPr>
            <p:ph type="body" idx="1"/>
          </p:nvPr>
        </p:nvSpPr>
        <p:spPr>
          <a:xfrm>
            <a:off x="25661" y="856084"/>
            <a:ext cx="11914886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[One line on which catalyst carries the most weight and why the market is not yet positioned for it.]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537" name="Google Shape;537;p89"/>
          <p:cNvSpPr txBox="1">
            <a:spLocks noGrp="1"/>
          </p:cNvSpPr>
          <p:nvPr>
            <p:ph type="body" idx="2"/>
          </p:nvPr>
        </p:nvSpPr>
        <p:spPr>
          <a:xfrm>
            <a:off x="27273" y="6467650"/>
            <a:ext cx="40513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grpSp>
        <p:nvGrpSpPr>
          <p:cNvPr id="538" name="Google Shape;538;p89"/>
          <p:cNvGrpSpPr/>
          <p:nvPr/>
        </p:nvGrpSpPr>
        <p:grpSpPr>
          <a:xfrm>
            <a:off x="1941029" y="2135406"/>
            <a:ext cx="8309942" cy="1572218"/>
            <a:chOff x="1600199" y="2027235"/>
            <a:chExt cx="8309942" cy="1572218"/>
          </a:xfrm>
        </p:grpSpPr>
        <p:grpSp>
          <p:nvGrpSpPr>
            <p:cNvPr id="539" name="Google Shape;539;p89"/>
            <p:cNvGrpSpPr/>
            <p:nvPr/>
          </p:nvGrpSpPr>
          <p:grpSpPr>
            <a:xfrm>
              <a:off x="1600199" y="2027235"/>
              <a:ext cx="2815260" cy="1554165"/>
              <a:chOff x="1600199" y="2027235"/>
              <a:chExt cx="2815260" cy="1554165"/>
            </a:xfrm>
          </p:grpSpPr>
          <p:sp>
            <p:nvSpPr>
              <p:cNvPr id="540" name="Google Shape;540;p89"/>
              <p:cNvSpPr/>
              <p:nvPr/>
            </p:nvSpPr>
            <p:spPr>
              <a:xfrm>
                <a:off x="1602587" y="2030890"/>
                <a:ext cx="2664614" cy="1550510"/>
              </a:xfrm>
              <a:custGeom>
                <a:avLst/>
                <a:gdLst/>
                <a:ahLst/>
                <a:cxnLst/>
                <a:rect l="l" t="t" r="r" b="b"/>
                <a:pathLst>
                  <a:path w="3782537" h="1004879" extrusionOk="0">
                    <a:moveTo>
                      <a:pt x="0" y="0"/>
                    </a:moveTo>
                    <a:lnTo>
                      <a:pt x="3782537" y="0"/>
                    </a:lnTo>
                    <a:lnTo>
                      <a:pt x="3782537" y="1004879"/>
                    </a:lnTo>
                    <a:lnTo>
                      <a:pt x="0" y="1004879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182875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[The event, what we expect it to show, and how much of the target it unlocks]</a:t>
                </a: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89"/>
              <p:cNvSpPr/>
              <p:nvPr/>
            </p:nvSpPr>
            <p:spPr>
              <a:xfrm>
                <a:off x="1600199" y="2027235"/>
                <a:ext cx="2815260" cy="303573"/>
              </a:xfrm>
              <a:custGeom>
                <a:avLst/>
                <a:gdLst/>
                <a:ahLst/>
                <a:cxnLst/>
                <a:rect l="l" t="t" r="r" b="b"/>
                <a:pathLst>
                  <a:path w="2815260" h="303573" extrusionOk="0">
                    <a:moveTo>
                      <a:pt x="2663473" y="0"/>
                    </a:moveTo>
                    <a:lnTo>
                      <a:pt x="2663473" y="0"/>
                    </a:lnTo>
                    <a:lnTo>
                      <a:pt x="2666295" y="0"/>
                    </a:lnTo>
                    <a:lnTo>
                      <a:pt x="2666295" y="2822"/>
                    </a:lnTo>
                    <a:lnTo>
                      <a:pt x="2815260" y="151787"/>
                    </a:lnTo>
                    <a:lnTo>
                      <a:pt x="2666295" y="300751"/>
                    </a:lnTo>
                    <a:lnTo>
                      <a:pt x="2666295" y="303221"/>
                    </a:lnTo>
                    <a:lnTo>
                      <a:pt x="2663825" y="303221"/>
                    </a:lnTo>
                    <a:lnTo>
                      <a:pt x="2663473" y="303573"/>
                    </a:lnTo>
                    <a:lnTo>
                      <a:pt x="2663473" y="303221"/>
                    </a:lnTo>
                    <a:lnTo>
                      <a:pt x="0" y="303221"/>
                    </a:lnTo>
                    <a:lnTo>
                      <a:pt x="0" y="0"/>
                    </a:lnTo>
                    <a:lnTo>
                      <a:pt x="266347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18287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Catalyst 1 — [date]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2" name="Google Shape;542;p89"/>
            <p:cNvGrpSpPr/>
            <p:nvPr/>
          </p:nvGrpSpPr>
          <p:grpSpPr>
            <a:xfrm>
              <a:off x="4421988" y="2035278"/>
              <a:ext cx="2812873" cy="1554165"/>
              <a:chOff x="4421988" y="2035278"/>
              <a:chExt cx="2812873" cy="1554165"/>
            </a:xfrm>
          </p:grpSpPr>
          <p:sp>
            <p:nvSpPr>
              <p:cNvPr id="543" name="Google Shape;543;p89"/>
              <p:cNvSpPr/>
              <p:nvPr/>
            </p:nvSpPr>
            <p:spPr>
              <a:xfrm>
                <a:off x="4421988" y="2038933"/>
                <a:ext cx="2664614" cy="1550510"/>
              </a:xfrm>
              <a:custGeom>
                <a:avLst/>
                <a:gdLst/>
                <a:ahLst/>
                <a:cxnLst/>
                <a:rect l="l" t="t" r="r" b="b"/>
                <a:pathLst>
                  <a:path w="2664614" h="1550510" extrusionOk="0">
                    <a:moveTo>
                      <a:pt x="3900" y="0"/>
                    </a:moveTo>
                    <a:lnTo>
                      <a:pt x="2664614" y="0"/>
                    </a:lnTo>
                    <a:lnTo>
                      <a:pt x="2664614" y="1550510"/>
                    </a:lnTo>
                    <a:lnTo>
                      <a:pt x="0" y="1550510"/>
                    </a:lnTo>
                    <a:lnTo>
                      <a:pt x="0" y="301957"/>
                    </a:lnTo>
                    <a:lnTo>
                      <a:pt x="152928" y="149029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182875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[The event, what we expect it to show, and how much of the target it unlocks]</a:t>
                </a: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89"/>
              <p:cNvSpPr/>
              <p:nvPr/>
            </p:nvSpPr>
            <p:spPr>
              <a:xfrm>
                <a:off x="4423130" y="2035278"/>
                <a:ext cx="2811731" cy="303573"/>
              </a:xfrm>
              <a:custGeom>
                <a:avLst/>
                <a:gdLst/>
                <a:ahLst/>
                <a:cxnLst/>
                <a:rect l="l" t="t" r="r" b="b"/>
                <a:pathLst>
                  <a:path w="2811731" h="303573" extrusionOk="0">
                    <a:moveTo>
                      <a:pt x="0" y="0"/>
                    </a:moveTo>
                    <a:lnTo>
                      <a:pt x="2659944" y="0"/>
                    </a:lnTo>
                    <a:lnTo>
                      <a:pt x="2662766" y="0"/>
                    </a:lnTo>
                    <a:lnTo>
                      <a:pt x="2662766" y="2822"/>
                    </a:lnTo>
                    <a:lnTo>
                      <a:pt x="2811731" y="151787"/>
                    </a:lnTo>
                    <a:lnTo>
                      <a:pt x="2662766" y="300751"/>
                    </a:lnTo>
                    <a:lnTo>
                      <a:pt x="2662766" y="303221"/>
                    </a:lnTo>
                    <a:lnTo>
                      <a:pt x="2660296" y="303221"/>
                    </a:lnTo>
                    <a:lnTo>
                      <a:pt x="2659944" y="303573"/>
                    </a:lnTo>
                    <a:lnTo>
                      <a:pt x="2659944" y="303221"/>
                    </a:lnTo>
                    <a:lnTo>
                      <a:pt x="352" y="303221"/>
                    </a:lnTo>
                    <a:lnTo>
                      <a:pt x="151786" y="151787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18287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Catalyst 2 — [date]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5" name="Google Shape;545;p89"/>
            <p:cNvGrpSpPr/>
            <p:nvPr/>
          </p:nvGrpSpPr>
          <p:grpSpPr>
            <a:xfrm>
              <a:off x="7245527" y="2045288"/>
              <a:ext cx="2664614" cy="1554165"/>
              <a:chOff x="7245527" y="2045288"/>
              <a:chExt cx="2664614" cy="1554165"/>
            </a:xfrm>
          </p:grpSpPr>
          <p:sp>
            <p:nvSpPr>
              <p:cNvPr id="546" name="Google Shape;546;p89"/>
              <p:cNvSpPr/>
              <p:nvPr/>
            </p:nvSpPr>
            <p:spPr>
              <a:xfrm>
                <a:off x="7245527" y="2048943"/>
                <a:ext cx="2664614" cy="1550510"/>
              </a:xfrm>
              <a:custGeom>
                <a:avLst/>
                <a:gdLst/>
                <a:ahLst/>
                <a:cxnLst/>
                <a:rect l="l" t="t" r="r" b="b"/>
                <a:pathLst>
                  <a:path w="2664614" h="1550510" extrusionOk="0">
                    <a:moveTo>
                      <a:pt x="3900" y="0"/>
                    </a:moveTo>
                    <a:lnTo>
                      <a:pt x="2664614" y="0"/>
                    </a:lnTo>
                    <a:lnTo>
                      <a:pt x="2664614" y="1550510"/>
                    </a:lnTo>
                    <a:lnTo>
                      <a:pt x="0" y="1550510"/>
                    </a:lnTo>
                    <a:lnTo>
                      <a:pt x="0" y="301957"/>
                    </a:lnTo>
                    <a:lnTo>
                      <a:pt x="152928" y="149029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182875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[The event, what we expect it to show, and how much of the target it unlocks]</a:t>
                </a: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89"/>
              <p:cNvSpPr/>
              <p:nvPr/>
            </p:nvSpPr>
            <p:spPr>
              <a:xfrm>
                <a:off x="7246669" y="2045288"/>
                <a:ext cx="2663472" cy="303573"/>
              </a:xfrm>
              <a:custGeom>
                <a:avLst/>
                <a:gdLst/>
                <a:ahLst/>
                <a:cxnLst/>
                <a:rect l="l" t="t" r="r" b="b"/>
                <a:pathLst>
                  <a:path w="2674138" h="303573" extrusionOk="0">
                    <a:moveTo>
                      <a:pt x="0" y="0"/>
                    </a:moveTo>
                    <a:lnTo>
                      <a:pt x="2659944" y="0"/>
                    </a:lnTo>
                    <a:lnTo>
                      <a:pt x="2662766" y="0"/>
                    </a:lnTo>
                    <a:lnTo>
                      <a:pt x="2662766" y="2822"/>
                    </a:lnTo>
                    <a:lnTo>
                      <a:pt x="2674138" y="14194"/>
                    </a:lnTo>
                    <a:lnTo>
                      <a:pt x="2674138" y="289379"/>
                    </a:lnTo>
                    <a:lnTo>
                      <a:pt x="2662766" y="300751"/>
                    </a:lnTo>
                    <a:lnTo>
                      <a:pt x="2662766" y="303221"/>
                    </a:lnTo>
                    <a:lnTo>
                      <a:pt x="2660296" y="303221"/>
                    </a:lnTo>
                    <a:lnTo>
                      <a:pt x="2659944" y="303573"/>
                    </a:lnTo>
                    <a:lnTo>
                      <a:pt x="2659944" y="303221"/>
                    </a:lnTo>
                    <a:lnTo>
                      <a:pt x="352" y="303221"/>
                    </a:lnTo>
                    <a:lnTo>
                      <a:pt x="151786" y="151787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137150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Catalyst 3 — [date]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8" name="Google Shape;548;p89"/>
          <p:cNvGrpSpPr/>
          <p:nvPr/>
        </p:nvGrpSpPr>
        <p:grpSpPr>
          <a:xfrm>
            <a:off x="1943912" y="3992188"/>
            <a:ext cx="8309942" cy="1572218"/>
            <a:chOff x="1600199" y="2027235"/>
            <a:chExt cx="8309942" cy="1572218"/>
          </a:xfrm>
        </p:grpSpPr>
        <p:grpSp>
          <p:nvGrpSpPr>
            <p:cNvPr id="549" name="Google Shape;549;p89"/>
            <p:cNvGrpSpPr/>
            <p:nvPr/>
          </p:nvGrpSpPr>
          <p:grpSpPr>
            <a:xfrm>
              <a:off x="1600199" y="2027235"/>
              <a:ext cx="2815260" cy="1554165"/>
              <a:chOff x="1600199" y="2027235"/>
              <a:chExt cx="2815260" cy="1554165"/>
            </a:xfrm>
          </p:grpSpPr>
          <p:sp>
            <p:nvSpPr>
              <p:cNvPr id="550" name="Google Shape;550;p89"/>
              <p:cNvSpPr/>
              <p:nvPr/>
            </p:nvSpPr>
            <p:spPr>
              <a:xfrm>
                <a:off x="1602587" y="2030890"/>
                <a:ext cx="2664614" cy="1550510"/>
              </a:xfrm>
              <a:custGeom>
                <a:avLst/>
                <a:gdLst/>
                <a:ahLst/>
                <a:cxnLst/>
                <a:rect l="l" t="t" r="r" b="b"/>
                <a:pathLst>
                  <a:path w="3782537" h="1004879" extrusionOk="0">
                    <a:moveTo>
                      <a:pt x="0" y="0"/>
                    </a:moveTo>
                    <a:lnTo>
                      <a:pt x="3782537" y="0"/>
                    </a:lnTo>
                    <a:lnTo>
                      <a:pt x="3782537" y="1004879"/>
                    </a:lnTo>
                    <a:lnTo>
                      <a:pt x="0" y="1004879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182875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[What specifically causes the multiple to move, not just the earnings]</a:t>
                </a: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89"/>
              <p:cNvSpPr/>
              <p:nvPr/>
            </p:nvSpPr>
            <p:spPr>
              <a:xfrm>
                <a:off x="1600199" y="2027235"/>
                <a:ext cx="2815260" cy="303573"/>
              </a:xfrm>
              <a:custGeom>
                <a:avLst/>
                <a:gdLst/>
                <a:ahLst/>
                <a:cxnLst/>
                <a:rect l="l" t="t" r="r" b="b"/>
                <a:pathLst>
                  <a:path w="2815260" h="303573" extrusionOk="0">
                    <a:moveTo>
                      <a:pt x="2663473" y="0"/>
                    </a:moveTo>
                    <a:lnTo>
                      <a:pt x="2663473" y="0"/>
                    </a:lnTo>
                    <a:lnTo>
                      <a:pt x="2666295" y="0"/>
                    </a:lnTo>
                    <a:lnTo>
                      <a:pt x="2666295" y="2822"/>
                    </a:lnTo>
                    <a:lnTo>
                      <a:pt x="2815260" y="151787"/>
                    </a:lnTo>
                    <a:lnTo>
                      <a:pt x="2666295" y="300751"/>
                    </a:lnTo>
                    <a:lnTo>
                      <a:pt x="2666295" y="303221"/>
                    </a:lnTo>
                    <a:lnTo>
                      <a:pt x="2663825" y="303221"/>
                    </a:lnTo>
                    <a:lnTo>
                      <a:pt x="2663473" y="303573"/>
                    </a:lnTo>
                    <a:lnTo>
                      <a:pt x="2663473" y="303221"/>
                    </a:lnTo>
                    <a:lnTo>
                      <a:pt x="0" y="303221"/>
                    </a:lnTo>
                    <a:lnTo>
                      <a:pt x="0" y="0"/>
                    </a:lnTo>
                    <a:lnTo>
                      <a:pt x="266347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18287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Re-rating trigger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2" name="Google Shape;552;p89"/>
            <p:cNvGrpSpPr/>
            <p:nvPr/>
          </p:nvGrpSpPr>
          <p:grpSpPr>
            <a:xfrm>
              <a:off x="4421988" y="2035278"/>
              <a:ext cx="2812873" cy="1554165"/>
              <a:chOff x="4421988" y="2035278"/>
              <a:chExt cx="2812873" cy="1554165"/>
            </a:xfrm>
          </p:grpSpPr>
          <p:sp>
            <p:nvSpPr>
              <p:cNvPr id="553" name="Google Shape;553;p89"/>
              <p:cNvSpPr/>
              <p:nvPr/>
            </p:nvSpPr>
            <p:spPr>
              <a:xfrm>
                <a:off x="4421988" y="2038933"/>
                <a:ext cx="2664614" cy="1550510"/>
              </a:xfrm>
              <a:custGeom>
                <a:avLst/>
                <a:gdLst/>
                <a:ahLst/>
                <a:cxnLst/>
                <a:rect l="l" t="t" r="r" b="b"/>
                <a:pathLst>
                  <a:path w="2664614" h="1550510" extrusionOk="0">
                    <a:moveTo>
                      <a:pt x="3900" y="0"/>
                    </a:moveTo>
                    <a:lnTo>
                      <a:pt x="2664614" y="0"/>
                    </a:lnTo>
                    <a:lnTo>
                      <a:pt x="2664614" y="1550510"/>
                    </a:lnTo>
                    <a:lnTo>
                      <a:pt x="0" y="1550510"/>
                    </a:lnTo>
                    <a:lnTo>
                      <a:pt x="0" y="301957"/>
                    </a:lnTo>
                    <a:lnTo>
                      <a:pt x="152928" y="149029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182875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[The level or the data point at which we exit rather than average down]</a:t>
                </a: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89"/>
              <p:cNvSpPr/>
              <p:nvPr/>
            </p:nvSpPr>
            <p:spPr>
              <a:xfrm>
                <a:off x="4423130" y="2035278"/>
                <a:ext cx="2811731" cy="303573"/>
              </a:xfrm>
              <a:custGeom>
                <a:avLst/>
                <a:gdLst/>
                <a:ahLst/>
                <a:cxnLst/>
                <a:rect l="l" t="t" r="r" b="b"/>
                <a:pathLst>
                  <a:path w="2811731" h="303573" extrusionOk="0">
                    <a:moveTo>
                      <a:pt x="0" y="0"/>
                    </a:moveTo>
                    <a:lnTo>
                      <a:pt x="2659944" y="0"/>
                    </a:lnTo>
                    <a:lnTo>
                      <a:pt x="2662766" y="0"/>
                    </a:lnTo>
                    <a:lnTo>
                      <a:pt x="2662766" y="2822"/>
                    </a:lnTo>
                    <a:lnTo>
                      <a:pt x="2811731" y="151787"/>
                    </a:lnTo>
                    <a:lnTo>
                      <a:pt x="2662766" y="300751"/>
                    </a:lnTo>
                    <a:lnTo>
                      <a:pt x="2662766" y="303221"/>
                    </a:lnTo>
                    <a:lnTo>
                      <a:pt x="2660296" y="303221"/>
                    </a:lnTo>
                    <a:lnTo>
                      <a:pt x="2659944" y="303573"/>
                    </a:lnTo>
                    <a:lnTo>
                      <a:pt x="2659944" y="303221"/>
                    </a:lnTo>
                    <a:lnTo>
                      <a:pt x="352" y="303221"/>
                    </a:lnTo>
                    <a:lnTo>
                      <a:pt x="151786" y="151787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18287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Stop / re-underwrite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5" name="Google Shape;555;p89"/>
            <p:cNvGrpSpPr/>
            <p:nvPr/>
          </p:nvGrpSpPr>
          <p:grpSpPr>
            <a:xfrm>
              <a:off x="7245527" y="2045288"/>
              <a:ext cx="2664614" cy="1554165"/>
              <a:chOff x="7245527" y="2045288"/>
              <a:chExt cx="2664614" cy="1554165"/>
            </a:xfrm>
          </p:grpSpPr>
          <p:sp>
            <p:nvSpPr>
              <p:cNvPr id="556" name="Google Shape;556;p89"/>
              <p:cNvSpPr/>
              <p:nvPr/>
            </p:nvSpPr>
            <p:spPr>
              <a:xfrm>
                <a:off x="7245527" y="2048943"/>
                <a:ext cx="2664614" cy="1550510"/>
              </a:xfrm>
              <a:custGeom>
                <a:avLst/>
                <a:gdLst/>
                <a:ahLst/>
                <a:cxnLst/>
                <a:rect l="l" t="t" r="r" b="b"/>
                <a:pathLst>
                  <a:path w="2664614" h="1550510" extrusionOk="0">
                    <a:moveTo>
                      <a:pt x="3900" y="0"/>
                    </a:moveTo>
                    <a:lnTo>
                      <a:pt x="2664614" y="0"/>
                    </a:lnTo>
                    <a:lnTo>
                      <a:pt x="2664614" y="1550510"/>
                    </a:lnTo>
                    <a:lnTo>
                      <a:pt x="0" y="1550510"/>
                    </a:lnTo>
                    <a:lnTo>
                      <a:pt x="0" y="301957"/>
                    </a:lnTo>
                    <a:lnTo>
                      <a:pt x="152928" y="149029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182875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[Size, entry, and how we scale in or out around the catalyst dates]</a:t>
                </a: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89"/>
              <p:cNvSpPr/>
              <p:nvPr/>
            </p:nvSpPr>
            <p:spPr>
              <a:xfrm>
                <a:off x="7246669" y="2045288"/>
                <a:ext cx="2663472" cy="303573"/>
              </a:xfrm>
              <a:custGeom>
                <a:avLst/>
                <a:gdLst/>
                <a:ahLst/>
                <a:cxnLst/>
                <a:rect l="l" t="t" r="r" b="b"/>
                <a:pathLst>
                  <a:path w="2674138" h="303573" extrusionOk="0">
                    <a:moveTo>
                      <a:pt x="0" y="0"/>
                    </a:moveTo>
                    <a:lnTo>
                      <a:pt x="2659944" y="0"/>
                    </a:lnTo>
                    <a:lnTo>
                      <a:pt x="2662766" y="0"/>
                    </a:lnTo>
                    <a:lnTo>
                      <a:pt x="2662766" y="2822"/>
                    </a:lnTo>
                    <a:lnTo>
                      <a:pt x="2674138" y="14194"/>
                    </a:lnTo>
                    <a:lnTo>
                      <a:pt x="2674138" y="289379"/>
                    </a:lnTo>
                    <a:lnTo>
                      <a:pt x="2662766" y="300751"/>
                    </a:lnTo>
                    <a:lnTo>
                      <a:pt x="2662766" y="303221"/>
                    </a:lnTo>
                    <a:lnTo>
                      <a:pt x="2660296" y="303221"/>
                    </a:lnTo>
                    <a:lnTo>
                      <a:pt x="2659944" y="303573"/>
                    </a:lnTo>
                    <a:lnTo>
                      <a:pt x="2659944" y="303221"/>
                    </a:lnTo>
                    <a:lnTo>
                      <a:pt x="352" y="303221"/>
                    </a:lnTo>
                    <a:lnTo>
                      <a:pt x="151786" y="151787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137150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Position and sizing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58" name="Google Shape;558;p89"/>
          <p:cNvSpPr txBox="1"/>
          <p:nvPr/>
        </p:nvSpPr>
        <p:spPr>
          <a:xfrm>
            <a:off x="11638722" y="6464632"/>
            <a:ext cx="546429" cy="39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96"/>
          <p:cNvSpPr txBox="1">
            <a:spLocks noGrp="1"/>
          </p:cNvSpPr>
          <p:nvPr>
            <p:ph type="title"/>
          </p:nvPr>
        </p:nvSpPr>
        <p:spPr>
          <a:xfrm>
            <a:off x="115628" y="-1"/>
            <a:ext cx="10413999" cy="73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14 September sell-off priced a capex pullback the essay itself does not call for</a:t>
            </a:r>
            <a:endParaRPr/>
          </a:p>
        </p:txBody>
      </p:sp>
      <p:sp>
        <p:nvSpPr>
          <p:cNvPr id="836" name="Google Shape;836;p96"/>
          <p:cNvSpPr txBox="1">
            <a:spLocks noGrp="1"/>
          </p:cNvSpPr>
          <p:nvPr>
            <p:ph type="body" idx="1"/>
          </p:nvPr>
        </p:nvSpPr>
        <p:spPr>
          <a:xfrm>
            <a:off x="13135" y="759829"/>
            <a:ext cx="11914886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Two unrelated events landed on the same weekend. We think the de-rating is narrative, not fundamental — and that is the trade.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837" name="Google Shape;837;p96"/>
          <p:cNvSpPr txBox="1">
            <a:spLocks noGrp="1"/>
          </p:cNvSpPr>
          <p:nvPr>
            <p:ph type="body" idx="2"/>
          </p:nvPr>
        </p:nvSpPr>
        <p:spPr>
          <a:xfrm>
            <a:off x="27273" y="6467650"/>
            <a:ext cx="40513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grpSp>
        <p:nvGrpSpPr>
          <p:cNvPr id="838" name="Google Shape;838;p96"/>
          <p:cNvGrpSpPr/>
          <p:nvPr/>
        </p:nvGrpSpPr>
        <p:grpSpPr>
          <a:xfrm>
            <a:off x="153764" y="1461352"/>
            <a:ext cx="11774257" cy="4994265"/>
            <a:chOff x="223049" y="1385190"/>
            <a:chExt cx="11616026" cy="5137086"/>
          </a:xfrm>
        </p:grpSpPr>
        <p:sp>
          <p:nvSpPr>
            <p:cNvPr id="839" name="Google Shape;839;p96"/>
            <p:cNvSpPr/>
            <p:nvPr/>
          </p:nvSpPr>
          <p:spPr>
            <a:xfrm>
              <a:off x="2389863" y="5366275"/>
              <a:ext cx="9332899" cy="1144869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96"/>
            <p:cNvSpPr/>
            <p:nvPr/>
          </p:nvSpPr>
          <p:spPr>
            <a:xfrm>
              <a:off x="2389863" y="3016721"/>
              <a:ext cx="9332899" cy="1144869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96"/>
            <p:cNvSpPr/>
            <p:nvPr/>
          </p:nvSpPr>
          <p:spPr>
            <a:xfrm>
              <a:off x="630512" y="1834468"/>
              <a:ext cx="1687882" cy="1168967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96"/>
            <p:cNvSpPr/>
            <p:nvPr/>
          </p:nvSpPr>
          <p:spPr>
            <a:xfrm>
              <a:off x="226608" y="2092839"/>
              <a:ext cx="651494" cy="656202"/>
            </a:xfrm>
            <a:prstGeom prst="flowChartConnector">
              <a:avLst/>
            </a:prstGeom>
            <a:solidFill>
              <a:schemeClr val="accent5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96"/>
            <p:cNvSpPr txBox="1"/>
            <p:nvPr/>
          </p:nvSpPr>
          <p:spPr>
            <a:xfrm>
              <a:off x="928227" y="2267190"/>
              <a:ext cx="136349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Amodei essay, 12 Sept</a:t>
              </a:r>
              <a:endParaRPr/>
            </a:p>
          </p:txBody>
        </p:sp>
        <p:sp>
          <p:nvSpPr>
            <p:cNvPr id="844" name="Google Shape;844;p96"/>
            <p:cNvSpPr/>
            <p:nvPr/>
          </p:nvSpPr>
          <p:spPr>
            <a:xfrm>
              <a:off x="2355393" y="1862871"/>
              <a:ext cx="9366560" cy="111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96"/>
            <p:cNvSpPr/>
            <p:nvPr/>
          </p:nvSpPr>
          <p:spPr>
            <a:xfrm>
              <a:off x="626953" y="3006507"/>
              <a:ext cx="1687882" cy="1171031"/>
            </a:xfrm>
            <a:prstGeom prst="rect">
              <a:avLst/>
            </a:prstGeom>
            <a:solidFill>
              <a:schemeClr val="accent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96"/>
            <p:cNvSpPr/>
            <p:nvPr/>
          </p:nvSpPr>
          <p:spPr>
            <a:xfrm>
              <a:off x="223049" y="3266942"/>
              <a:ext cx="651494" cy="656202"/>
            </a:xfrm>
            <a:prstGeom prst="flowChartConnector">
              <a:avLst/>
            </a:prstGeom>
            <a:solidFill>
              <a:schemeClr val="accent5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96"/>
            <p:cNvSpPr txBox="1"/>
            <p:nvPr/>
          </p:nvSpPr>
          <p:spPr>
            <a:xfrm>
              <a:off x="924668" y="3441293"/>
              <a:ext cx="136349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Corning $2bn ATM, 14 Sept</a:t>
              </a:r>
              <a:endParaRPr/>
            </a:p>
          </p:txBody>
        </p:sp>
        <p:sp>
          <p:nvSpPr>
            <p:cNvPr id="848" name="Google Shape;848;p96"/>
            <p:cNvSpPr/>
            <p:nvPr/>
          </p:nvSpPr>
          <p:spPr>
            <a:xfrm>
              <a:off x="626953" y="4178467"/>
              <a:ext cx="1687882" cy="1171126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96"/>
            <p:cNvSpPr/>
            <p:nvPr/>
          </p:nvSpPr>
          <p:spPr>
            <a:xfrm>
              <a:off x="223049" y="4438997"/>
              <a:ext cx="651494" cy="656202"/>
            </a:xfrm>
            <a:prstGeom prst="flowChartConnector">
              <a:avLst/>
            </a:prstGeom>
            <a:solidFill>
              <a:schemeClr val="accent5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96"/>
            <p:cNvSpPr txBox="1"/>
            <p:nvPr/>
          </p:nvSpPr>
          <p:spPr>
            <a:xfrm>
              <a:off x="924668" y="4613348"/>
              <a:ext cx="136349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Customer concentration</a:t>
              </a:r>
              <a:endParaRPr/>
            </a:p>
          </p:txBody>
        </p:sp>
        <p:sp>
          <p:nvSpPr>
            <p:cNvPr id="851" name="Google Shape;851;p96"/>
            <p:cNvSpPr/>
            <p:nvPr/>
          </p:nvSpPr>
          <p:spPr>
            <a:xfrm>
              <a:off x="626953" y="5350518"/>
              <a:ext cx="1687882" cy="1171758"/>
            </a:xfrm>
            <a:prstGeom prst="rect">
              <a:avLst/>
            </a:prstGeom>
            <a:solidFill>
              <a:schemeClr val="lt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96"/>
            <p:cNvSpPr/>
            <p:nvPr/>
          </p:nvSpPr>
          <p:spPr>
            <a:xfrm>
              <a:off x="223049" y="5611679"/>
              <a:ext cx="651494" cy="656202"/>
            </a:xfrm>
            <a:prstGeom prst="flowChartConnector">
              <a:avLst/>
            </a:prstGeom>
            <a:solidFill>
              <a:schemeClr val="accent5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96"/>
            <p:cNvSpPr txBox="1"/>
            <p:nvPr/>
          </p:nvSpPr>
          <p:spPr>
            <a:xfrm>
              <a:off x="924668" y="5786030"/>
              <a:ext cx="136349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Stretched valuation</a:t>
              </a:r>
              <a:endParaRPr/>
            </a:p>
          </p:txBody>
        </p:sp>
        <p:grpSp>
          <p:nvGrpSpPr>
            <p:cNvPr id="854" name="Google Shape;854;p96"/>
            <p:cNvGrpSpPr/>
            <p:nvPr/>
          </p:nvGrpSpPr>
          <p:grpSpPr>
            <a:xfrm>
              <a:off x="2402360" y="1385190"/>
              <a:ext cx="4492375" cy="4424647"/>
              <a:chOff x="2402360" y="1275270"/>
              <a:chExt cx="2915681" cy="4390331"/>
            </a:xfrm>
          </p:grpSpPr>
          <p:cxnSp>
            <p:nvCxnSpPr>
              <p:cNvPr id="855" name="Google Shape;855;p96"/>
              <p:cNvCxnSpPr/>
              <p:nvPr/>
            </p:nvCxnSpPr>
            <p:spPr>
              <a:xfrm>
                <a:off x="2488706" y="1625929"/>
                <a:ext cx="2829335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56" name="Google Shape;856;p96"/>
              <p:cNvSpPr txBox="1"/>
              <p:nvPr/>
            </p:nvSpPr>
            <p:spPr>
              <a:xfrm>
                <a:off x="3078452" y="1275270"/>
                <a:ext cx="1649842" cy="30773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What the market inferred</a:t>
                </a: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96"/>
              <p:cNvSpPr txBox="1"/>
              <p:nvPr/>
            </p:nvSpPr>
            <p:spPr>
              <a:xfrm>
                <a:off x="2405919" y="1685096"/>
                <a:ext cx="282933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•"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[A frontier slowdown means hyperscalers cut compute capex]</a:t>
                </a:r>
                <a:endParaRPr/>
              </a:p>
              <a:p>
                <a:pPr marL="171450" marR="0" lvl="0" indent="-952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96"/>
              <p:cNvSpPr txBox="1"/>
              <p:nvPr/>
            </p:nvSpPr>
            <p:spPr>
              <a:xfrm>
                <a:off x="2402360" y="2859199"/>
                <a:ext cx="282933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•"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[Read across the optics complex as a demand signal]</a:t>
                </a:r>
                <a:endParaRPr/>
              </a:p>
              <a:p>
                <a:pPr marL="171450" marR="0" lvl="0" indent="-952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96"/>
              <p:cNvSpPr txBox="1"/>
              <p:nvPr/>
            </p:nvSpPr>
            <p:spPr>
              <a:xfrm>
                <a:off x="2402360" y="4031254"/>
                <a:ext cx="282933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•"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[A capex pause lands hardest on concentrated suppliers]</a:t>
                </a:r>
                <a:endParaRPr/>
              </a:p>
              <a:p>
                <a:pPr marL="171450" marR="0" lvl="0" indent="-952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96"/>
              <p:cNvSpPr txBox="1"/>
              <p:nvPr/>
            </p:nvSpPr>
            <p:spPr>
              <a:xfrm>
                <a:off x="2402360" y="5203936"/>
                <a:ext cx="282933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•"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[Priced for perfection, so any wobble de-rates the group]</a:t>
                </a:r>
                <a:endParaRPr/>
              </a:p>
              <a:p>
                <a:pPr marL="171450" marR="0" lvl="0" indent="-952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1" name="Google Shape;861;p96"/>
            <p:cNvSpPr txBox="1"/>
            <p:nvPr/>
          </p:nvSpPr>
          <p:spPr>
            <a:xfrm>
              <a:off x="666251" y="1442421"/>
              <a:ext cx="1611127" cy="31014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What moved the tape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62" name="Google Shape;862;p9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7762" y="2193255"/>
              <a:ext cx="460774" cy="4607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3" name="Google Shape;863;p9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30667" y="3367358"/>
              <a:ext cx="460774" cy="4607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4" name="Google Shape;864;p9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27762" y="4537468"/>
              <a:ext cx="460774" cy="4607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5" name="Google Shape;865;p9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27762" y="5675570"/>
              <a:ext cx="460774" cy="4607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6" name="Google Shape;866;p96"/>
            <p:cNvGrpSpPr/>
            <p:nvPr/>
          </p:nvGrpSpPr>
          <p:grpSpPr>
            <a:xfrm>
              <a:off x="7346701" y="1385190"/>
              <a:ext cx="4492374" cy="4424647"/>
              <a:chOff x="2402360" y="1275270"/>
              <a:chExt cx="2915681" cy="4390331"/>
            </a:xfrm>
          </p:grpSpPr>
          <p:cxnSp>
            <p:nvCxnSpPr>
              <p:cNvPr id="867" name="Google Shape;867;p96"/>
              <p:cNvCxnSpPr/>
              <p:nvPr/>
            </p:nvCxnSpPr>
            <p:spPr>
              <a:xfrm>
                <a:off x="2488706" y="1625929"/>
                <a:ext cx="2829335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68" name="Google Shape;868;p96"/>
              <p:cNvSpPr txBox="1"/>
              <p:nvPr/>
            </p:nvSpPr>
            <p:spPr>
              <a:xfrm>
                <a:off x="3078452" y="1275270"/>
                <a:ext cx="1649842" cy="30773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What the evidence actually shows</a:t>
                </a: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96"/>
              <p:cNvSpPr txBox="1"/>
              <p:nvPr/>
            </p:nvSpPr>
            <p:spPr>
              <a:xfrm>
                <a:off x="2405919" y="1685096"/>
                <a:ext cx="282933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•"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Amodei is explicit that pacing is not pausing; the mechanism is embedded evaluators and coordination on capability growth, not compute budgets</a:t>
                </a:r>
                <a:endParaRPr/>
              </a:p>
              <a:p>
                <a:pPr marL="171450" marR="0" lvl="0" indent="-952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96"/>
              <p:cNvSpPr txBox="1"/>
              <p:nvPr/>
            </p:nvSpPr>
            <p:spPr>
              <a:xfrm>
                <a:off x="2402360" y="2859199"/>
                <a:ext cx="282933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•"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An at-the-market equity program is a balance-sheet event at one company — yet COHR fell 11%, LITE 9% and FN 6% in sympathy</a:t>
                </a:r>
                <a:endParaRPr/>
              </a:p>
              <a:p>
                <a:pPr marL="171450" marR="0" lvl="0" indent="-952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96"/>
              <p:cNvSpPr txBox="1"/>
              <p:nvPr/>
            </p:nvSpPr>
            <p:spPr>
              <a:xfrm>
                <a:off x="2402360" y="4031254"/>
                <a:ext cx="282933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•"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[Verify against backlog, book-to-bill, and whether supply or demand is the binding constraint]</a:t>
                </a:r>
                <a:endParaRPr/>
              </a:p>
              <a:p>
                <a:pPr marL="171450" marR="0" lvl="0" indent="-952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96"/>
              <p:cNvSpPr txBox="1"/>
              <p:nvPr/>
            </p:nvSpPr>
            <p:spPr>
              <a:xfrm>
                <a:off x="2402360" y="5203936"/>
                <a:ext cx="282933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•"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[Where the multiple sits after the drawdown versus its own 3-5 year range]</a:t>
                </a:r>
                <a:endParaRPr/>
              </a:p>
              <a:p>
                <a:pPr marL="171450" marR="0" lvl="0" indent="-952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73" name="Google Shape;873;p96"/>
            <p:cNvCxnSpPr/>
            <p:nvPr/>
          </p:nvCxnSpPr>
          <p:spPr>
            <a:xfrm>
              <a:off x="644187" y="1738590"/>
              <a:ext cx="1657694" cy="0"/>
            </a:xfrm>
            <a:prstGeom prst="straightConnector1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874" name="Google Shape;874;p96"/>
          <p:cNvSpPr txBox="1"/>
          <p:nvPr/>
        </p:nvSpPr>
        <p:spPr>
          <a:xfrm>
            <a:off x="11638722" y="6464632"/>
            <a:ext cx="546429" cy="39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12"/>
          <p:cNvSpPr txBox="1">
            <a:spLocks noGrp="1"/>
          </p:cNvSpPr>
          <p:nvPr>
            <p:ph type="title"/>
          </p:nvPr>
        </p:nvSpPr>
        <p:spPr>
          <a:xfrm>
            <a:off x="115628" y="-1"/>
            <a:ext cx="10413999" cy="73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Valuation and model assumptions — [method] gives [$target], [X]% [above/below] spot</a:t>
            </a:r>
            <a:endParaRPr/>
          </a:p>
        </p:txBody>
      </p:sp>
      <p:sp>
        <p:nvSpPr>
          <p:cNvPr id="1433" name="Google Shape;1433;p112"/>
          <p:cNvSpPr txBox="1">
            <a:spLocks noGrp="1"/>
          </p:cNvSpPr>
          <p:nvPr>
            <p:ph type="body" idx="1"/>
          </p:nvPr>
        </p:nvSpPr>
        <p:spPr>
          <a:xfrm>
            <a:off x="25661" y="856084"/>
            <a:ext cx="11914886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/>
              <a:t>DCF as of [date]. Every assumption below ties to a numbered thesis. Estimate basis: [own / consensus / blend].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434" name="Google Shape;1434;p112"/>
          <p:cNvSpPr txBox="1">
            <a:spLocks noGrp="1"/>
          </p:cNvSpPr>
          <p:nvPr>
            <p:ph type="body" idx="2"/>
          </p:nvPr>
        </p:nvSpPr>
        <p:spPr>
          <a:xfrm>
            <a:off x="27273" y="6467650"/>
            <a:ext cx="40513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graphicFrame>
        <p:nvGraphicFramePr>
          <p:cNvPr id="1435" name="Google Shape;1435;p112"/>
          <p:cNvGraphicFramePr/>
          <p:nvPr/>
        </p:nvGraphicFramePr>
        <p:xfrm>
          <a:off x="397244" y="1876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{748DD78C-D2EE-4C9C-84D8-27A4B8C6E5E4}</a:tableStyleId>
              </a:tblPr>
              <a:tblGrid>
                <a:gridCol w="155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endParaRPr sz="1200" b="1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Assumption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Bear</a:t>
                      </a:r>
                      <a:endParaRPr sz="12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Bull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Ties to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D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Revenue CAGR, FY27-31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Thesis 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Gross margin, terminal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Thesis 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EBIT margin, terminal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Thesis 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WACC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Terminal growth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Implied value per share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36" name="Google Shape;1436;p112"/>
          <p:cNvGraphicFramePr/>
          <p:nvPr/>
        </p:nvGraphicFramePr>
        <p:xfrm>
          <a:off x="7467600" y="1876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{748DD78C-D2EE-4C9C-84D8-27A4B8C6E5E4}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Return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Prob.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37" name="Google Shape;1437;p112"/>
          <p:cNvSpPr txBox="1"/>
          <p:nvPr/>
        </p:nvSpPr>
        <p:spPr>
          <a:xfrm>
            <a:off x="8898791" y="4018144"/>
            <a:ext cx="2836009" cy="30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Probability-weighted target: [$   ]    |    Spot: [$   ]    |    Expected return: [   ]%</a:t>
            </a:r>
            <a:endParaRPr sz="12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38" name="Google Shape;1438;p112"/>
          <p:cNvGraphicFramePr/>
          <p:nvPr/>
        </p:nvGraphicFramePr>
        <p:xfrm>
          <a:off x="7467600" y="44438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{748DD78C-D2EE-4C9C-84D8-27A4B8C6E5E4}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Comps cross-check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39" name="Google Shape;1439;p112"/>
          <p:cNvSpPr txBox="1"/>
          <p:nvPr/>
        </p:nvSpPr>
        <p:spPr>
          <a:xfrm>
            <a:off x="11638722" y="6464632"/>
            <a:ext cx="546429" cy="39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113"/>
          <p:cNvSpPr txBox="1">
            <a:spLocks noGrp="1"/>
          </p:cNvSpPr>
          <p:nvPr>
            <p:ph type="title"/>
          </p:nvPr>
        </p:nvSpPr>
        <p:spPr>
          <a:xfrm>
            <a:off x="115628" y="-1"/>
            <a:ext cx="10413999" cy="73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other side of the trade — and the three things that would make us wrong</a:t>
            </a:r>
            <a:endParaRPr/>
          </a:p>
        </p:txBody>
      </p:sp>
      <p:sp>
        <p:nvSpPr>
          <p:cNvPr id="1445" name="Google Shape;1445;p113"/>
          <p:cNvSpPr txBox="1">
            <a:spLocks noGrp="1"/>
          </p:cNvSpPr>
          <p:nvPr>
            <p:ph type="body" idx="1"/>
          </p:nvPr>
        </p:nvSpPr>
        <p:spPr>
          <a:xfrm>
            <a:off x="25661" y="856084"/>
            <a:ext cx="11914886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[One line stating the single largest risk and how we have sized or hedged against it.]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446" name="Google Shape;1446;p113"/>
          <p:cNvSpPr txBox="1">
            <a:spLocks noGrp="1"/>
          </p:cNvSpPr>
          <p:nvPr>
            <p:ph type="body" idx="2"/>
          </p:nvPr>
        </p:nvSpPr>
        <p:spPr>
          <a:xfrm>
            <a:off x="27273" y="6467650"/>
            <a:ext cx="40513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grpSp>
        <p:nvGrpSpPr>
          <p:cNvPr id="1447" name="Google Shape;1447;p113"/>
          <p:cNvGrpSpPr/>
          <p:nvPr/>
        </p:nvGrpSpPr>
        <p:grpSpPr>
          <a:xfrm>
            <a:off x="4714319" y="2714000"/>
            <a:ext cx="2780148" cy="2651916"/>
            <a:chOff x="4899632" y="2324218"/>
            <a:chExt cx="2391720" cy="2308130"/>
          </a:xfrm>
        </p:grpSpPr>
        <p:grpSp>
          <p:nvGrpSpPr>
            <p:cNvPr id="1448" name="Google Shape;1448;p113"/>
            <p:cNvGrpSpPr/>
            <p:nvPr/>
          </p:nvGrpSpPr>
          <p:grpSpPr>
            <a:xfrm>
              <a:off x="4899632" y="2324218"/>
              <a:ext cx="2391720" cy="2308130"/>
              <a:chOff x="594306" y="310494"/>
              <a:chExt cx="2664615" cy="2655656"/>
            </a:xfrm>
          </p:grpSpPr>
          <p:sp>
            <p:nvSpPr>
              <p:cNvPr id="1449" name="Google Shape;1449;p113"/>
              <p:cNvSpPr/>
              <p:nvPr/>
            </p:nvSpPr>
            <p:spPr>
              <a:xfrm>
                <a:off x="612021" y="310494"/>
                <a:ext cx="2646900" cy="2646900"/>
              </a:xfrm>
              <a:prstGeom prst="pie">
                <a:avLst>
                  <a:gd name="adj1" fmla="val 16200000"/>
                  <a:gd name="adj2" fmla="val 0"/>
                </a:avLst>
              </a:prstGeom>
              <a:solidFill>
                <a:schemeClr val="accent4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68575" rIns="68575" bIns="685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p113"/>
              <p:cNvSpPr txBox="1"/>
              <p:nvPr/>
            </p:nvSpPr>
            <p:spPr>
              <a:xfrm>
                <a:off x="1970597" y="800164"/>
                <a:ext cx="976800" cy="78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7625" tIns="47625" rIns="47625" bIns="47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800"/>
                  <a:buFont typeface="Arial"/>
                  <a:buNone/>
                </a:pPr>
                <a:r>
                  <a:rPr lang="en-US" sz="38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1" name="Google Shape;1451;p113"/>
              <p:cNvSpPr/>
              <p:nvPr/>
            </p:nvSpPr>
            <p:spPr>
              <a:xfrm>
                <a:off x="612021" y="319250"/>
                <a:ext cx="2646900" cy="2646900"/>
              </a:xfrm>
              <a:prstGeom prst="pie">
                <a:avLst>
                  <a:gd name="adj1" fmla="val 0"/>
                  <a:gd name="adj2" fmla="val 5400000"/>
                </a:avLst>
              </a:prstGeom>
              <a:solidFill>
                <a:schemeClr val="accent3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68575" rIns="68575" bIns="685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113"/>
              <p:cNvSpPr/>
              <p:nvPr/>
            </p:nvSpPr>
            <p:spPr>
              <a:xfrm>
                <a:off x="594306" y="319250"/>
                <a:ext cx="2646900" cy="2646900"/>
              </a:xfrm>
              <a:prstGeom prst="pie">
                <a:avLst>
                  <a:gd name="adj1" fmla="val 5400000"/>
                  <a:gd name="adj2" fmla="val 10800000"/>
                </a:avLst>
              </a:prstGeom>
              <a:solidFill>
                <a:schemeClr val="accent2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68575" rIns="68575" bIns="685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113"/>
              <p:cNvSpPr txBox="1"/>
              <p:nvPr/>
            </p:nvSpPr>
            <p:spPr>
              <a:xfrm>
                <a:off x="893654" y="1668255"/>
                <a:ext cx="976800" cy="78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7625" tIns="47625" rIns="47625" bIns="47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800"/>
                  <a:buFont typeface="Arial"/>
                  <a:buNone/>
                </a:pPr>
                <a:r>
                  <a:rPr lang="en-US" sz="38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113"/>
              <p:cNvSpPr/>
              <p:nvPr/>
            </p:nvSpPr>
            <p:spPr>
              <a:xfrm>
                <a:off x="594306" y="310494"/>
                <a:ext cx="2646900" cy="2646900"/>
              </a:xfrm>
              <a:prstGeom prst="pie">
                <a:avLst>
                  <a:gd name="adj1" fmla="val 10800000"/>
                  <a:gd name="adj2" fmla="val 16200000"/>
                </a:avLst>
              </a:prstGeom>
              <a:solidFill>
                <a:schemeClr val="accen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68575" rIns="68575" bIns="685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113"/>
              <p:cNvSpPr txBox="1"/>
              <p:nvPr/>
            </p:nvSpPr>
            <p:spPr>
              <a:xfrm>
                <a:off x="893654" y="786603"/>
                <a:ext cx="976800" cy="78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7625" tIns="47625" rIns="47625" bIns="47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800"/>
                  <a:buFont typeface="Arial"/>
                  <a:buNone/>
                </a:pPr>
                <a:endParaRPr sz="3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6" name="Google Shape;1456;p113"/>
            <p:cNvSpPr/>
            <p:nvPr/>
          </p:nvSpPr>
          <p:spPr>
            <a:xfrm>
              <a:off x="5347766" y="2766563"/>
              <a:ext cx="1496467" cy="140458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7" name="Google Shape;1457;p113"/>
          <p:cNvSpPr/>
          <p:nvPr/>
        </p:nvSpPr>
        <p:spPr>
          <a:xfrm>
            <a:off x="4669442" y="2863035"/>
            <a:ext cx="726865" cy="692226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113"/>
          <p:cNvSpPr/>
          <p:nvPr/>
        </p:nvSpPr>
        <p:spPr>
          <a:xfrm>
            <a:off x="6801362" y="2863035"/>
            <a:ext cx="726865" cy="692226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113"/>
          <p:cNvSpPr/>
          <p:nvPr/>
        </p:nvSpPr>
        <p:spPr>
          <a:xfrm>
            <a:off x="6786085" y="4573027"/>
            <a:ext cx="726865" cy="692226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113"/>
          <p:cNvSpPr/>
          <p:nvPr/>
        </p:nvSpPr>
        <p:spPr>
          <a:xfrm>
            <a:off x="4661272" y="4573027"/>
            <a:ext cx="726865" cy="692226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1" name="Google Shape;1461;p113"/>
          <p:cNvGrpSpPr/>
          <p:nvPr/>
        </p:nvGrpSpPr>
        <p:grpSpPr>
          <a:xfrm>
            <a:off x="236806" y="1555880"/>
            <a:ext cx="4247524" cy="4944493"/>
            <a:chOff x="279010" y="1387264"/>
            <a:chExt cx="4247524" cy="4944493"/>
          </a:xfrm>
        </p:grpSpPr>
        <p:grpSp>
          <p:nvGrpSpPr>
            <p:cNvPr id="1462" name="Google Shape;1462;p113"/>
            <p:cNvGrpSpPr/>
            <p:nvPr/>
          </p:nvGrpSpPr>
          <p:grpSpPr>
            <a:xfrm>
              <a:off x="279010" y="1387264"/>
              <a:ext cx="4241857" cy="2316239"/>
              <a:chOff x="4766862" y="2897984"/>
              <a:chExt cx="2658277" cy="4114799"/>
            </a:xfrm>
          </p:grpSpPr>
          <p:sp>
            <p:nvSpPr>
              <p:cNvPr id="1463" name="Google Shape;1463;p113"/>
              <p:cNvSpPr txBox="1"/>
              <p:nvPr/>
            </p:nvSpPr>
            <p:spPr>
              <a:xfrm>
                <a:off x="4766862" y="3396999"/>
                <a:ext cx="2658277" cy="3615784"/>
              </a:xfrm>
              <a:prstGeom prst="rect">
                <a:avLst/>
              </a:prstGeom>
              <a:noFill/>
              <a:ln w="127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45700" anchor="t" anchorCtr="0">
                <a:noAutofit/>
              </a:bodyPr>
              <a:lstStyle/>
              <a:p>
                <a:pPr marL="171450" marR="0" lvl="0" indent="-1714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Char char="•"/>
                </a:pPr>
                <a:r>
                  <a:rPr lang="en-US"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[The strongest version of the opposite trade, not a straw man]</a:t>
                </a: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171450" marR="0" lvl="0" indent="-1714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Char char="•"/>
                </a:pPr>
                <a:r>
                  <a:rPr lang="en-US"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[Who holds it and what evidence they point to]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247650" marR="0" lvl="0" indent="-952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1313" marR="0" lvl="1" indent="-952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Noto Sans Symbols"/>
                  <a:buNone/>
                </a:pPr>
                <a:endParaRPr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4" name="Google Shape;1464;p113"/>
              <p:cNvSpPr txBox="1"/>
              <p:nvPr/>
            </p:nvSpPr>
            <p:spPr>
              <a:xfrm>
                <a:off x="4766862" y="2897984"/>
                <a:ext cx="2658277" cy="499015"/>
              </a:xfrm>
              <a:prstGeom prst="rect">
                <a:avLst/>
              </a:prstGeom>
              <a:solidFill>
                <a:schemeClr val="accent1"/>
              </a:solidFill>
              <a:ln w="127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The bear case, stated fairly</a:t>
                </a:r>
                <a:endParaRPr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5" name="Google Shape;1465;p113"/>
            <p:cNvGrpSpPr/>
            <p:nvPr/>
          </p:nvGrpSpPr>
          <p:grpSpPr>
            <a:xfrm>
              <a:off x="284677" y="4015518"/>
              <a:ext cx="4241857" cy="2316239"/>
              <a:chOff x="4766862" y="2897984"/>
              <a:chExt cx="2658277" cy="4114799"/>
            </a:xfrm>
          </p:grpSpPr>
          <p:sp>
            <p:nvSpPr>
              <p:cNvPr id="1466" name="Google Shape;1466;p113"/>
              <p:cNvSpPr txBox="1"/>
              <p:nvPr/>
            </p:nvSpPr>
            <p:spPr>
              <a:xfrm>
                <a:off x="4766862" y="3396999"/>
                <a:ext cx="2658277" cy="3615784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45700" anchor="t" anchorCtr="0">
                <a:noAutofit/>
              </a:bodyPr>
              <a:lstStyle/>
              <a:p>
                <a:pPr marL="171450" marR="0" lvl="0" indent="-1714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Char char="•"/>
                </a:pPr>
                <a:r>
                  <a:rPr lang="en-US"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[Optionality excluded from the base case]</a:t>
                </a: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171450" marR="0" lvl="0" indent="-1714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Char char="•"/>
                </a:pPr>
                <a:r>
                  <a:rPr lang="en-US"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[What it would add to the target if it lands]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171450" marR="0" lvl="0" indent="-952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Noto Sans Symbols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1313" marR="0" lvl="1" indent="-952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Noto Sans Symbols"/>
                  <a:buNone/>
                </a:pPr>
                <a:endParaRPr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p113"/>
              <p:cNvSpPr txBox="1"/>
              <p:nvPr/>
            </p:nvSpPr>
            <p:spPr>
              <a:xfrm>
                <a:off x="4766862" y="2897984"/>
                <a:ext cx="2658277" cy="499015"/>
              </a:xfrm>
              <a:prstGeom prst="rect">
                <a:avLst/>
              </a:prstGeom>
              <a:solidFill>
                <a:schemeClr val="accent2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What we are not paying for</a:t>
                </a:r>
                <a:endParaRPr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68" name="Google Shape;1468;p113"/>
          <p:cNvGrpSpPr/>
          <p:nvPr/>
        </p:nvGrpSpPr>
        <p:grpSpPr>
          <a:xfrm>
            <a:off x="7705169" y="1555880"/>
            <a:ext cx="4252959" cy="4944493"/>
            <a:chOff x="7705169" y="1387264"/>
            <a:chExt cx="4252959" cy="4944493"/>
          </a:xfrm>
        </p:grpSpPr>
        <p:grpSp>
          <p:nvGrpSpPr>
            <p:cNvPr id="1469" name="Google Shape;1469;p113"/>
            <p:cNvGrpSpPr/>
            <p:nvPr/>
          </p:nvGrpSpPr>
          <p:grpSpPr>
            <a:xfrm>
              <a:off x="7705169" y="1387264"/>
              <a:ext cx="4241857" cy="2316239"/>
              <a:chOff x="4766862" y="2897984"/>
              <a:chExt cx="2658277" cy="4114799"/>
            </a:xfrm>
          </p:grpSpPr>
          <p:sp>
            <p:nvSpPr>
              <p:cNvPr id="1470" name="Google Shape;1470;p113"/>
              <p:cNvSpPr txBox="1"/>
              <p:nvPr/>
            </p:nvSpPr>
            <p:spPr>
              <a:xfrm>
                <a:off x="4766862" y="3396999"/>
                <a:ext cx="2658277" cy="3615784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45700" anchor="t" anchorCtr="0">
                <a:noAutofit/>
              </a:bodyPr>
              <a:lstStyle/>
              <a:p>
                <a:pPr marL="171450" marR="0" lvl="0" indent="-1714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Char char="•"/>
                </a:pPr>
                <a:r>
                  <a:rPr lang="en-US"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[The assumption carrying the most weight in the DCF]</a:t>
                </a: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171450" marR="0" lvl="0" indent="-1714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Char char="•"/>
                </a:pPr>
                <a:r>
                  <a:rPr lang="en-US"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[What the target becomes if it is wrong]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171450" marR="0" lvl="0" indent="-952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Noto Sans Symbols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1313" marR="0" lvl="1" indent="-952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Noto Sans Symbols"/>
                  <a:buNone/>
                </a:pPr>
                <a:endParaRPr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113"/>
              <p:cNvSpPr txBox="1"/>
              <p:nvPr/>
            </p:nvSpPr>
            <p:spPr>
              <a:xfrm>
                <a:off x="4766862" y="2897984"/>
                <a:ext cx="2658277" cy="499015"/>
              </a:xfrm>
              <a:prstGeom prst="rect">
                <a:avLst/>
              </a:prstGeom>
              <a:solidFill>
                <a:schemeClr val="accent4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Where our thesis is fragile</a:t>
                </a:r>
                <a:endParaRPr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2" name="Google Shape;1472;p113"/>
            <p:cNvGrpSpPr/>
            <p:nvPr/>
          </p:nvGrpSpPr>
          <p:grpSpPr>
            <a:xfrm>
              <a:off x="7716271" y="4015518"/>
              <a:ext cx="4241857" cy="2316239"/>
              <a:chOff x="4766862" y="2897984"/>
              <a:chExt cx="2658277" cy="4114799"/>
            </a:xfrm>
          </p:grpSpPr>
          <p:sp>
            <p:nvSpPr>
              <p:cNvPr id="1473" name="Google Shape;1473;p113"/>
              <p:cNvSpPr txBox="1"/>
              <p:nvPr/>
            </p:nvSpPr>
            <p:spPr>
              <a:xfrm>
                <a:off x="4766862" y="3396999"/>
                <a:ext cx="2658277" cy="3615784"/>
              </a:xfrm>
              <a:prstGeom prst="rect">
                <a:avLst/>
              </a:prstGeom>
              <a:noFill/>
              <a:ln w="12700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45700" anchor="t" anchorCtr="0">
                <a:noAutofit/>
              </a:bodyPr>
              <a:lstStyle/>
              <a:p>
                <a:pPr marL="171450" marR="0" lvl="0" indent="-1714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Char char="•"/>
                </a:pPr>
                <a:r>
                  <a:rPr lang="en-US"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[Signal 1 — the metric, the threshold, and the date it prints]</a:t>
                </a: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171450" marR="0" lvl="0" indent="-1714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Char char="•"/>
                </a:pPr>
                <a:r>
                  <a:rPr lang="en-US"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[Signal 2 — the metric, the threshold, and the date it prints]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171450" marR="0" lvl="0" indent="-952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Noto Sans Symbols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1313" marR="0" lvl="1" indent="-952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Noto Sans Symbols"/>
                  <a:buNone/>
                </a:pPr>
                <a:endParaRPr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113"/>
              <p:cNvSpPr txBox="1"/>
              <p:nvPr/>
            </p:nvSpPr>
            <p:spPr>
              <a:xfrm>
                <a:off x="4766862" y="2897984"/>
                <a:ext cx="2658277" cy="499015"/>
              </a:xfrm>
              <a:prstGeom prst="rect">
                <a:avLst/>
              </a:prstGeom>
              <a:solidFill>
                <a:schemeClr val="accent3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What would change our mind</a:t>
                </a:r>
                <a:endParaRPr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475" name="Google Shape;1475;p113" descr="Link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3356" y="2944693"/>
            <a:ext cx="555073" cy="555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6" name="Google Shape;1476;p113" descr="Magnifying glass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8174" y="4671718"/>
            <a:ext cx="494843" cy="494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7" name="Google Shape;1477;p113" descr="Downward trend graph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94303" y="2930983"/>
            <a:ext cx="540982" cy="540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8" name="Google Shape;1478;p113" descr="Flag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02764" y="4645052"/>
            <a:ext cx="540982" cy="540982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113"/>
          <p:cNvSpPr txBox="1"/>
          <p:nvPr/>
        </p:nvSpPr>
        <p:spPr>
          <a:xfrm>
            <a:off x="11638722" y="6464632"/>
            <a:ext cx="546429" cy="39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15"/>
          <p:cNvSpPr txBox="1">
            <a:spLocks noGrp="1"/>
          </p:cNvSpPr>
          <p:nvPr>
            <p:ph type="title"/>
          </p:nvPr>
        </p:nvSpPr>
        <p:spPr>
          <a:xfrm>
            <a:off x="115628" y="-1"/>
            <a:ext cx="10413999" cy="73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Appendix — where each case sits on downside risk versus expected return</a:t>
            </a:r>
            <a:endParaRPr/>
          </a:p>
        </p:txBody>
      </p:sp>
      <p:sp>
        <p:nvSpPr>
          <p:cNvPr id="1513" name="Google Shape;1513;p115"/>
          <p:cNvSpPr txBox="1">
            <a:spLocks noGrp="1"/>
          </p:cNvSpPr>
          <p:nvPr>
            <p:ph type="body" idx="1"/>
          </p:nvPr>
        </p:nvSpPr>
        <p:spPr>
          <a:xfrm>
            <a:off x="25661" y="856084"/>
            <a:ext cx="11914886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[One line on how this map informed sizing rather than simply restating the cases.]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514" name="Google Shape;1514;p115"/>
          <p:cNvSpPr txBox="1">
            <a:spLocks noGrp="1"/>
          </p:cNvSpPr>
          <p:nvPr>
            <p:ph type="body" idx="2"/>
          </p:nvPr>
        </p:nvSpPr>
        <p:spPr>
          <a:xfrm>
            <a:off x="27273" y="6467650"/>
            <a:ext cx="40513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515" name="Google Shape;1515;p115"/>
          <p:cNvSpPr/>
          <p:nvPr/>
        </p:nvSpPr>
        <p:spPr>
          <a:xfrm>
            <a:off x="744046" y="2451545"/>
            <a:ext cx="6734585" cy="3650502"/>
          </a:xfrm>
          <a:prstGeom prst="rect">
            <a:avLst/>
          </a:prstGeom>
          <a:gradFill>
            <a:gsLst>
              <a:gs pos="0">
                <a:srgbClr val="00B050">
                  <a:alpha val="23137"/>
                </a:srgbClr>
              </a:gs>
              <a:gs pos="50000">
                <a:srgbClr val="FFFF00">
                  <a:alpha val="23529"/>
                </a:srgbClr>
              </a:gs>
              <a:gs pos="100000">
                <a:srgbClr val="FF0000">
                  <a:alpha val="23529"/>
                </a:srgbClr>
              </a:gs>
            </a:gsLst>
            <a:lin ang="81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6" name="Google Shape;1516;p115"/>
          <p:cNvGrpSpPr/>
          <p:nvPr/>
        </p:nvGrpSpPr>
        <p:grpSpPr>
          <a:xfrm>
            <a:off x="-54183" y="1568002"/>
            <a:ext cx="12001209" cy="4932722"/>
            <a:chOff x="-104611" y="1368490"/>
            <a:chExt cx="12001209" cy="4932722"/>
          </a:xfrm>
        </p:grpSpPr>
        <p:sp>
          <p:nvSpPr>
            <p:cNvPr id="1517" name="Google Shape;1517;p115"/>
            <p:cNvSpPr txBox="1"/>
            <p:nvPr/>
          </p:nvSpPr>
          <p:spPr>
            <a:xfrm>
              <a:off x="664645" y="5963943"/>
              <a:ext cx="65490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Low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18" name="Google Shape;1518;p115"/>
            <p:cNvCxnSpPr/>
            <p:nvPr/>
          </p:nvCxnSpPr>
          <p:spPr>
            <a:xfrm rot="10800000" flipH="1">
              <a:off x="693860" y="5887743"/>
              <a:ext cx="7002600" cy="39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519" name="Google Shape;1519;p115"/>
            <p:cNvCxnSpPr/>
            <p:nvPr/>
          </p:nvCxnSpPr>
          <p:spPr>
            <a:xfrm rot="10800000">
              <a:off x="693881" y="1986541"/>
              <a:ext cx="0" cy="39012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520" name="Google Shape;1520;p115"/>
            <p:cNvSpPr txBox="1"/>
            <p:nvPr/>
          </p:nvSpPr>
          <p:spPr>
            <a:xfrm>
              <a:off x="-104611" y="5655516"/>
              <a:ext cx="72240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000" tIns="36000" rIns="54000" bIns="360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Low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15"/>
            <p:cNvSpPr txBox="1"/>
            <p:nvPr/>
          </p:nvSpPr>
          <p:spPr>
            <a:xfrm rot="-5400000">
              <a:off x="-641950" y="3931138"/>
              <a:ext cx="2163000" cy="28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000" tIns="36000" rIns="54000" bIns="360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Downside Risk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15"/>
            <p:cNvSpPr txBox="1"/>
            <p:nvPr/>
          </p:nvSpPr>
          <p:spPr>
            <a:xfrm>
              <a:off x="2777304" y="6012912"/>
              <a:ext cx="2466000" cy="28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Expected Return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23" name="Google Shape;1523;p115"/>
            <p:cNvCxnSpPr/>
            <p:nvPr/>
          </p:nvCxnSpPr>
          <p:spPr>
            <a:xfrm>
              <a:off x="710250" y="2245137"/>
              <a:ext cx="6718200" cy="0"/>
            </a:xfrm>
            <a:prstGeom prst="straightConnector1">
              <a:avLst/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24" name="Google Shape;1524;p115"/>
            <p:cNvCxnSpPr/>
            <p:nvPr/>
          </p:nvCxnSpPr>
          <p:spPr>
            <a:xfrm>
              <a:off x="7436900" y="2243712"/>
              <a:ext cx="0" cy="3654600"/>
            </a:xfrm>
            <a:prstGeom prst="straightConnector1">
              <a:avLst/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25" name="Google Shape;1525;p115"/>
            <p:cNvCxnSpPr/>
            <p:nvPr/>
          </p:nvCxnSpPr>
          <p:spPr>
            <a:xfrm rot="10800000">
              <a:off x="4010294" y="2254367"/>
              <a:ext cx="0" cy="3633300"/>
            </a:xfrm>
            <a:prstGeom prst="straightConnector1">
              <a:avLst/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26" name="Google Shape;1526;p115"/>
            <p:cNvCxnSpPr/>
            <p:nvPr/>
          </p:nvCxnSpPr>
          <p:spPr>
            <a:xfrm>
              <a:off x="711275" y="3963612"/>
              <a:ext cx="6729900" cy="0"/>
            </a:xfrm>
            <a:prstGeom prst="straightConnector1">
              <a:avLst/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27" name="Google Shape;1527;p115"/>
            <p:cNvSpPr/>
            <p:nvPr/>
          </p:nvSpPr>
          <p:spPr>
            <a:xfrm>
              <a:off x="8251225" y="2277114"/>
              <a:ext cx="317400" cy="807000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15"/>
            <p:cNvSpPr txBox="1"/>
            <p:nvPr/>
          </p:nvSpPr>
          <p:spPr>
            <a:xfrm>
              <a:off x="8697247" y="2243704"/>
              <a:ext cx="3065400" cy="677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Bull — [$   ], [   ]% probability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[The two assumptions that have to be right]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115"/>
            <p:cNvSpPr txBox="1"/>
            <p:nvPr/>
          </p:nvSpPr>
          <p:spPr>
            <a:xfrm>
              <a:off x="7173395" y="5995443"/>
              <a:ext cx="65490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High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15"/>
            <p:cNvSpPr/>
            <p:nvPr/>
          </p:nvSpPr>
          <p:spPr>
            <a:xfrm>
              <a:off x="8251225" y="3218730"/>
              <a:ext cx="317400" cy="807000"/>
            </a:xfrm>
            <a:prstGeom prst="roundRect">
              <a:avLst>
                <a:gd name="adj" fmla="val 16667"/>
              </a:avLst>
            </a:prstGeom>
            <a:solidFill>
              <a:srgbClr val="E3D72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15"/>
            <p:cNvSpPr/>
            <p:nvPr/>
          </p:nvSpPr>
          <p:spPr>
            <a:xfrm>
              <a:off x="8251225" y="4160347"/>
              <a:ext cx="317400" cy="807000"/>
            </a:xfrm>
            <a:prstGeom prst="roundRect">
              <a:avLst>
                <a:gd name="adj" fmla="val 16667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15"/>
            <p:cNvSpPr/>
            <p:nvPr/>
          </p:nvSpPr>
          <p:spPr>
            <a:xfrm>
              <a:off x="8251225" y="5101964"/>
              <a:ext cx="317400" cy="807000"/>
            </a:xfrm>
            <a:prstGeom prst="roundRect">
              <a:avLst>
                <a:gd name="adj" fmla="val 16667"/>
              </a:avLst>
            </a:prstGeom>
            <a:solidFill>
              <a:srgbClr val="FF81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33" name="Google Shape;1533;p115"/>
            <p:cNvGrpSpPr/>
            <p:nvPr/>
          </p:nvGrpSpPr>
          <p:grpSpPr>
            <a:xfrm>
              <a:off x="8157533" y="1368490"/>
              <a:ext cx="3739065" cy="339065"/>
              <a:chOff x="8157534" y="1257166"/>
              <a:chExt cx="3387600" cy="339065"/>
            </a:xfrm>
          </p:grpSpPr>
          <p:cxnSp>
            <p:nvCxnSpPr>
              <p:cNvPr id="1534" name="Google Shape;1534;p115"/>
              <p:cNvCxnSpPr/>
              <p:nvPr/>
            </p:nvCxnSpPr>
            <p:spPr>
              <a:xfrm>
                <a:off x="8157534" y="1596231"/>
                <a:ext cx="33876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535" name="Google Shape;1535;p115"/>
              <p:cNvSpPr txBox="1"/>
              <p:nvPr/>
            </p:nvSpPr>
            <p:spPr>
              <a:xfrm>
                <a:off x="8908284" y="1257166"/>
                <a:ext cx="1886100" cy="3077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Case Detail</a:t>
                </a: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6" name="Google Shape;1536;p115"/>
            <p:cNvGrpSpPr/>
            <p:nvPr/>
          </p:nvGrpSpPr>
          <p:grpSpPr>
            <a:xfrm>
              <a:off x="295401" y="1368492"/>
              <a:ext cx="7141500" cy="343951"/>
              <a:chOff x="295401" y="1279099"/>
              <a:chExt cx="7141500" cy="343951"/>
            </a:xfrm>
          </p:grpSpPr>
          <p:cxnSp>
            <p:nvCxnSpPr>
              <p:cNvPr id="1537" name="Google Shape;1537;p115"/>
              <p:cNvCxnSpPr/>
              <p:nvPr/>
            </p:nvCxnSpPr>
            <p:spPr>
              <a:xfrm rot="10800000" flipH="1">
                <a:off x="295401" y="1613274"/>
                <a:ext cx="7141500" cy="9776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538" name="Google Shape;1538;p115"/>
              <p:cNvSpPr txBox="1"/>
              <p:nvPr/>
            </p:nvSpPr>
            <p:spPr>
              <a:xfrm>
                <a:off x="2550863" y="1279099"/>
                <a:ext cx="2630577" cy="3077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Scenario Map</a:t>
                </a: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39" name="Google Shape;1539;p115"/>
            <p:cNvSpPr txBox="1"/>
            <p:nvPr/>
          </p:nvSpPr>
          <p:spPr>
            <a:xfrm>
              <a:off x="8697247" y="3196454"/>
              <a:ext cx="3065400" cy="677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Base — [$   ], [   ]% probability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[The two assumptions that have to be right]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115"/>
            <p:cNvSpPr txBox="1"/>
            <p:nvPr/>
          </p:nvSpPr>
          <p:spPr>
            <a:xfrm>
              <a:off x="8697247" y="4149204"/>
              <a:ext cx="3065400" cy="677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Bear — [$   ], [   ]% probability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[The two assumptions that have to be right]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15"/>
            <p:cNvSpPr txBox="1"/>
            <p:nvPr/>
          </p:nvSpPr>
          <p:spPr>
            <a:xfrm>
              <a:off x="8697247" y="5101954"/>
              <a:ext cx="3065400" cy="677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Sizing conclusion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[Position size, and the asymmetry that justifies it]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15"/>
            <p:cNvSpPr txBox="1"/>
            <p:nvPr/>
          </p:nvSpPr>
          <p:spPr>
            <a:xfrm>
              <a:off x="-62511" y="2237653"/>
              <a:ext cx="72240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000" tIns="36000" rIns="54000" bIns="360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High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15"/>
            <p:cNvSpPr/>
            <p:nvPr/>
          </p:nvSpPr>
          <p:spPr>
            <a:xfrm>
              <a:off x="6650581" y="4063534"/>
              <a:ext cx="241800" cy="252600"/>
            </a:xfrm>
            <a:prstGeom prst="ellipse">
              <a:avLst/>
            </a:prstGeom>
            <a:solidFill>
              <a:srgbClr val="92D050"/>
            </a:solidFill>
            <a:ln w="2540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44" name="Google Shape;1544;p115"/>
            <p:cNvGrpSpPr/>
            <p:nvPr/>
          </p:nvGrpSpPr>
          <p:grpSpPr>
            <a:xfrm>
              <a:off x="5369138" y="4063537"/>
              <a:ext cx="1204201" cy="252600"/>
              <a:chOff x="1796325" y="2175038"/>
              <a:chExt cx="1204201" cy="252600"/>
            </a:xfrm>
          </p:grpSpPr>
          <p:sp>
            <p:nvSpPr>
              <p:cNvPr id="1545" name="Google Shape;1545;p115"/>
              <p:cNvSpPr/>
              <p:nvPr/>
            </p:nvSpPr>
            <p:spPr>
              <a:xfrm>
                <a:off x="1796325" y="2175038"/>
                <a:ext cx="1124100" cy="252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Bull</a:t>
                </a: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115"/>
              <p:cNvSpPr/>
              <p:nvPr/>
            </p:nvSpPr>
            <p:spPr>
              <a:xfrm rot="5400000">
                <a:off x="2842426" y="2249879"/>
                <a:ext cx="213300" cy="10290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47" name="Google Shape;1547;p115"/>
            <p:cNvSpPr/>
            <p:nvPr/>
          </p:nvSpPr>
          <p:spPr>
            <a:xfrm>
              <a:off x="5991492" y="4650814"/>
              <a:ext cx="241800" cy="252600"/>
            </a:xfrm>
            <a:prstGeom prst="ellipse">
              <a:avLst/>
            </a:prstGeom>
            <a:solidFill>
              <a:srgbClr val="E3D724"/>
            </a:solidFill>
            <a:ln w="25400" cap="flat" cmpd="sng">
              <a:solidFill>
                <a:srgbClr val="E3D72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48" name="Google Shape;1548;p115"/>
            <p:cNvGrpSpPr/>
            <p:nvPr/>
          </p:nvGrpSpPr>
          <p:grpSpPr>
            <a:xfrm>
              <a:off x="4708900" y="4650812"/>
              <a:ext cx="1204201" cy="252600"/>
              <a:chOff x="1796325" y="2175038"/>
              <a:chExt cx="1204201" cy="252600"/>
            </a:xfrm>
          </p:grpSpPr>
          <p:sp>
            <p:nvSpPr>
              <p:cNvPr id="1549" name="Google Shape;1549;p115"/>
              <p:cNvSpPr/>
              <p:nvPr/>
            </p:nvSpPr>
            <p:spPr>
              <a:xfrm>
                <a:off x="1796325" y="2175038"/>
                <a:ext cx="1124100" cy="252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Base</a:t>
                </a: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115"/>
              <p:cNvSpPr/>
              <p:nvPr/>
            </p:nvSpPr>
            <p:spPr>
              <a:xfrm rot="5400000">
                <a:off x="2842426" y="2249879"/>
                <a:ext cx="213300" cy="10290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51" name="Google Shape;1551;p115"/>
            <p:cNvSpPr/>
            <p:nvPr/>
          </p:nvSpPr>
          <p:spPr>
            <a:xfrm>
              <a:off x="3362544" y="3495948"/>
              <a:ext cx="241800" cy="252600"/>
            </a:xfrm>
            <a:prstGeom prst="ellipse">
              <a:avLst/>
            </a:prstGeom>
            <a:solidFill>
              <a:srgbClr val="FFC000"/>
            </a:solidFill>
            <a:ln w="25400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52" name="Google Shape;1552;p115"/>
            <p:cNvGrpSpPr/>
            <p:nvPr/>
          </p:nvGrpSpPr>
          <p:grpSpPr>
            <a:xfrm>
              <a:off x="2080825" y="3495925"/>
              <a:ext cx="1204201" cy="252600"/>
              <a:chOff x="1796325" y="2175038"/>
              <a:chExt cx="1204201" cy="252600"/>
            </a:xfrm>
          </p:grpSpPr>
          <p:sp>
            <p:nvSpPr>
              <p:cNvPr id="1553" name="Google Shape;1553;p115"/>
              <p:cNvSpPr/>
              <p:nvPr/>
            </p:nvSpPr>
            <p:spPr>
              <a:xfrm>
                <a:off x="1796325" y="2175038"/>
                <a:ext cx="1124100" cy="252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Bear</a:t>
                </a: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115"/>
              <p:cNvSpPr/>
              <p:nvPr/>
            </p:nvSpPr>
            <p:spPr>
              <a:xfrm rot="5400000">
                <a:off x="2842426" y="2249879"/>
                <a:ext cx="213300" cy="10290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55" name="Google Shape;1555;p115"/>
            <p:cNvSpPr/>
            <p:nvPr/>
          </p:nvSpPr>
          <p:spPr>
            <a:xfrm>
              <a:off x="4852154" y="2494500"/>
              <a:ext cx="241800" cy="252600"/>
            </a:xfrm>
            <a:prstGeom prst="ellipse">
              <a:avLst/>
            </a:prstGeom>
            <a:solidFill>
              <a:srgbClr val="FF8100"/>
            </a:solidFill>
            <a:ln w="25400" cap="flat" cmpd="sng">
              <a:solidFill>
                <a:srgbClr val="FF81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56" name="Google Shape;1556;p115"/>
            <p:cNvGrpSpPr/>
            <p:nvPr/>
          </p:nvGrpSpPr>
          <p:grpSpPr>
            <a:xfrm>
              <a:off x="3601150" y="2494512"/>
              <a:ext cx="1204201" cy="252600"/>
              <a:chOff x="1796325" y="2175038"/>
              <a:chExt cx="1204201" cy="252600"/>
            </a:xfrm>
          </p:grpSpPr>
          <p:sp>
            <p:nvSpPr>
              <p:cNvPr id="1557" name="Google Shape;1557;p115"/>
              <p:cNvSpPr/>
              <p:nvPr/>
            </p:nvSpPr>
            <p:spPr>
              <a:xfrm>
                <a:off x="1796325" y="2175038"/>
                <a:ext cx="1124100" cy="252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Spot</a:t>
                </a: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115"/>
              <p:cNvSpPr/>
              <p:nvPr/>
            </p:nvSpPr>
            <p:spPr>
              <a:xfrm rot="5400000">
                <a:off x="2842426" y="2249879"/>
                <a:ext cx="213300" cy="10290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59" name="Google Shape;1559;p115"/>
          <p:cNvSpPr txBox="1"/>
          <p:nvPr/>
        </p:nvSpPr>
        <p:spPr>
          <a:xfrm>
            <a:off x="11638722" y="6464632"/>
            <a:ext cx="546429" cy="39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5" name="Google Shape;3815;p159"/>
          <p:cNvSpPr txBox="1">
            <a:spLocks noGrp="1"/>
          </p:cNvSpPr>
          <p:nvPr>
            <p:ph type="title"/>
          </p:nvPr>
        </p:nvSpPr>
        <p:spPr>
          <a:xfrm>
            <a:off x="115628" y="-1"/>
            <a:ext cx="10413999" cy="73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Thesis 2 — [the claim, stated as a sentence a judge can repeat]</a:t>
            </a:r>
            <a:endParaRPr/>
          </a:p>
        </p:txBody>
      </p:sp>
      <p:sp>
        <p:nvSpPr>
          <p:cNvPr id="3816" name="Google Shape;3816;p159"/>
          <p:cNvSpPr txBox="1">
            <a:spLocks noGrp="1"/>
          </p:cNvSpPr>
          <p:nvPr>
            <p:ph type="body" idx="1"/>
          </p:nvPr>
        </p:nvSpPr>
        <p:spPr>
          <a:xfrm>
            <a:off x="25661" y="856084"/>
            <a:ext cx="11914886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[One line on why this pillar is independent of Thesis 1 — not the same argument restated.]</a:t>
            </a:r>
            <a:endParaRPr/>
          </a:p>
        </p:txBody>
      </p:sp>
      <p:sp>
        <p:nvSpPr>
          <p:cNvPr id="3817" name="Google Shape;3817;p159"/>
          <p:cNvSpPr txBox="1">
            <a:spLocks noGrp="1"/>
          </p:cNvSpPr>
          <p:nvPr>
            <p:ph type="body" idx="2"/>
          </p:nvPr>
        </p:nvSpPr>
        <p:spPr>
          <a:xfrm>
            <a:off x="27273" y="6467650"/>
            <a:ext cx="40513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Source: [ ]</a:t>
            </a:r>
            <a:endParaRPr/>
          </a:p>
        </p:txBody>
      </p:sp>
      <p:grpSp>
        <p:nvGrpSpPr>
          <p:cNvPr id="3818" name="Google Shape;3818;p159"/>
          <p:cNvGrpSpPr/>
          <p:nvPr/>
        </p:nvGrpSpPr>
        <p:grpSpPr>
          <a:xfrm>
            <a:off x="341559" y="1800236"/>
            <a:ext cx="11508879" cy="4396133"/>
            <a:chOff x="552447" y="1568593"/>
            <a:chExt cx="11508879" cy="4396133"/>
          </a:xfrm>
        </p:grpSpPr>
        <p:grpSp>
          <p:nvGrpSpPr>
            <p:cNvPr id="3819" name="Google Shape;3819;p159"/>
            <p:cNvGrpSpPr/>
            <p:nvPr/>
          </p:nvGrpSpPr>
          <p:grpSpPr>
            <a:xfrm>
              <a:off x="3680982" y="1568606"/>
              <a:ext cx="8380344" cy="4396120"/>
              <a:chOff x="4957332" y="1524002"/>
              <a:chExt cx="5421088" cy="4396120"/>
            </a:xfrm>
          </p:grpSpPr>
          <p:sp>
            <p:nvSpPr>
              <p:cNvPr id="3820" name="Google Shape;3820;p159"/>
              <p:cNvSpPr/>
              <p:nvPr/>
            </p:nvSpPr>
            <p:spPr>
              <a:xfrm>
                <a:off x="5028455" y="1573033"/>
                <a:ext cx="5272520" cy="6280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9525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0"/>
                  <a:buFont typeface="Arial"/>
                  <a:buNone/>
                </a:pPr>
                <a:r>
                  <a:rPr lang="en-US" sz="12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[The fact, the figure, the date, and the primary source it was verified against]</a:t>
                </a:r>
                <a:endParaRPr sz="12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1" name="Google Shape;3821;p159"/>
              <p:cNvSpPr/>
              <p:nvPr/>
            </p:nvSpPr>
            <p:spPr>
              <a:xfrm>
                <a:off x="4957332" y="1524002"/>
                <a:ext cx="5418472" cy="735470"/>
              </a:xfrm>
              <a:prstGeom prst="rect">
                <a:avLst/>
              </a:prstGeom>
              <a:noFill/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285750" marR="0" lvl="0" indent="-2095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A9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2" name="Google Shape;3822;p159"/>
              <p:cNvSpPr/>
              <p:nvPr/>
            </p:nvSpPr>
            <p:spPr>
              <a:xfrm>
                <a:off x="5028455" y="2496763"/>
                <a:ext cx="5272520" cy="6280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9525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0"/>
                  <a:buFont typeface="Arial"/>
                  <a:buNone/>
                </a:pPr>
                <a:r>
                  <a:rPr lang="en-US" sz="12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[The fact, the figure, the date, and the primary source it was verified against]</a:t>
                </a:r>
                <a:endParaRPr sz="12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3" name="Google Shape;3823;p159"/>
              <p:cNvSpPr/>
              <p:nvPr/>
            </p:nvSpPr>
            <p:spPr>
              <a:xfrm>
                <a:off x="4957332" y="2447732"/>
                <a:ext cx="5418472" cy="735470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285750" marR="0" lvl="0" indent="-2095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A9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4" name="Google Shape;3824;p159"/>
              <p:cNvSpPr/>
              <p:nvPr/>
            </p:nvSpPr>
            <p:spPr>
              <a:xfrm>
                <a:off x="5029327" y="3402849"/>
                <a:ext cx="5272520" cy="6280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9525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0"/>
                  <a:buFont typeface="Arial"/>
                  <a:buNone/>
                </a:pPr>
                <a:r>
                  <a:rPr lang="en-US" sz="12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[The fact, the figure, the date, and the primary source it was verified against]</a:t>
                </a:r>
                <a:endParaRPr sz="12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5" name="Google Shape;3825;p159"/>
              <p:cNvSpPr/>
              <p:nvPr/>
            </p:nvSpPr>
            <p:spPr>
              <a:xfrm>
                <a:off x="4958204" y="3353818"/>
                <a:ext cx="5418472" cy="735470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285750" marR="0" lvl="0" indent="-2095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A9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6" name="Google Shape;3826;p159"/>
              <p:cNvSpPr/>
              <p:nvPr/>
            </p:nvSpPr>
            <p:spPr>
              <a:xfrm>
                <a:off x="5030199" y="4318266"/>
                <a:ext cx="5272520" cy="6280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9525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0"/>
                  <a:buFont typeface="Arial"/>
                  <a:buNone/>
                </a:pPr>
                <a:r>
                  <a:rPr lang="en-US" sz="12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[Which model assumption this evidence supports, and the value we used]</a:t>
                </a:r>
                <a:endParaRPr sz="12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7" name="Google Shape;3827;p159"/>
              <p:cNvSpPr/>
              <p:nvPr/>
            </p:nvSpPr>
            <p:spPr>
              <a:xfrm>
                <a:off x="4959076" y="4269235"/>
                <a:ext cx="5418472" cy="735470"/>
              </a:xfrm>
              <a:prstGeom prst="rect">
                <a:avLst/>
              </a:prstGeom>
              <a:noFill/>
              <a:ln w="12700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285750" marR="0" lvl="0" indent="-2095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A9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8" name="Google Shape;3828;p159"/>
              <p:cNvSpPr/>
              <p:nvPr/>
            </p:nvSpPr>
            <p:spPr>
              <a:xfrm>
                <a:off x="5031071" y="5233683"/>
                <a:ext cx="5272520" cy="6280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9525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0"/>
                  <a:buFont typeface="Arial"/>
                  <a:buNone/>
                </a:pPr>
                <a:r>
                  <a:rPr lang="en-US" sz="12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[The strongest objection to this pillar, and why we still hold it]</a:t>
                </a:r>
                <a:endParaRPr sz="12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9" name="Google Shape;3829;p159"/>
              <p:cNvSpPr/>
              <p:nvPr/>
            </p:nvSpPr>
            <p:spPr>
              <a:xfrm>
                <a:off x="4959948" y="5184652"/>
                <a:ext cx="5418472" cy="735470"/>
              </a:xfrm>
              <a:prstGeom prst="rect">
                <a:avLst/>
              </a:prstGeom>
              <a:noFill/>
              <a:ln w="12700" cap="flat" cmpd="sng">
                <a:solidFill>
                  <a:schemeClr val="l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285750" marR="0" lvl="0" indent="-2095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A9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30" name="Google Shape;3830;p159"/>
            <p:cNvGrpSpPr/>
            <p:nvPr/>
          </p:nvGrpSpPr>
          <p:grpSpPr>
            <a:xfrm>
              <a:off x="552447" y="1568593"/>
              <a:ext cx="3131149" cy="4394214"/>
              <a:chOff x="1828797" y="1523989"/>
              <a:chExt cx="3131149" cy="4394214"/>
            </a:xfrm>
          </p:grpSpPr>
          <p:sp>
            <p:nvSpPr>
              <p:cNvPr id="3831" name="Google Shape;3831;p159"/>
              <p:cNvSpPr/>
              <p:nvPr/>
            </p:nvSpPr>
            <p:spPr>
              <a:xfrm rot="-5400000">
                <a:off x="3421198" y="1644960"/>
                <a:ext cx="735471" cy="2336799"/>
              </a:xfrm>
              <a:custGeom>
                <a:avLst/>
                <a:gdLst/>
                <a:ahLst/>
                <a:cxnLst/>
                <a:rect l="l" t="t" r="r" b="b"/>
                <a:pathLst>
                  <a:path w="735471" h="2336796" extrusionOk="0">
                    <a:moveTo>
                      <a:pt x="735471" y="0"/>
                    </a:moveTo>
                    <a:lnTo>
                      <a:pt x="735471" y="1833505"/>
                    </a:lnTo>
                    <a:lnTo>
                      <a:pt x="735470" y="1833505"/>
                    </a:lnTo>
                    <a:lnTo>
                      <a:pt x="735470" y="2336796"/>
                    </a:lnTo>
                    <a:lnTo>
                      <a:pt x="0" y="2336796"/>
                    </a:lnTo>
                    <a:lnTo>
                      <a:pt x="0" y="869992"/>
                    </a:lnTo>
                    <a:lnTo>
                      <a:pt x="1" y="869992"/>
                    </a:lnTo>
                    <a:lnTo>
                      <a:pt x="1" y="366701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2" name="Google Shape;3832;p159"/>
              <p:cNvSpPr txBox="1"/>
              <p:nvPr/>
            </p:nvSpPr>
            <p:spPr>
              <a:xfrm>
                <a:off x="2620512" y="2175155"/>
                <a:ext cx="2221144" cy="5280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40075" tIns="274300" rIns="182875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Evidence 2</a:t>
                </a:r>
                <a:endParaRPr sz="16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3" name="Google Shape;3833;p159"/>
              <p:cNvSpPr/>
              <p:nvPr/>
            </p:nvSpPr>
            <p:spPr>
              <a:xfrm>
                <a:off x="2039630" y="2016175"/>
                <a:ext cx="1834903" cy="1139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Trebuchet MS"/>
                  <a:buNone/>
                </a:pPr>
                <a:endParaRPr sz="1050" b="1" i="0" u="none" strike="noStrike" cap="non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4" name="Google Shape;3834;p159"/>
              <p:cNvSpPr/>
              <p:nvPr/>
            </p:nvSpPr>
            <p:spPr>
              <a:xfrm>
                <a:off x="2035494" y="2930575"/>
                <a:ext cx="1834903" cy="1139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Trebuchet MS"/>
                  <a:buNone/>
                </a:pPr>
                <a:endParaRPr sz="1050" b="1" i="0" u="none" strike="noStrike" cap="non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5" name="Google Shape;3835;p159"/>
              <p:cNvSpPr/>
              <p:nvPr/>
            </p:nvSpPr>
            <p:spPr>
              <a:xfrm>
                <a:off x="2031358" y="3844975"/>
                <a:ext cx="1834903" cy="1139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Trebuchet MS"/>
                  <a:buNone/>
                </a:pPr>
                <a:endParaRPr sz="1050" b="1" i="0" u="none" strike="noStrike" cap="non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6" name="Google Shape;3836;p159"/>
              <p:cNvSpPr/>
              <p:nvPr/>
            </p:nvSpPr>
            <p:spPr>
              <a:xfrm rot="5400000">
                <a:off x="2293128" y="1915985"/>
                <a:ext cx="1086441" cy="2015097"/>
              </a:xfrm>
              <a:prstGeom prst="flowChartManualInpu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7" name="Google Shape;3837;p159"/>
              <p:cNvSpPr txBox="1"/>
              <p:nvPr/>
            </p:nvSpPr>
            <p:spPr>
              <a:xfrm>
                <a:off x="1828797" y="2380303"/>
                <a:ext cx="1612078" cy="1086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1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770"/>
                  <a:buFont typeface="Trebuchet MS"/>
                  <a:buNone/>
                </a:pPr>
                <a:endParaRPr sz="177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8" name="Google Shape;3838;p159"/>
              <p:cNvSpPr/>
              <p:nvPr/>
            </p:nvSpPr>
            <p:spPr>
              <a:xfrm>
                <a:off x="2035494" y="4759375"/>
                <a:ext cx="1834903" cy="1139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Trebuchet MS"/>
                  <a:buNone/>
                </a:pPr>
                <a:endParaRPr sz="1050" b="1" i="0" u="none" strike="noStrike" cap="non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9" name="Google Shape;3839;p159"/>
              <p:cNvSpPr/>
              <p:nvPr/>
            </p:nvSpPr>
            <p:spPr>
              <a:xfrm>
                <a:off x="2031358" y="5673775"/>
                <a:ext cx="1834903" cy="1139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Trebuchet MS"/>
                  <a:buNone/>
                </a:pPr>
                <a:endParaRPr sz="1050" b="1" i="0" u="none" strike="noStrike" cap="non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0" name="Google Shape;3840;p159"/>
              <p:cNvSpPr/>
              <p:nvPr/>
            </p:nvSpPr>
            <p:spPr>
              <a:xfrm>
                <a:off x="3361706" y="1630694"/>
                <a:ext cx="1459591" cy="5220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Reference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1" name="Google Shape;3841;p159"/>
              <p:cNvSpPr/>
              <p:nvPr/>
            </p:nvSpPr>
            <p:spPr>
              <a:xfrm rot="5400000">
                <a:off x="1998985" y="1358151"/>
                <a:ext cx="735470" cy="1067173"/>
              </a:xfrm>
              <a:custGeom>
                <a:avLst/>
                <a:gdLst/>
                <a:ahLst/>
                <a:cxnLst/>
                <a:rect l="l" t="t" r="r" b="b"/>
                <a:pathLst>
                  <a:path w="735470" h="1067173" extrusionOk="0">
                    <a:moveTo>
                      <a:pt x="0" y="1067173"/>
                    </a:moveTo>
                    <a:lnTo>
                      <a:pt x="0" y="366701"/>
                    </a:lnTo>
                    <a:lnTo>
                      <a:pt x="735470" y="0"/>
                    </a:lnTo>
                    <a:lnTo>
                      <a:pt x="735470" y="1067173"/>
                    </a:lnTo>
                    <a:close/>
                  </a:path>
                </a:pathLst>
              </a:custGeom>
              <a:solidFill>
                <a:srgbClr val="00336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2" name="Google Shape;3842;p159"/>
              <p:cNvSpPr txBox="1"/>
              <p:nvPr/>
            </p:nvSpPr>
            <p:spPr>
              <a:xfrm>
                <a:off x="1833123" y="1524001"/>
                <a:ext cx="1067173" cy="7354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1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Trebuchet MS"/>
                  <a:buNone/>
                </a:pPr>
                <a:endParaRPr sz="2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3" name="Google Shape;3843;p159"/>
              <p:cNvSpPr/>
              <p:nvPr/>
            </p:nvSpPr>
            <p:spPr>
              <a:xfrm rot="5400000">
                <a:off x="1996917" y="2274620"/>
                <a:ext cx="735470" cy="1063036"/>
              </a:xfrm>
              <a:custGeom>
                <a:avLst/>
                <a:gdLst/>
                <a:ahLst/>
                <a:cxnLst/>
                <a:rect l="l" t="t" r="r" b="b"/>
                <a:pathLst>
                  <a:path w="735470" h="1063036" extrusionOk="0">
                    <a:moveTo>
                      <a:pt x="0" y="1063036"/>
                    </a:moveTo>
                    <a:lnTo>
                      <a:pt x="0" y="366701"/>
                    </a:lnTo>
                    <a:lnTo>
                      <a:pt x="735470" y="0"/>
                    </a:lnTo>
                    <a:lnTo>
                      <a:pt x="735470" y="1063036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4" name="Google Shape;3844;p159"/>
              <p:cNvSpPr txBox="1"/>
              <p:nvPr/>
            </p:nvSpPr>
            <p:spPr>
              <a:xfrm>
                <a:off x="1833117" y="2438383"/>
                <a:ext cx="1063036" cy="7354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1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Trebuchet MS"/>
                  <a:buNone/>
                </a:pPr>
                <a:endParaRPr sz="2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5" name="Google Shape;3845;p159"/>
              <p:cNvSpPr/>
              <p:nvPr/>
            </p:nvSpPr>
            <p:spPr>
              <a:xfrm rot="5400000">
                <a:off x="1994849" y="3191086"/>
                <a:ext cx="735470" cy="1058902"/>
              </a:xfrm>
              <a:custGeom>
                <a:avLst/>
                <a:gdLst/>
                <a:ahLst/>
                <a:cxnLst/>
                <a:rect l="l" t="t" r="r" b="b"/>
                <a:pathLst>
                  <a:path w="735470" h="1058902" extrusionOk="0">
                    <a:moveTo>
                      <a:pt x="0" y="1058902"/>
                    </a:moveTo>
                    <a:lnTo>
                      <a:pt x="0" y="366701"/>
                    </a:lnTo>
                    <a:lnTo>
                      <a:pt x="735470" y="0"/>
                    </a:lnTo>
                    <a:lnTo>
                      <a:pt x="735470" y="1058902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6" name="Google Shape;3846;p159"/>
              <p:cNvSpPr txBox="1"/>
              <p:nvPr/>
            </p:nvSpPr>
            <p:spPr>
              <a:xfrm>
                <a:off x="1833109" y="3352791"/>
                <a:ext cx="1058902" cy="7354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1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Trebuchet MS"/>
                  <a:buNone/>
                </a:pPr>
                <a:endParaRPr sz="2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7" name="Google Shape;3847;p159"/>
              <p:cNvSpPr/>
              <p:nvPr/>
            </p:nvSpPr>
            <p:spPr>
              <a:xfrm rot="5400000">
                <a:off x="1996916" y="4103420"/>
                <a:ext cx="735470" cy="1063037"/>
              </a:xfrm>
              <a:custGeom>
                <a:avLst/>
                <a:gdLst/>
                <a:ahLst/>
                <a:cxnLst/>
                <a:rect l="l" t="t" r="r" b="b"/>
                <a:pathLst>
                  <a:path w="735470" h="1063037" extrusionOk="0">
                    <a:moveTo>
                      <a:pt x="0" y="1063037"/>
                    </a:moveTo>
                    <a:lnTo>
                      <a:pt x="0" y="366701"/>
                    </a:lnTo>
                    <a:lnTo>
                      <a:pt x="735470" y="0"/>
                    </a:lnTo>
                    <a:lnTo>
                      <a:pt x="735470" y="1063037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8" name="Google Shape;3848;p159"/>
              <p:cNvSpPr txBox="1"/>
              <p:nvPr/>
            </p:nvSpPr>
            <p:spPr>
              <a:xfrm>
                <a:off x="1833116" y="4267184"/>
                <a:ext cx="1063037" cy="7354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1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Trebuchet MS"/>
                  <a:buNone/>
                </a:pPr>
                <a:endParaRPr sz="2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9" name="Google Shape;3849;p159"/>
              <p:cNvSpPr/>
              <p:nvPr/>
            </p:nvSpPr>
            <p:spPr>
              <a:xfrm rot="5400000">
                <a:off x="1994849" y="5019886"/>
                <a:ext cx="735470" cy="1058902"/>
              </a:xfrm>
              <a:custGeom>
                <a:avLst/>
                <a:gdLst/>
                <a:ahLst/>
                <a:cxnLst/>
                <a:rect l="l" t="t" r="r" b="b"/>
                <a:pathLst>
                  <a:path w="735470" h="1058902" extrusionOk="0">
                    <a:moveTo>
                      <a:pt x="0" y="1058902"/>
                    </a:moveTo>
                    <a:lnTo>
                      <a:pt x="0" y="366701"/>
                    </a:lnTo>
                    <a:lnTo>
                      <a:pt x="735470" y="0"/>
                    </a:lnTo>
                    <a:lnTo>
                      <a:pt x="735470" y="1058902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0" name="Google Shape;3850;p159"/>
              <p:cNvSpPr txBox="1"/>
              <p:nvPr/>
            </p:nvSpPr>
            <p:spPr>
              <a:xfrm>
                <a:off x="1833109" y="5181591"/>
                <a:ext cx="1058902" cy="7354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1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Trebuchet MS"/>
                  <a:buNone/>
                </a:pPr>
                <a:endParaRPr sz="2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1" name="Google Shape;3851;p159"/>
              <p:cNvSpPr/>
              <p:nvPr/>
            </p:nvSpPr>
            <p:spPr>
              <a:xfrm rot="-5400000">
                <a:off x="3421198" y="723338"/>
                <a:ext cx="735471" cy="2336796"/>
              </a:xfrm>
              <a:custGeom>
                <a:avLst/>
                <a:gdLst/>
                <a:ahLst/>
                <a:cxnLst/>
                <a:rect l="l" t="t" r="r" b="b"/>
                <a:pathLst>
                  <a:path w="735471" h="2336796" extrusionOk="0">
                    <a:moveTo>
                      <a:pt x="735471" y="0"/>
                    </a:moveTo>
                    <a:lnTo>
                      <a:pt x="735471" y="1833505"/>
                    </a:lnTo>
                    <a:lnTo>
                      <a:pt x="735470" y="1833505"/>
                    </a:lnTo>
                    <a:lnTo>
                      <a:pt x="735470" y="2336796"/>
                    </a:lnTo>
                    <a:lnTo>
                      <a:pt x="0" y="2336796"/>
                    </a:lnTo>
                    <a:lnTo>
                      <a:pt x="0" y="869992"/>
                    </a:lnTo>
                    <a:lnTo>
                      <a:pt x="1" y="869992"/>
                    </a:lnTo>
                    <a:lnTo>
                      <a:pt x="1" y="366701"/>
                    </a:lnTo>
                    <a:close/>
                  </a:path>
                </a:pathLst>
              </a:custGeom>
              <a:solidFill>
                <a:schemeClr val="accent6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2" name="Google Shape;3852;p159"/>
              <p:cNvSpPr txBox="1"/>
              <p:nvPr/>
            </p:nvSpPr>
            <p:spPr>
              <a:xfrm>
                <a:off x="2620513" y="1523989"/>
                <a:ext cx="2336796" cy="464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40075" tIns="274300" rIns="182875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Evidence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853" name="Google Shape;3853;p15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898553" y="5219748"/>
                <a:ext cx="659178" cy="6591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54" name="Google Shape;3854;p15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014100" y="1671748"/>
                <a:ext cx="436500" cy="436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55" name="Google Shape;3855;p15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956529" y="3491273"/>
                <a:ext cx="483049" cy="4830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56" name="Google Shape;3856;p159"/>
              <p:cNvSpPr/>
              <p:nvPr/>
            </p:nvSpPr>
            <p:spPr>
              <a:xfrm rot="-5400000">
                <a:off x="3422069" y="2551235"/>
                <a:ext cx="735471" cy="2336796"/>
              </a:xfrm>
              <a:custGeom>
                <a:avLst/>
                <a:gdLst/>
                <a:ahLst/>
                <a:cxnLst/>
                <a:rect l="l" t="t" r="r" b="b"/>
                <a:pathLst>
                  <a:path w="735471" h="2336796" extrusionOk="0">
                    <a:moveTo>
                      <a:pt x="735471" y="0"/>
                    </a:moveTo>
                    <a:lnTo>
                      <a:pt x="735471" y="1833505"/>
                    </a:lnTo>
                    <a:lnTo>
                      <a:pt x="735470" y="1833505"/>
                    </a:lnTo>
                    <a:lnTo>
                      <a:pt x="735470" y="2336796"/>
                    </a:lnTo>
                    <a:lnTo>
                      <a:pt x="0" y="2336796"/>
                    </a:lnTo>
                    <a:lnTo>
                      <a:pt x="0" y="869992"/>
                    </a:lnTo>
                    <a:lnTo>
                      <a:pt x="1" y="869992"/>
                    </a:lnTo>
                    <a:lnTo>
                      <a:pt x="1" y="366701"/>
                    </a:lnTo>
                    <a:close/>
                  </a:path>
                </a:pathLst>
              </a:custGeom>
              <a:solidFill>
                <a:schemeClr val="accent4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7" name="Google Shape;3857;p159"/>
              <p:cNvSpPr txBox="1"/>
              <p:nvPr/>
            </p:nvSpPr>
            <p:spPr>
              <a:xfrm>
                <a:off x="2621388" y="3210219"/>
                <a:ext cx="2336796" cy="735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40075" tIns="274300" rIns="182875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Evidence 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8" name="Google Shape;3858;p159"/>
              <p:cNvSpPr/>
              <p:nvPr/>
            </p:nvSpPr>
            <p:spPr>
              <a:xfrm rot="-5400000">
                <a:off x="3422941" y="3466652"/>
                <a:ext cx="735471" cy="2336796"/>
              </a:xfrm>
              <a:custGeom>
                <a:avLst/>
                <a:gdLst/>
                <a:ahLst/>
                <a:cxnLst/>
                <a:rect l="l" t="t" r="r" b="b"/>
                <a:pathLst>
                  <a:path w="735471" h="2336796" extrusionOk="0">
                    <a:moveTo>
                      <a:pt x="735471" y="0"/>
                    </a:moveTo>
                    <a:lnTo>
                      <a:pt x="735471" y="1833505"/>
                    </a:lnTo>
                    <a:lnTo>
                      <a:pt x="735470" y="1833505"/>
                    </a:lnTo>
                    <a:lnTo>
                      <a:pt x="735470" y="2336796"/>
                    </a:lnTo>
                    <a:lnTo>
                      <a:pt x="0" y="2336796"/>
                    </a:lnTo>
                    <a:lnTo>
                      <a:pt x="0" y="869992"/>
                    </a:lnTo>
                    <a:lnTo>
                      <a:pt x="1" y="869992"/>
                    </a:lnTo>
                    <a:lnTo>
                      <a:pt x="1" y="366701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9" name="Google Shape;3859;p159"/>
              <p:cNvSpPr txBox="1"/>
              <p:nvPr/>
            </p:nvSpPr>
            <p:spPr>
              <a:xfrm>
                <a:off x="2622263" y="4112765"/>
                <a:ext cx="2336796" cy="735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40075" tIns="274300" rIns="182875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Model link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0" name="Google Shape;3860;p159"/>
              <p:cNvSpPr/>
              <p:nvPr/>
            </p:nvSpPr>
            <p:spPr>
              <a:xfrm rot="-5400000">
                <a:off x="3423813" y="4382069"/>
                <a:ext cx="735471" cy="2336796"/>
              </a:xfrm>
              <a:custGeom>
                <a:avLst/>
                <a:gdLst/>
                <a:ahLst/>
                <a:cxnLst/>
                <a:rect l="l" t="t" r="r" b="b"/>
                <a:pathLst>
                  <a:path w="735471" h="2336796" extrusionOk="0">
                    <a:moveTo>
                      <a:pt x="735471" y="0"/>
                    </a:moveTo>
                    <a:lnTo>
                      <a:pt x="735471" y="1833505"/>
                    </a:lnTo>
                    <a:lnTo>
                      <a:pt x="735470" y="1833505"/>
                    </a:lnTo>
                    <a:lnTo>
                      <a:pt x="735470" y="2336796"/>
                    </a:lnTo>
                    <a:lnTo>
                      <a:pt x="0" y="2336796"/>
                    </a:lnTo>
                    <a:lnTo>
                      <a:pt x="0" y="869992"/>
                    </a:lnTo>
                    <a:lnTo>
                      <a:pt x="1" y="869992"/>
                    </a:lnTo>
                    <a:lnTo>
                      <a:pt x="1" y="366701"/>
                    </a:lnTo>
                    <a:close/>
                  </a:path>
                </a:pathLst>
              </a:custGeom>
              <a:solidFill>
                <a:srgbClr val="8F8F8F"/>
              </a:solidFill>
              <a:ln w="127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1" name="Google Shape;3861;p159"/>
              <p:cNvSpPr txBox="1"/>
              <p:nvPr/>
            </p:nvSpPr>
            <p:spPr>
              <a:xfrm>
                <a:off x="2623138" y="5028165"/>
                <a:ext cx="2336796" cy="735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40075" tIns="274300" rIns="182875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Counterpoint</a:t>
                </a:r>
                <a:endParaRPr sz="16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862" name="Google Shape;3862;p159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986191" y="2562275"/>
                <a:ext cx="483902" cy="4839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63" name="Google Shape;3863;p159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958799" y="4370837"/>
                <a:ext cx="530272" cy="5302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864" name="Google Shape;3864;p159"/>
          <p:cNvSpPr txBox="1"/>
          <p:nvPr/>
        </p:nvSpPr>
        <p:spPr>
          <a:xfrm>
            <a:off x="11638722" y="6464632"/>
            <a:ext cx="546429" cy="39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8" name="Google Shape;4078;p167"/>
          <p:cNvSpPr txBox="1">
            <a:spLocks noGrp="1"/>
          </p:cNvSpPr>
          <p:nvPr>
            <p:ph type="title"/>
          </p:nvPr>
        </p:nvSpPr>
        <p:spPr>
          <a:xfrm>
            <a:off x="115628" y="-1"/>
            <a:ext cx="10413999" cy="73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Thesis 1 — [the claim, stated as a sentence a judge can repeat]</a:t>
            </a:r>
            <a:endParaRPr/>
          </a:p>
        </p:txBody>
      </p:sp>
      <p:sp>
        <p:nvSpPr>
          <p:cNvPr id="4079" name="Google Shape;4079;p167"/>
          <p:cNvSpPr txBox="1">
            <a:spLocks noGrp="1"/>
          </p:cNvSpPr>
          <p:nvPr>
            <p:ph type="body" idx="1"/>
          </p:nvPr>
        </p:nvSpPr>
        <p:spPr>
          <a:xfrm>
            <a:off x="25661" y="856084"/>
            <a:ext cx="11914886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[One line on what the chart proves and where the data came from.]</a:t>
            </a:r>
            <a:endParaRPr/>
          </a:p>
        </p:txBody>
      </p:sp>
      <p:sp>
        <p:nvSpPr>
          <p:cNvPr id="4080" name="Google Shape;4080;p167"/>
          <p:cNvSpPr txBox="1">
            <a:spLocks noGrp="1"/>
          </p:cNvSpPr>
          <p:nvPr>
            <p:ph type="body" idx="2"/>
          </p:nvPr>
        </p:nvSpPr>
        <p:spPr>
          <a:xfrm>
            <a:off x="27273" y="6467650"/>
            <a:ext cx="40513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grpSp>
        <p:nvGrpSpPr>
          <p:cNvPr id="4081" name="Google Shape;4081;p167"/>
          <p:cNvGrpSpPr/>
          <p:nvPr/>
        </p:nvGrpSpPr>
        <p:grpSpPr>
          <a:xfrm>
            <a:off x="6552779" y="2024652"/>
            <a:ext cx="5105400" cy="1456856"/>
            <a:chOff x="389723" y="3089609"/>
            <a:chExt cx="5105400" cy="1456856"/>
          </a:xfrm>
        </p:grpSpPr>
        <p:sp>
          <p:nvSpPr>
            <p:cNvPr id="4082" name="Google Shape;4082;p167"/>
            <p:cNvSpPr txBox="1"/>
            <p:nvPr/>
          </p:nvSpPr>
          <p:spPr>
            <a:xfrm>
              <a:off x="389723" y="3090800"/>
              <a:ext cx="5105400" cy="1455665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Char char="▪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[Headline figure, period, and source]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Char char="▪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[The trend and its rate of change]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Char char="▪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[How it maps to the revenue line in our model]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Char char="▪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[The single number that would break this pillar]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3" name="Google Shape;4083;p167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What the data shows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84" name="Google Shape;4084;p167"/>
          <p:cNvGrpSpPr/>
          <p:nvPr/>
        </p:nvGrpSpPr>
        <p:grpSpPr>
          <a:xfrm>
            <a:off x="6552779" y="3633978"/>
            <a:ext cx="2498278" cy="1085508"/>
            <a:chOff x="6553201" y="3423313"/>
            <a:chExt cx="2498278" cy="1085508"/>
          </a:xfrm>
        </p:grpSpPr>
        <p:sp>
          <p:nvSpPr>
            <p:cNvPr id="4085" name="Google Shape;4085;p167"/>
            <p:cNvSpPr txBox="1"/>
            <p:nvPr/>
          </p:nvSpPr>
          <p:spPr>
            <a:xfrm>
              <a:off x="6553201" y="3424505"/>
              <a:ext cx="2498278" cy="108431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Char char="▪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[Figure and source]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Char char="▪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[Why it holds]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6" name="Google Shape;4086;p167"/>
            <p:cNvSpPr/>
            <p:nvPr/>
          </p:nvSpPr>
          <p:spPr>
            <a:xfrm>
              <a:off x="6553201" y="3423313"/>
              <a:ext cx="1782384" cy="333146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Evidence 1: [name]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4087" name="Google Shape;4087;p167"/>
          <p:cNvGraphicFramePr/>
          <p:nvPr/>
        </p:nvGraphicFramePr>
        <p:xfrm>
          <a:off x="146598" y="1805178"/>
          <a:ext cx="5791202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4088" name="Google Shape;4088;p167"/>
          <p:cNvGrpSpPr/>
          <p:nvPr/>
        </p:nvGrpSpPr>
        <p:grpSpPr>
          <a:xfrm>
            <a:off x="6553200" y="4834470"/>
            <a:ext cx="2498278" cy="1085508"/>
            <a:chOff x="6553201" y="3423313"/>
            <a:chExt cx="2498278" cy="1085508"/>
          </a:xfrm>
        </p:grpSpPr>
        <p:sp>
          <p:nvSpPr>
            <p:cNvPr id="4089" name="Google Shape;4089;p167"/>
            <p:cNvSpPr txBox="1"/>
            <p:nvPr/>
          </p:nvSpPr>
          <p:spPr>
            <a:xfrm>
              <a:off x="6553201" y="3424505"/>
              <a:ext cx="2498278" cy="108431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Char char="▪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[Assumption it drives]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Char char="▪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[Sensitivity]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0" name="Google Shape;4090;p167"/>
            <p:cNvSpPr/>
            <p:nvPr/>
          </p:nvSpPr>
          <p:spPr>
            <a:xfrm>
              <a:off x="6553201" y="3423313"/>
              <a:ext cx="1782384" cy="333146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Model link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91" name="Google Shape;4091;p167"/>
          <p:cNvGrpSpPr/>
          <p:nvPr/>
        </p:nvGrpSpPr>
        <p:grpSpPr>
          <a:xfrm>
            <a:off x="9160322" y="3633978"/>
            <a:ext cx="2498278" cy="1085508"/>
            <a:chOff x="6553201" y="3423313"/>
            <a:chExt cx="2498278" cy="1085508"/>
          </a:xfrm>
        </p:grpSpPr>
        <p:sp>
          <p:nvSpPr>
            <p:cNvPr id="4092" name="Google Shape;4092;p167"/>
            <p:cNvSpPr txBox="1"/>
            <p:nvPr/>
          </p:nvSpPr>
          <p:spPr>
            <a:xfrm>
              <a:off x="6553201" y="3424505"/>
              <a:ext cx="2498278" cy="108431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Char char="▪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[Figure and source]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Char char="▪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[Why it holds]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3" name="Google Shape;4093;p167"/>
            <p:cNvSpPr/>
            <p:nvPr/>
          </p:nvSpPr>
          <p:spPr>
            <a:xfrm>
              <a:off x="6553201" y="3423313"/>
              <a:ext cx="1782384" cy="333146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Evidence 2: [name]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94" name="Google Shape;4094;p167"/>
          <p:cNvGrpSpPr/>
          <p:nvPr/>
        </p:nvGrpSpPr>
        <p:grpSpPr>
          <a:xfrm>
            <a:off x="9160322" y="4834470"/>
            <a:ext cx="2498278" cy="1085508"/>
            <a:chOff x="6553201" y="3423313"/>
            <a:chExt cx="2498278" cy="1085508"/>
          </a:xfrm>
        </p:grpSpPr>
        <p:sp>
          <p:nvSpPr>
            <p:cNvPr id="4095" name="Google Shape;4095;p167"/>
            <p:cNvSpPr txBox="1"/>
            <p:nvPr/>
          </p:nvSpPr>
          <p:spPr>
            <a:xfrm>
              <a:off x="6553201" y="3424505"/>
              <a:ext cx="2498278" cy="108431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Char char="▪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[The strongest objection]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Char char="▪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[Our answer]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6" name="Google Shape;4096;p167"/>
            <p:cNvSpPr/>
            <p:nvPr/>
          </p:nvSpPr>
          <p:spPr>
            <a:xfrm>
              <a:off x="6553201" y="3423313"/>
              <a:ext cx="1782384" cy="333146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Counterpoint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97" name="Google Shape;4097;p167"/>
          <p:cNvSpPr/>
          <p:nvPr/>
        </p:nvSpPr>
        <p:spPr>
          <a:xfrm rot="5400000">
            <a:off x="4307045" y="3840040"/>
            <a:ext cx="3619214" cy="254169"/>
          </a:xfrm>
          <a:prstGeom prst="triangle">
            <a:avLst>
              <a:gd name="adj" fmla="val 50766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8" name="Google Shape;4098;p167"/>
          <p:cNvSpPr txBox="1"/>
          <p:nvPr/>
        </p:nvSpPr>
        <p:spPr>
          <a:xfrm>
            <a:off x="11638722" y="6464632"/>
            <a:ext cx="546429" cy="39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3"/>
          <p:cNvSpPr txBox="1">
            <a:spLocks noGrp="1"/>
          </p:cNvSpPr>
          <p:nvPr>
            <p:ph type="title"/>
          </p:nvPr>
        </p:nvSpPr>
        <p:spPr>
          <a:xfrm>
            <a:off x="115628" y="-1"/>
            <a:ext cx="10413999" cy="73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Appendix — revenue build, cost build, and scenario detail</a:t>
            </a:r>
            <a:endParaRPr/>
          </a:p>
        </p:txBody>
      </p:sp>
      <p:sp>
        <p:nvSpPr>
          <p:cNvPr id="306" name="Google Shape;306;p83"/>
          <p:cNvSpPr txBox="1">
            <a:spLocks noGrp="1"/>
          </p:cNvSpPr>
          <p:nvPr>
            <p:ph type="body" idx="1"/>
          </p:nvPr>
        </p:nvSpPr>
        <p:spPr>
          <a:xfrm>
            <a:off x="13135" y="747797"/>
            <a:ext cx="11914886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/>
              <a:t>[Estimate basis and valuation date. Flag any figure that is ours rather than consensus.]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07" name="Google Shape;307;p83"/>
          <p:cNvSpPr txBox="1">
            <a:spLocks noGrp="1"/>
          </p:cNvSpPr>
          <p:nvPr>
            <p:ph type="body" idx="2"/>
          </p:nvPr>
        </p:nvSpPr>
        <p:spPr>
          <a:xfrm>
            <a:off x="27273" y="6467650"/>
            <a:ext cx="40513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grpSp>
        <p:nvGrpSpPr>
          <p:cNvPr id="308" name="Google Shape;308;p83"/>
          <p:cNvGrpSpPr/>
          <p:nvPr/>
        </p:nvGrpSpPr>
        <p:grpSpPr>
          <a:xfrm>
            <a:off x="421399" y="1890184"/>
            <a:ext cx="2658277" cy="915778"/>
            <a:chOff x="389723" y="3089609"/>
            <a:chExt cx="2658277" cy="915778"/>
          </a:xfrm>
        </p:grpSpPr>
        <p:sp>
          <p:nvSpPr>
            <p:cNvPr id="309" name="Google Shape;309;p83"/>
            <p:cNvSpPr txBox="1"/>
            <p:nvPr/>
          </p:nvSpPr>
          <p:spPr>
            <a:xfrm>
              <a:off x="389723" y="3090801"/>
              <a:ext cx="2658277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[Units x ASP, or segment growth]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[Driver and rate assumed]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Revenue build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83"/>
          <p:cNvGrpSpPr/>
          <p:nvPr/>
        </p:nvGrpSpPr>
        <p:grpSpPr>
          <a:xfrm>
            <a:off x="8489455" y="1888806"/>
            <a:ext cx="3281568" cy="4114800"/>
            <a:chOff x="389723" y="3089609"/>
            <a:chExt cx="3281568" cy="4039382"/>
          </a:xfrm>
        </p:grpSpPr>
        <p:sp>
          <p:nvSpPr>
            <p:cNvPr id="312" name="Google Shape;312;p83"/>
            <p:cNvSpPr txBox="1"/>
            <p:nvPr/>
          </p:nvSpPr>
          <p:spPr>
            <a:xfrm>
              <a:off x="389723" y="3090800"/>
              <a:ext cx="3281568" cy="4038191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Base case value: [$   ]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Probability-weighted: [$   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Downside to bear: [   ]%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Most sensitive assumption: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476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[Name it, and state the effect of a 10% change on the target]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Case switch: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476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[Where it sits in the workbook and which cells it drives]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[ 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4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Model summary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" name="Google Shape;314;p83"/>
          <p:cNvGrpSpPr/>
          <p:nvPr/>
        </p:nvGrpSpPr>
        <p:grpSpPr>
          <a:xfrm>
            <a:off x="3231655" y="1890184"/>
            <a:ext cx="5105400" cy="915778"/>
            <a:chOff x="389723" y="3089609"/>
            <a:chExt cx="5105400" cy="915778"/>
          </a:xfrm>
        </p:grpSpPr>
        <p:sp>
          <p:nvSpPr>
            <p:cNvPr id="315" name="Google Shape;315;p83"/>
            <p:cNvSpPr txBox="1"/>
            <p:nvPr/>
          </p:nvSpPr>
          <p:spPr>
            <a:xfrm>
              <a:off x="389723" y="3090801"/>
              <a:ext cx="5105400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[COGS, opex and capex path, and what drives the margin trajectory]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Cost build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" name="Google Shape;317;p83"/>
          <p:cNvGrpSpPr/>
          <p:nvPr/>
        </p:nvGrpSpPr>
        <p:grpSpPr>
          <a:xfrm>
            <a:off x="421399" y="2954228"/>
            <a:ext cx="2658277" cy="915778"/>
            <a:chOff x="389723" y="3089609"/>
            <a:chExt cx="2658277" cy="915778"/>
          </a:xfrm>
        </p:grpSpPr>
        <p:sp>
          <p:nvSpPr>
            <p:cNvPr id="318" name="Google Shape;318;p83"/>
            <p:cNvSpPr txBox="1"/>
            <p:nvPr/>
          </p:nvSpPr>
          <p:spPr>
            <a:xfrm>
              <a:off x="389723" y="3090801"/>
              <a:ext cx="2658277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[Assumptions]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[Value and probability]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Bull case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0" name="Google Shape;320;p83"/>
          <p:cNvGrpSpPr/>
          <p:nvPr/>
        </p:nvGrpSpPr>
        <p:grpSpPr>
          <a:xfrm>
            <a:off x="3232076" y="2955606"/>
            <a:ext cx="5104979" cy="915778"/>
            <a:chOff x="389723" y="3089609"/>
            <a:chExt cx="5104979" cy="915778"/>
          </a:xfrm>
        </p:grpSpPr>
        <p:sp>
          <p:nvSpPr>
            <p:cNvPr id="321" name="Google Shape;321;p83"/>
            <p:cNvSpPr txBox="1"/>
            <p:nvPr/>
          </p:nvSpPr>
          <p:spPr>
            <a:xfrm>
              <a:off x="389723" y="3090801"/>
              <a:ext cx="5104979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[Assumptions]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[Value and probability]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Base case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83"/>
          <p:cNvGrpSpPr/>
          <p:nvPr/>
        </p:nvGrpSpPr>
        <p:grpSpPr>
          <a:xfrm>
            <a:off x="421820" y="4019650"/>
            <a:ext cx="2658277" cy="915778"/>
            <a:chOff x="389723" y="3089609"/>
            <a:chExt cx="2658277" cy="915778"/>
          </a:xfrm>
        </p:grpSpPr>
        <p:sp>
          <p:nvSpPr>
            <p:cNvPr id="324" name="Google Shape;324;p83"/>
            <p:cNvSpPr txBox="1"/>
            <p:nvPr/>
          </p:nvSpPr>
          <p:spPr>
            <a:xfrm>
              <a:off x="389723" y="3090801"/>
              <a:ext cx="2658277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[Assumptions]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[Value and probability]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Bear case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" name="Google Shape;326;p83"/>
          <p:cNvGrpSpPr/>
          <p:nvPr/>
        </p:nvGrpSpPr>
        <p:grpSpPr>
          <a:xfrm>
            <a:off x="3232497" y="4021028"/>
            <a:ext cx="2742358" cy="915778"/>
            <a:chOff x="389723" y="3089609"/>
            <a:chExt cx="2742358" cy="915778"/>
          </a:xfrm>
        </p:grpSpPr>
        <p:sp>
          <p:nvSpPr>
            <p:cNvPr id="327" name="Google Shape;327;p83"/>
            <p:cNvSpPr txBox="1"/>
            <p:nvPr/>
          </p:nvSpPr>
          <p:spPr>
            <a:xfrm>
              <a:off x="389723" y="3090801"/>
              <a:ext cx="2742358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[WACC range tested]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[Terminal growth range]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Sensitivity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" name="Google Shape;329;p83"/>
          <p:cNvGrpSpPr/>
          <p:nvPr/>
        </p:nvGrpSpPr>
        <p:grpSpPr>
          <a:xfrm>
            <a:off x="421399" y="5087828"/>
            <a:ext cx="2658277" cy="915778"/>
            <a:chOff x="389723" y="3089609"/>
            <a:chExt cx="2658277" cy="915778"/>
          </a:xfrm>
        </p:grpSpPr>
        <p:sp>
          <p:nvSpPr>
            <p:cNvPr id="330" name="Google Shape;330;p83"/>
            <p:cNvSpPr txBox="1"/>
            <p:nvPr/>
          </p:nvSpPr>
          <p:spPr>
            <a:xfrm>
              <a:off x="389723" y="3090801"/>
              <a:ext cx="2658277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[Closest peer and the gap]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[What explains it]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Comps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2" name="Google Shape;332;p83"/>
          <p:cNvGrpSpPr/>
          <p:nvPr/>
        </p:nvGrpSpPr>
        <p:grpSpPr>
          <a:xfrm>
            <a:off x="3232076" y="5089206"/>
            <a:ext cx="2742779" cy="915778"/>
            <a:chOff x="389723" y="3089609"/>
            <a:chExt cx="2742779" cy="915778"/>
          </a:xfrm>
        </p:grpSpPr>
        <p:sp>
          <p:nvSpPr>
            <p:cNvPr id="333" name="Google Shape;333;p83"/>
            <p:cNvSpPr txBox="1"/>
            <p:nvPr/>
          </p:nvSpPr>
          <p:spPr>
            <a:xfrm>
              <a:off x="389723" y="3090801"/>
              <a:ext cx="2742779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[Inventory and receivable days]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[Cash conversion]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0" indent="-952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Working capital</a:t>
              </a:r>
              <a:endPara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83"/>
          <p:cNvGrpSpPr/>
          <p:nvPr/>
        </p:nvGrpSpPr>
        <p:grpSpPr>
          <a:xfrm>
            <a:off x="6128097" y="4025454"/>
            <a:ext cx="2208537" cy="915778"/>
            <a:chOff x="389723" y="3089609"/>
            <a:chExt cx="2208537" cy="915778"/>
          </a:xfrm>
        </p:grpSpPr>
        <p:sp>
          <p:nvSpPr>
            <p:cNvPr id="336" name="Google Shape;336;p83"/>
            <p:cNvSpPr txBox="1"/>
            <p:nvPr/>
          </p:nvSpPr>
          <p:spPr>
            <a:xfrm>
              <a:off x="389723" y="3090801"/>
              <a:ext cx="2208537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[Dilution assumed and why]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Share count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8" name="Google Shape;338;p83"/>
          <p:cNvGrpSpPr/>
          <p:nvPr/>
        </p:nvGrpSpPr>
        <p:grpSpPr>
          <a:xfrm>
            <a:off x="6127676" y="5093632"/>
            <a:ext cx="2208959" cy="915778"/>
            <a:chOff x="389723" y="3089609"/>
            <a:chExt cx="2208959" cy="915778"/>
          </a:xfrm>
        </p:grpSpPr>
        <p:sp>
          <p:nvSpPr>
            <p:cNvPr id="339" name="Google Shape;339;p83"/>
            <p:cNvSpPr txBox="1"/>
            <p:nvPr/>
          </p:nvSpPr>
          <p:spPr>
            <a:xfrm>
              <a:off x="389724" y="3090801"/>
              <a:ext cx="2208958" cy="914586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11475" rIns="91425" bIns="4570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[Anything unverified or estimated]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83"/>
            <p:cNvSpPr/>
            <p:nvPr/>
          </p:nvSpPr>
          <p:spPr>
            <a:xfrm>
              <a:off x="389723" y="3089609"/>
              <a:ext cx="1956521" cy="303221"/>
            </a:xfrm>
            <a:custGeom>
              <a:avLst/>
              <a:gdLst/>
              <a:ahLst/>
              <a:cxnLst/>
              <a:rect l="l" t="t" r="r" b="b"/>
              <a:pathLst>
                <a:path w="1956521" h="303221" extrusionOk="0">
                  <a:moveTo>
                    <a:pt x="0" y="0"/>
                  </a:moveTo>
                  <a:lnTo>
                    <a:pt x="1755353" y="0"/>
                  </a:lnTo>
                  <a:lnTo>
                    <a:pt x="1755353" y="433"/>
                  </a:lnTo>
                  <a:lnTo>
                    <a:pt x="1956521" y="433"/>
                  </a:lnTo>
                  <a:lnTo>
                    <a:pt x="1755353" y="302185"/>
                  </a:lnTo>
                  <a:lnTo>
                    <a:pt x="1755353" y="303221"/>
                  </a:lnTo>
                  <a:lnTo>
                    <a:pt x="0" y="303221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 caveats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1" name="Google Shape;341;p83"/>
          <p:cNvSpPr txBox="1"/>
          <p:nvPr/>
        </p:nvSpPr>
        <p:spPr>
          <a:xfrm>
            <a:off x="11638722" y="6464632"/>
            <a:ext cx="546429" cy="39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5" name="Google Shape;3815;p159"/>
          <p:cNvSpPr txBox="1">
            <a:spLocks noGrp="1"/>
          </p:cNvSpPr>
          <p:nvPr>
            <p:ph type="title"/>
          </p:nvPr>
        </p:nvSpPr>
        <p:spPr>
          <a:xfrm>
            <a:off x="115628" y="-1"/>
            <a:ext cx="10413999" cy="73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Appendix — verification log and hallucinations found</a:t>
            </a:r>
            <a:endParaRPr/>
          </a:p>
        </p:txBody>
      </p:sp>
      <p:sp>
        <p:nvSpPr>
          <p:cNvPr id="3816" name="Google Shape;3816;p159"/>
          <p:cNvSpPr txBox="1">
            <a:spLocks noGrp="1"/>
          </p:cNvSpPr>
          <p:nvPr>
            <p:ph type="body" idx="1"/>
          </p:nvPr>
        </p:nvSpPr>
        <p:spPr>
          <a:xfrm>
            <a:off x="25661" y="856084"/>
            <a:ext cx="11914886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Required disclosure: every AI-generated figure we could not verify, and every error the model made.</a:t>
            </a:r>
            <a:endParaRPr/>
          </a:p>
        </p:txBody>
      </p:sp>
      <p:sp>
        <p:nvSpPr>
          <p:cNvPr id="3817" name="Google Shape;3817;p159"/>
          <p:cNvSpPr txBox="1">
            <a:spLocks noGrp="1"/>
          </p:cNvSpPr>
          <p:nvPr>
            <p:ph type="body" idx="2"/>
          </p:nvPr>
        </p:nvSpPr>
        <p:spPr>
          <a:xfrm>
            <a:off x="27273" y="6467650"/>
            <a:ext cx="40513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Source: [ ]</a:t>
            </a:r>
            <a:endParaRPr/>
          </a:p>
        </p:txBody>
      </p:sp>
      <p:grpSp>
        <p:nvGrpSpPr>
          <p:cNvPr id="3818" name="Google Shape;3818;p159"/>
          <p:cNvGrpSpPr/>
          <p:nvPr/>
        </p:nvGrpSpPr>
        <p:grpSpPr>
          <a:xfrm>
            <a:off x="341559" y="1800236"/>
            <a:ext cx="11508879" cy="4396133"/>
            <a:chOff x="552447" y="1568593"/>
            <a:chExt cx="11508879" cy="4396133"/>
          </a:xfrm>
        </p:grpSpPr>
        <p:grpSp>
          <p:nvGrpSpPr>
            <p:cNvPr id="3819" name="Google Shape;3819;p159"/>
            <p:cNvGrpSpPr/>
            <p:nvPr/>
          </p:nvGrpSpPr>
          <p:grpSpPr>
            <a:xfrm>
              <a:off x="3680982" y="1568606"/>
              <a:ext cx="8380344" cy="4396120"/>
              <a:chOff x="4957332" y="1524002"/>
              <a:chExt cx="5421088" cy="4396120"/>
            </a:xfrm>
          </p:grpSpPr>
          <p:sp>
            <p:nvSpPr>
              <p:cNvPr id="3820" name="Google Shape;3820;p159"/>
              <p:cNvSpPr/>
              <p:nvPr/>
            </p:nvSpPr>
            <p:spPr>
              <a:xfrm>
                <a:off x="5028455" y="1573033"/>
                <a:ext cx="5272520" cy="6280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9525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0"/>
                  <a:buFont typeface="Arial"/>
                  <a:buNone/>
                </a:pPr>
                <a:r>
                  <a:rPr lang="en-US" sz="12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[What the model asserted, what was actually true, how we caught it, and where it would have landed in the deck. Write 'none found' only if that is true.]</a:t>
                </a:r>
                <a:endParaRPr sz="12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1" name="Google Shape;3821;p159"/>
              <p:cNvSpPr/>
              <p:nvPr/>
            </p:nvSpPr>
            <p:spPr>
              <a:xfrm>
                <a:off x="4957332" y="1524002"/>
                <a:ext cx="5418472" cy="735470"/>
              </a:xfrm>
              <a:prstGeom prst="rect">
                <a:avLst/>
              </a:prstGeom>
              <a:noFill/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285750" marR="0" lvl="0" indent="-2095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A9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2" name="Google Shape;3822;p159"/>
              <p:cNvSpPr/>
              <p:nvPr/>
            </p:nvSpPr>
            <p:spPr>
              <a:xfrm>
                <a:off x="5028455" y="2496763"/>
                <a:ext cx="5272520" cy="6280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9525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0"/>
                  <a:buFont typeface="Arial"/>
                  <a:buNone/>
                </a:pPr>
                <a:r>
                  <a:rPr lang="en-US" sz="12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[Which figures were traced to filings or transcripts, and which to a secondary source we flagged as lower confidence]</a:t>
                </a:r>
                <a:endParaRPr sz="12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3" name="Google Shape;3823;p159"/>
              <p:cNvSpPr/>
              <p:nvPr/>
            </p:nvSpPr>
            <p:spPr>
              <a:xfrm>
                <a:off x="4957332" y="2447732"/>
                <a:ext cx="5418472" cy="735470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285750" marR="0" lvl="0" indent="-2095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A9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4" name="Google Shape;3824;p159"/>
              <p:cNvSpPr/>
              <p:nvPr/>
            </p:nvSpPr>
            <p:spPr>
              <a:xfrm>
                <a:off x="5029327" y="3402849"/>
                <a:ext cx="5272520" cy="6280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9525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0"/>
                  <a:buFont typeface="Arial"/>
                  <a:buNone/>
                </a:pPr>
                <a:r>
                  <a:rPr lang="en-US" sz="12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[Where two sources disagreed — e.g. hyperscaler capex estimates differ materially by house — and which we used and why]</a:t>
                </a:r>
                <a:endParaRPr sz="12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5" name="Google Shape;3825;p159"/>
              <p:cNvSpPr/>
              <p:nvPr/>
            </p:nvSpPr>
            <p:spPr>
              <a:xfrm>
                <a:off x="4958204" y="3353818"/>
                <a:ext cx="5418472" cy="735470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285750" marR="0" lvl="0" indent="-2095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A9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6" name="Google Shape;3826;p159"/>
              <p:cNvSpPr/>
              <p:nvPr/>
            </p:nvSpPr>
            <p:spPr>
              <a:xfrm>
                <a:off x="5030199" y="4318266"/>
                <a:ext cx="5272520" cy="6280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9525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0"/>
                  <a:buFont typeface="Arial"/>
                  <a:buNone/>
                </a:pPr>
                <a:r>
                  <a:rPr lang="en-US" sz="12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[Exactly what the model contributed to the DCF: formulas, structure, sensitivity logic — and what we built ourselves]</a:t>
                </a:r>
                <a:endParaRPr sz="12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7" name="Google Shape;3827;p159"/>
              <p:cNvSpPr/>
              <p:nvPr/>
            </p:nvSpPr>
            <p:spPr>
              <a:xfrm>
                <a:off x="4959076" y="4269235"/>
                <a:ext cx="5418472" cy="735470"/>
              </a:xfrm>
              <a:prstGeom prst="rect">
                <a:avLst/>
              </a:prstGeom>
              <a:noFill/>
              <a:ln w="12700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285750" marR="0" lvl="0" indent="-2095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A9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8" name="Google Shape;3828;p159"/>
              <p:cNvSpPr/>
              <p:nvPr/>
            </p:nvSpPr>
            <p:spPr>
              <a:xfrm>
                <a:off x="5031071" y="5233683"/>
                <a:ext cx="5272520" cy="6280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9525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0"/>
                  <a:buFont typeface="Arial"/>
                  <a:buNone/>
                </a:pPr>
                <a:r>
                  <a:rPr lang="en-US" sz="12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[Where the full source list lives, and the convention used for footnoting each slide]</a:t>
                </a:r>
                <a:endParaRPr sz="12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9" name="Google Shape;3829;p159"/>
              <p:cNvSpPr/>
              <p:nvPr/>
            </p:nvSpPr>
            <p:spPr>
              <a:xfrm>
                <a:off x="4959948" y="5184652"/>
                <a:ext cx="5418472" cy="735470"/>
              </a:xfrm>
              <a:prstGeom prst="rect">
                <a:avLst/>
              </a:prstGeom>
              <a:noFill/>
              <a:ln w="12700" cap="flat" cmpd="sng">
                <a:solidFill>
                  <a:schemeClr val="l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285750" marR="0" lvl="0" indent="-2095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00A9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30" name="Google Shape;3830;p159"/>
            <p:cNvGrpSpPr/>
            <p:nvPr/>
          </p:nvGrpSpPr>
          <p:grpSpPr>
            <a:xfrm>
              <a:off x="552447" y="1568593"/>
              <a:ext cx="3131149" cy="4394214"/>
              <a:chOff x="1828797" y="1523989"/>
              <a:chExt cx="3131149" cy="4394214"/>
            </a:xfrm>
          </p:grpSpPr>
          <p:sp>
            <p:nvSpPr>
              <p:cNvPr id="3831" name="Google Shape;3831;p159"/>
              <p:cNvSpPr/>
              <p:nvPr/>
            </p:nvSpPr>
            <p:spPr>
              <a:xfrm rot="-5400000">
                <a:off x="3421198" y="1644960"/>
                <a:ext cx="735471" cy="2336799"/>
              </a:xfrm>
              <a:custGeom>
                <a:avLst/>
                <a:gdLst/>
                <a:ahLst/>
                <a:cxnLst/>
                <a:rect l="l" t="t" r="r" b="b"/>
                <a:pathLst>
                  <a:path w="735471" h="2336796" extrusionOk="0">
                    <a:moveTo>
                      <a:pt x="735471" y="0"/>
                    </a:moveTo>
                    <a:lnTo>
                      <a:pt x="735471" y="1833505"/>
                    </a:lnTo>
                    <a:lnTo>
                      <a:pt x="735470" y="1833505"/>
                    </a:lnTo>
                    <a:lnTo>
                      <a:pt x="735470" y="2336796"/>
                    </a:lnTo>
                    <a:lnTo>
                      <a:pt x="0" y="2336796"/>
                    </a:lnTo>
                    <a:lnTo>
                      <a:pt x="0" y="869992"/>
                    </a:lnTo>
                    <a:lnTo>
                      <a:pt x="1" y="869992"/>
                    </a:lnTo>
                    <a:lnTo>
                      <a:pt x="1" y="366701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2" name="Google Shape;3832;p159"/>
              <p:cNvSpPr txBox="1"/>
              <p:nvPr/>
            </p:nvSpPr>
            <p:spPr>
              <a:xfrm>
                <a:off x="2620512" y="2175155"/>
                <a:ext cx="2221144" cy="5280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40075" tIns="274300" rIns="182875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Cross-checks run</a:t>
                </a:r>
                <a:endParaRPr sz="16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3" name="Google Shape;3833;p159"/>
              <p:cNvSpPr/>
              <p:nvPr/>
            </p:nvSpPr>
            <p:spPr>
              <a:xfrm>
                <a:off x="2039630" y="2016175"/>
                <a:ext cx="1834903" cy="1139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Trebuchet MS"/>
                  <a:buNone/>
                </a:pPr>
                <a:endParaRPr sz="1050" b="1" i="0" u="none" strike="noStrike" cap="non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4" name="Google Shape;3834;p159"/>
              <p:cNvSpPr/>
              <p:nvPr/>
            </p:nvSpPr>
            <p:spPr>
              <a:xfrm>
                <a:off x="2035494" y="2930575"/>
                <a:ext cx="1834903" cy="1139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Trebuchet MS"/>
                  <a:buNone/>
                </a:pPr>
                <a:endParaRPr sz="1050" b="1" i="0" u="none" strike="noStrike" cap="non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5" name="Google Shape;3835;p159"/>
              <p:cNvSpPr/>
              <p:nvPr/>
            </p:nvSpPr>
            <p:spPr>
              <a:xfrm>
                <a:off x="2031358" y="3844975"/>
                <a:ext cx="1834903" cy="1139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Trebuchet MS"/>
                  <a:buNone/>
                </a:pPr>
                <a:endParaRPr sz="1050" b="1" i="0" u="none" strike="noStrike" cap="non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6" name="Google Shape;3836;p159"/>
              <p:cNvSpPr/>
              <p:nvPr/>
            </p:nvSpPr>
            <p:spPr>
              <a:xfrm rot="5400000">
                <a:off x="2293128" y="1915985"/>
                <a:ext cx="1086441" cy="2015097"/>
              </a:xfrm>
              <a:prstGeom prst="flowChartManualInpu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7" name="Google Shape;3837;p159"/>
              <p:cNvSpPr txBox="1"/>
              <p:nvPr/>
            </p:nvSpPr>
            <p:spPr>
              <a:xfrm>
                <a:off x="1828797" y="2380303"/>
                <a:ext cx="1612078" cy="1086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1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770"/>
                  <a:buFont typeface="Trebuchet MS"/>
                  <a:buNone/>
                </a:pPr>
                <a:endParaRPr sz="177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8" name="Google Shape;3838;p159"/>
              <p:cNvSpPr/>
              <p:nvPr/>
            </p:nvSpPr>
            <p:spPr>
              <a:xfrm>
                <a:off x="2035494" y="4759375"/>
                <a:ext cx="1834903" cy="1139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Trebuchet MS"/>
                  <a:buNone/>
                </a:pPr>
                <a:endParaRPr sz="1050" b="1" i="0" u="none" strike="noStrike" cap="non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9" name="Google Shape;3839;p159"/>
              <p:cNvSpPr/>
              <p:nvPr/>
            </p:nvSpPr>
            <p:spPr>
              <a:xfrm>
                <a:off x="2031358" y="5673775"/>
                <a:ext cx="1834903" cy="1139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Trebuchet MS"/>
                  <a:buNone/>
                </a:pPr>
                <a:endParaRPr sz="1050" b="1" i="0" u="none" strike="noStrike" cap="non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0" name="Google Shape;3840;p159"/>
              <p:cNvSpPr/>
              <p:nvPr/>
            </p:nvSpPr>
            <p:spPr>
              <a:xfrm>
                <a:off x="3361706" y="1630694"/>
                <a:ext cx="1459591" cy="5220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Reference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1" name="Google Shape;3841;p159"/>
              <p:cNvSpPr/>
              <p:nvPr/>
            </p:nvSpPr>
            <p:spPr>
              <a:xfrm rot="5400000">
                <a:off x="1998985" y="1358151"/>
                <a:ext cx="735470" cy="1067173"/>
              </a:xfrm>
              <a:custGeom>
                <a:avLst/>
                <a:gdLst/>
                <a:ahLst/>
                <a:cxnLst/>
                <a:rect l="l" t="t" r="r" b="b"/>
                <a:pathLst>
                  <a:path w="735470" h="1067173" extrusionOk="0">
                    <a:moveTo>
                      <a:pt x="0" y="1067173"/>
                    </a:moveTo>
                    <a:lnTo>
                      <a:pt x="0" y="366701"/>
                    </a:lnTo>
                    <a:lnTo>
                      <a:pt x="735470" y="0"/>
                    </a:lnTo>
                    <a:lnTo>
                      <a:pt x="735470" y="1067173"/>
                    </a:lnTo>
                    <a:close/>
                  </a:path>
                </a:pathLst>
              </a:custGeom>
              <a:solidFill>
                <a:srgbClr val="00336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2" name="Google Shape;3842;p159"/>
              <p:cNvSpPr txBox="1"/>
              <p:nvPr/>
            </p:nvSpPr>
            <p:spPr>
              <a:xfrm>
                <a:off x="1833123" y="1524001"/>
                <a:ext cx="1067173" cy="7354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1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Trebuchet MS"/>
                  <a:buNone/>
                </a:pPr>
                <a:endParaRPr sz="2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3" name="Google Shape;3843;p159"/>
              <p:cNvSpPr/>
              <p:nvPr/>
            </p:nvSpPr>
            <p:spPr>
              <a:xfrm rot="5400000">
                <a:off x="1996917" y="2274620"/>
                <a:ext cx="735470" cy="1063036"/>
              </a:xfrm>
              <a:custGeom>
                <a:avLst/>
                <a:gdLst/>
                <a:ahLst/>
                <a:cxnLst/>
                <a:rect l="l" t="t" r="r" b="b"/>
                <a:pathLst>
                  <a:path w="735470" h="1063036" extrusionOk="0">
                    <a:moveTo>
                      <a:pt x="0" y="1063036"/>
                    </a:moveTo>
                    <a:lnTo>
                      <a:pt x="0" y="366701"/>
                    </a:lnTo>
                    <a:lnTo>
                      <a:pt x="735470" y="0"/>
                    </a:lnTo>
                    <a:lnTo>
                      <a:pt x="735470" y="1063036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4" name="Google Shape;3844;p159"/>
              <p:cNvSpPr txBox="1"/>
              <p:nvPr/>
            </p:nvSpPr>
            <p:spPr>
              <a:xfrm>
                <a:off x="1833117" y="2438383"/>
                <a:ext cx="1063036" cy="7354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1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Trebuchet MS"/>
                  <a:buNone/>
                </a:pPr>
                <a:endParaRPr sz="2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5" name="Google Shape;3845;p159"/>
              <p:cNvSpPr/>
              <p:nvPr/>
            </p:nvSpPr>
            <p:spPr>
              <a:xfrm rot="5400000">
                <a:off x="1994849" y="3191086"/>
                <a:ext cx="735470" cy="1058902"/>
              </a:xfrm>
              <a:custGeom>
                <a:avLst/>
                <a:gdLst/>
                <a:ahLst/>
                <a:cxnLst/>
                <a:rect l="l" t="t" r="r" b="b"/>
                <a:pathLst>
                  <a:path w="735470" h="1058902" extrusionOk="0">
                    <a:moveTo>
                      <a:pt x="0" y="1058902"/>
                    </a:moveTo>
                    <a:lnTo>
                      <a:pt x="0" y="366701"/>
                    </a:lnTo>
                    <a:lnTo>
                      <a:pt x="735470" y="0"/>
                    </a:lnTo>
                    <a:lnTo>
                      <a:pt x="735470" y="1058902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6" name="Google Shape;3846;p159"/>
              <p:cNvSpPr txBox="1"/>
              <p:nvPr/>
            </p:nvSpPr>
            <p:spPr>
              <a:xfrm>
                <a:off x="1833109" y="3352791"/>
                <a:ext cx="1058902" cy="7354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1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Trebuchet MS"/>
                  <a:buNone/>
                </a:pPr>
                <a:endParaRPr sz="2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7" name="Google Shape;3847;p159"/>
              <p:cNvSpPr/>
              <p:nvPr/>
            </p:nvSpPr>
            <p:spPr>
              <a:xfrm rot="5400000">
                <a:off x="1996916" y="4103420"/>
                <a:ext cx="735470" cy="1063037"/>
              </a:xfrm>
              <a:custGeom>
                <a:avLst/>
                <a:gdLst/>
                <a:ahLst/>
                <a:cxnLst/>
                <a:rect l="l" t="t" r="r" b="b"/>
                <a:pathLst>
                  <a:path w="735470" h="1063037" extrusionOk="0">
                    <a:moveTo>
                      <a:pt x="0" y="1063037"/>
                    </a:moveTo>
                    <a:lnTo>
                      <a:pt x="0" y="366701"/>
                    </a:lnTo>
                    <a:lnTo>
                      <a:pt x="735470" y="0"/>
                    </a:lnTo>
                    <a:lnTo>
                      <a:pt x="735470" y="1063037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8" name="Google Shape;3848;p159"/>
              <p:cNvSpPr txBox="1"/>
              <p:nvPr/>
            </p:nvSpPr>
            <p:spPr>
              <a:xfrm>
                <a:off x="1833116" y="4267184"/>
                <a:ext cx="1063037" cy="7354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1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Trebuchet MS"/>
                  <a:buNone/>
                </a:pPr>
                <a:endParaRPr sz="2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9" name="Google Shape;3849;p159"/>
              <p:cNvSpPr/>
              <p:nvPr/>
            </p:nvSpPr>
            <p:spPr>
              <a:xfrm rot="5400000">
                <a:off x="1994849" y="5019886"/>
                <a:ext cx="735470" cy="1058902"/>
              </a:xfrm>
              <a:custGeom>
                <a:avLst/>
                <a:gdLst/>
                <a:ahLst/>
                <a:cxnLst/>
                <a:rect l="l" t="t" r="r" b="b"/>
                <a:pathLst>
                  <a:path w="735470" h="1058902" extrusionOk="0">
                    <a:moveTo>
                      <a:pt x="0" y="1058902"/>
                    </a:moveTo>
                    <a:lnTo>
                      <a:pt x="0" y="366701"/>
                    </a:lnTo>
                    <a:lnTo>
                      <a:pt x="735470" y="0"/>
                    </a:lnTo>
                    <a:lnTo>
                      <a:pt x="735470" y="1058902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0" name="Google Shape;3850;p159"/>
              <p:cNvSpPr txBox="1"/>
              <p:nvPr/>
            </p:nvSpPr>
            <p:spPr>
              <a:xfrm>
                <a:off x="1833109" y="5181591"/>
                <a:ext cx="1058902" cy="7354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1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Trebuchet MS"/>
                  <a:buNone/>
                </a:pPr>
                <a:endParaRPr sz="2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1" name="Google Shape;3851;p159"/>
              <p:cNvSpPr/>
              <p:nvPr/>
            </p:nvSpPr>
            <p:spPr>
              <a:xfrm rot="-5400000">
                <a:off x="3421198" y="723338"/>
                <a:ext cx="735471" cy="2336796"/>
              </a:xfrm>
              <a:custGeom>
                <a:avLst/>
                <a:gdLst/>
                <a:ahLst/>
                <a:cxnLst/>
                <a:rect l="l" t="t" r="r" b="b"/>
                <a:pathLst>
                  <a:path w="735471" h="2336796" extrusionOk="0">
                    <a:moveTo>
                      <a:pt x="735471" y="0"/>
                    </a:moveTo>
                    <a:lnTo>
                      <a:pt x="735471" y="1833505"/>
                    </a:lnTo>
                    <a:lnTo>
                      <a:pt x="735470" y="1833505"/>
                    </a:lnTo>
                    <a:lnTo>
                      <a:pt x="735470" y="2336796"/>
                    </a:lnTo>
                    <a:lnTo>
                      <a:pt x="0" y="2336796"/>
                    </a:lnTo>
                    <a:lnTo>
                      <a:pt x="0" y="869992"/>
                    </a:lnTo>
                    <a:lnTo>
                      <a:pt x="1" y="869992"/>
                    </a:lnTo>
                    <a:lnTo>
                      <a:pt x="1" y="366701"/>
                    </a:lnTo>
                    <a:close/>
                  </a:path>
                </a:pathLst>
              </a:custGeom>
              <a:solidFill>
                <a:schemeClr val="accent6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2" name="Google Shape;3852;p159"/>
              <p:cNvSpPr txBox="1"/>
              <p:nvPr/>
            </p:nvSpPr>
            <p:spPr>
              <a:xfrm>
                <a:off x="2620513" y="1523989"/>
                <a:ext cx="2336796" cy="464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40075" tIns="274300" rIns="182875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Hallucination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log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853" name="Google Shape;3853;p15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898553" y="5219748"/>
                <a:ext cx="659178" cy="6591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54" name="Google Shape;3854;p15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014100" y="1671748"/>
                <a:ext cx="436500" cy="436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55" name="Google Shape;3855;p15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956529" y="3491273"/>
                <a:ext cx="483049" cy="4830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56" name="Google Shape;3856;p159"/>
              <p:cNvSpPr/>
              <p:nvPr/>
            </p:nvSpPr>
            <p:spPr>
              <a:xfrm rot="-5400000">
                <a:off x="3422069" y="2551235"/>
                <a:ext cx="735471" cy="2336796"/>
              </a:xfrm>
              <a:custGeom>
                <a:avLst/>
                <a:gdLst/>
                <a:ahLst/>
                <a:cxnLst/>
                <a:rect l="l" t="t" r="r" b="b"/>
                <a:pathLst>
                  <a:path w="735471" h="2336796" extrusionOk="0">
                    <a:moveTo>
                      <a:pt x="735471" y="0"/>
                    </a:moveTo>
                    <a:lnTo>
                      <a:pt x="735471" y="1833505"/>
                    </a:lnTo>
                    <a:lnTo>
                      <a:pt x="735470" y="1833505"/>
                    </a:lnTo>
                    <a:lnTo>
                      <a:pt x="735470" y="2336796"/>
                    </a:lnTo>
                    <a:lnTo>
                      <a:pt x="0" y="2336796"/>
                    </a:lnTo>
                    <a:lnTo>
                      <a:pt x="0" y="869992"/>
                    </a:lnTo>
                    <a:lnTo>
                      <a:pt x="1" y="869992"/>
                    </a:lnTo>
                    <a:lnTo>
                      <a:pt x="1" y="366701"/>
                    </a:lnTo>
                    <a:close/>
                  </a:path>
                </a:pathLst>
              </a:custGeom>
              <a:solidFill>
                <a:schemeClr val="accent4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7" name="Google Shape;3857;p159"/>
              <p:cNvSpPr txBox="1"/>
              <p:nvPr/>
            </p:nvSpPr>
            <p:spPr>
              <a:xfrm>
                <a:off x="2621388" y="3210219"/>
                <a:ext cx="2336796" cy="735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40075" tIns="274300" rIns="182875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Conflicts resolved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8" name="Google Shape;3858;p159"/>
              <p:cNvSpPr/>
              <p:nvPr/>
            </p:nvSpPr>
            <p:spPr>
              <a:xfrm rot="-5400000">
                <a:off x="3422941" y="3466652"/>
                <a:ext cx="735471" cy="2336796"/>
              </a:xfrm>
              <a:custGeom>
                <a:avLst/>
                <a:gdLst/>
                <a:ahLst/>
                <a:cxnLst/>
                <a:rect l="l" t="t" r="r" b="b"/>
                <a:pathLst>
                  <a:path w="735471" h="2336796" extrusionOk="0">
                    <a:moveTo>
                      <a:pt x="735471" y="0"/>
                    </a:moveTo>
                    <a:lnTo>
                      <a:pt x="735471" y="1833505"/>
                    </a:lnTo>
                    <a:lnTo>
                      <a:pt x="735470" y="1833505"/>
                    </a:lnTo>
                    <a:lnTo>
                      <a:pt x="735470" y="2336796"/>
                    </a:lnTo>
                    <a:lnTo>
                      <a:pt x="0" y="2336796"/>
                    </a:lnTo>
                    <a:lnTo>
                      <a:pt x="0" y="869992"/>
                    </a:lnTo>
                    <a:lnTo>
                      <a:pt x="1" y="869992"/>
                    </a:lnTo>
                    <a:lnTo>
                      <a:pt x="1" y="366701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9" name="Google Shape;3859;p159"/>
              <p:cNvSpPr txBox="1"/>
              <p:nvPr/>
            </p:nvSpPr>
            <p:spPr>
              <a:xfrm>
                <a:off x="2622263" y="4112765"/>
                <a:ext cx="2336796" cy="735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40075" tIns="274300" rIns="182875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Excel model usage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0" name="Google Shape;3860;p159"/>
              <p:cNvSpPr/>
              <p:nvPr/>
            </p:nvSpPr>
            <p:spPr>
              <a:xfrm rot="-5400000">
                <a:off x="3423813" y="4382069"/>
                <a:ext cx="735471" cy="2336796"/>
              </a:xfrm>
              <a:custGeom>
                <a:avLst/>
                <a:gdLst/>
                <a:ahLst/>
                <a:cxnLst/>
                <a:rect l="l" t="t" r="r" b="b"/>
                <a:pathLst>
                  <a:path w="735471" h="2336796" extrusionOk="0">
                    <a:moveTo>
                      <a:pt x="735471" y="0"/>
                    </a:moveTo>
                    <a:lnTo>
                      <a:pt x="735471" y="1833505"/>
                    </a:lnTo>
                    <a:lnTo>
                      <a:pt x="735470" y="1833505"/>
                    </a:lnTo>
                    <a:lnTo>
                      <a:pt x="735470" y="2336796"/>
                    </a:lnTo>
                    <a:lnTo>
                      <a:pt x="0" y="2336796"/>
                    </a:lnTo>
                    <a:lnTo>
                      <a:pt x="0" y="869992"/>
                    </a:lnTo>
                    <a:lnTo>
                      <a:pt x="1" y="869992"/>
                    </a:lnTo>
                    <a:lnTo>
                      <a:pt x="1" y="366701"/>
                    </a:lnTo>
                    <a:close/>
                  </a:path>
                </a:pathLst>
              </a:custGeom>
              <a:solidFill>
                <a:srgbClr val="8F8F8F"/>
              </a:solidFill>
              <a:ln w="127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1" name="Google Shape;3861;p159"/>
              <p:cNvSpPr txBox="1"/>
              <p:nvPr/>
            </p:nvSpPr>
            <p:spPr>
              <a:xfrm>
                <a:off x="2623138" y="5028165"/>
                <a:ext cx="2336796" cy="735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40075" tIns="274300" rIns="182875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Citations</a:t>
                </a:r>
                <a:endParaRPr sz="16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862" name="Google Shape;3862;p159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986191" y="2562275"/>
                <a:ext cx="483902" cy="4839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63" name="Google Shape;3863;p159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958799" y="4370837"/>
                <a:ext cx="530272" cy="5302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864" name="Google Shape;3864;p159"/>
          <p:cNvSpPr txBox="1"/>
          <p:nvPr/>
        </p:nvSpPr>
        <p:spPr>
          <a:xfrm>
            <a:off x="11638722" y="6464632"/>
            <a:ext cx="546429" cy="39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lank Presentation">
  <a:themeElements>
    <a:clrScheme name="OTCR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61"/>
      </a:accent1>
      <a:accent2>
        <a:srgbClr val="006262"/>
      </a:accent2>
      <a:accent3>
        <a:srgbClr val="86C7CC"/>
      </a:accent3>
      <a:accent4>
        <a:srgbClr val="7A7AD4"/>
      </a:accent4>
      <a:accent5>
        <a:srgbClr val="BFBFBF"/>
      </a:accent5>
      <a:accent6>
        <a:srgbClr val="000000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TCR Template" id="{B2972468-2143-4C4B-8CD8-B76F515181F6}" vid="{3E70DE44-7E8B-7444-ABCE-5F3221689C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1_Blank Presentation</Template>
  <TotalTime>3</TotalTime>
  <Words>10057</Words>
  <Application>Microsoft Macintosh PowerPoint</Application>
  <PresentationFormat>Widescreen</PresentationFormat>
  <Paragraphs>1858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4" baseType="lpstr">
      <vt:lpstr>Arial</vt:lpstr>
      <vt:lpstr>Noto Sans Symbols</vt:lpstr>
      <vt:lpstr>Trebuchet MS</vt:lpstr>
      <vt:lpstr>1_Blank Presentation</vt:lpstr>
      <vt:lpstr>PowerPoint Presentation</vt:lpstr>
      <vt:lpstr>Agenda 1 </vt:lpstr>
      <vt:lpstr>Agenda 2 </vt:lpstr>
      <vt:lpstr>Here’s a list of general rules for these slides</vt:lpstr>
      <vt:lpstr>PowerPoint Presentation</vt:lpstr>
      <vt:lpstr>All titles in your slides should have running title, like this </vt:lpstr>
      <vt:lpstr>PowerPoint Presentation</vt:lpstr>
      <vt:lpstr>Here’s an example of what an executive summary slide could look like</vt:lpstr>
      <vt:lpstr>Here’s a six-person meet-the-team slide</vt:lpstr>
      <vt:lpstr>Here’s a seven-person meet-the-team slide</vt:lpstr>
      <vt:lpstr>PowerPoint Presentation</vt:lpstr>
      <vt:lpstr>Regular boxes can be used to present all kinds of different types of information, data, or analysis </vt:lpstr>
      <vt:lpstr>Slant Boxes are more versatile than regular boxes and can be used to display information on a slide in a clean fashion </vt:lpstr>
      <vt:lpstr>Here’s another kind of box that you may use</vt:lpstr>
      <vt:lpstr>Here’s some more icon boxes for you to use</vt:lpstr>
      <vt:lpstr>Stacked boxes are great for showing the flow of information and are easily adaptable</vt:lpstr>
      <vt:lpstr>Stacked boxes with icons can add additional visual appeal to your slides</vt:lpstr>
      <vt:lpstr>These stacked boxes are also ideal for outlining a flow of questions, answers, or data</vt:lpstr>
      <vt:lpstr>These boxes are great for showing the logical flow of information and processes</vt:lpstr>
      <vt:lpstr>Adding slant icon boxes are one way to make your slides more visually appealing</vt:lpstr>
      <vt:lpstr>Here’s an example of how you can format your slide like a table using boxes </vt:lpstr>
      <vt:lpstr>Here’s another example of how you can use boxes together</vt:lpstr>
      <vt:lpstr>Here’s another way you can use boxes to organize information</vt:lpstr>
      <vt:lpstr>Here’s an example of a slide you can use to outline a set of recommended strategies or priorities</vt:lpstr>
      <vt:lpstr>Here’s an alternative version of the previous slide</vt:lpstr>
      <vt:lpstr>Here’s another example of how you can use basic boxes to categorize information into MECE buckets</vt:lpstr>
      <vt:lpstr>Here’s another version of the box format</vt:lpstr>
      <vt:lpstr>Here’s yet another example of the box format</vt:lpstr>
      <vt:lpstr>Here’s another way you can use box elements</vt:lpstr>
      <vt:lpstr>Here’s another adaption of the box elements</vt:lpstr>
      <vt:lpstr>Here’s an example of a slide that can be used to highlight key takeaways</vt:lpstr>
      <vt:lpstr>PowerPoint Presentation</vt:lpstr>
      <vt:lpstr>Here’s an example of what a project overview slide can look like</vt:lpstr>
      <vt:lpstr>Here’s a slide to overview the key questions from your engagement</vt:lpstr>
      <vt:lpstr>PowerPoint Presentation</vt:lpstr>
      <vt:lpstr>Here’s an example of how you can introduce interviewees </vt:lpstr>
      <vt:lpstr>This interview summary from a BCG presentation provides a nice way of organizing quotes from experts</vt:lpstr>
      <vt:lpstr>PowerPoint Presentation</vt:lpstr>
      <vt:lpstr>Here’s an example of how you define the criteria for Harvey Balls analysis</vt:lpstr>
      <vt:lpstr>Here’s an example of how you present Harvey Balls to show how different options/companies perform on different metrics </vt:lpstr>
      <vt:lpstr>Here’s another example of how can compare the offerings/characteristics of different companies in one slide</vt:lpstr>
      <vt:lpstr>Here’s a few tables that you might want to use</vt:lpstr>
      <vt:lpstr>Here’s an example of a SWOT analysis slide</vt:lpstr>
      <vt:lpstr>Here’s an example of an evaluation framework slide</vt:lpstr>
      <vt:lpstr>Here’s an example of how you can rank different options or recommendations relative to each other</vt:lpstr>
      <vt:lpstr>This BCG Matrix can be used to summarize a large amount of market data concisely</vt:lpstr>
      <vt:lpstr>PowerPoint Presentation</vt:lpstr>
      <vt:lpstr>You can use this slide to present main ideas and best practices </vt:lpstr>
      <vt:lpstr>Use this slide to outline your process of analysis </vt:lpstr>
      <vt:lpstr>PowerPoint Presentation</vt:lpstr>
      <vt:lpstr>Use this slide to outline how a client can engage with OTCR again</vt:lpstr>
      <vt:lpstr>PowerPoint Presentation</vt:lpstr>
      <vt:lpstr>Here are some process flow arrows </vt:lpstr>
      <vt:lpstr>Here’s a recurring process diagram</vt:lpstr>
      <vt:lpstr>Here’s a few diagrams that you might want to use</vt:lpstr>
      <vt:lpstr>Here are some circular process diagrams that you might find useful</vt:lpstr>
      <vt:lpstr>Here’s an example of an idea breakdown slide</vt:lpstr>
      <vt:lpstr>Here are a few callout diagrams that could be useful</vt:lpstr>
      <vt:lpstr>Here’s a diagram that can be used to callout certain features of a product, idea, or recommendation</vt:lpstr>
      <vt:lpstr>Here’s an alternative version of the diagram from the previous slide</vt:lpstr>
      <vt:lpstr>Here’s some more process flow elements</vt:lpstr>
      <vt:lpstr>You can use beam headings to label an object </vt:lpstr>
      <vt:lpstr>When making charts and graphs, link to an Excel document within the slide</vt:lpstr>
      <vt:lpstr>PowerPoint Presentation</vt:lpstr>
      <vt:lpstr>Here’s an example of a standard timeline</vt:lpstr>
      <vt:lpstr>Here’s another example of a standard timeline for a calendar year</vt:lpstr>
      <vt:lpstr>Here’s a vertical timeline</vt:lpstr>
      <vt:lpstr>Here’s an example of a phased timeline </vt:lpstr>
      <vt:lpstr>Here’s a three-phased timeline </vt:lpstr>
      <vt:lpstr>Here’s an alternative timeline </vt:lpstr>
      <vt:lpstr>Here’s yet another example of a timeline slide  </vt:lpstr>
      <vt:lpstr>Here’s yet another example of a timeline slide</vt:lpstr>
      <vt:lpstr>Here’s another timeline </vt:lpstr>
      <vt:lpstr>Here’s an example Gantt timeline </vt:lpstr>
      <vt:lpstr>PowerPoint Presentation</vt:lpstr>
      <vt:lpstr>Here’s an example country map</vt:lpstr>
      <vt:lpstr>Here’s a few more example country maps </vt:lpstr>
      <vt:lpstr>Here’s an example world map </vt:lpstr>
      <vt:lpstr>PowerPoint Presentation</vt:lpstr>
      <vt:lpstr>Here’s a few icons you can use in your presentations</vt:lpstr>
      <vt:lpstr>PowerPoint Presentation</vt:lpstr>
      <vt:lpstr>Here’s an example project overview slide</vt:lpstr>
      <vt:lpstr>Here’s an example of how to display final deliverables and unaddressed issues </vt:lpstr>
      <vt:lpstr>Here’s one way you can use arrows in your slides</vt:lpstr>
      <vt:lpstr>Here’s another way you can use arrows in your slides</vt:lpstr>
      <vt:lpstr>Here’s another way you can use arrows in your slides</vt:lpstr>
      <vt:lpstr>Here’s another way you can use arrows in your slides</vt:lpstr>
      <vt:lpstr>Here’s yet another way to use arrows</vt:lpstr>
      <vt:lpstr>Here’s an example slide for inspiration</vt:lpstr>
      <vt:lpstr>Here’s another example slide</vt:lpstr>
      <vt:lpstr>Here’s another example slide</vt:lpstr>
      <vt:lpstr>Here’s another example slide</vt:lpstr>
      <vt:lpstr>Here’s another example slide</vt:lpstr>
      <vt:lpstr>Here’s another example slide</vt:lpstr>
      <vt:lpstr>Here’s another example slide</vt:lpstr>
      <vt:lpstr>Here’s another example slide</vt:lpstr>
      <vt:lpstr>Here’s another example slide</vt:lpstr>
      <vt:lpstr>Here’s another example slide</vt:lpstr>
      <vt:lpstr>Here’s another example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Shah, Darsh Vipulkumar</dc:creator>
  <cp:lastModifiedBy>Shah, Darsh Vipulkumar</cp:lastModifiedBy>
  <cp:revision>1</cp:revision>
  <dcterms:created xsi:type="dcterms:W3CDTF">2026-09-18T04:35:16Z</dcterms:created>
  <dcterms:modified xsi:type="dcterms:W3CDTF">2026-09-18T04:39:24Z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0x01010019AD3A987FAE664C8AA2DB806573D028</vt:lpwstr>
  </property>
</Properties>
</file>